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36.xml" ContentType="application/vnd.openxmlformats-officedocument.presentationml.slide+xml"/>
  <Override PartName="/ppt/slides/slide1.xml" ContentType="application/vnd.openxmlformats-officedocument.presentationml.slide+xml"/>
  <Override PartName="/ppt/slides/slide13.xml" ContentType="application/vnd.openxmlformats-officedocument.presentationml.slide+xml"/>
  <Override PartName="/ppt/slides/slide6.xml" ContentType="application/vnd.openxmlformats-officedocument.presentationml.slide+xml"/>
  <Override PartName="/ppt/slides/slide33.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58.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19.xml" ContentType="application/vnd.openxmlformats-officedocument.presentationml.slide+xml"/>
  <Override PartName="/ppt/slides/slide25.xml" ContentType="application/vnd.openxmlformats-officedocument.presentationml.slide+xml"/>
  <Override PartName="/ppt/slides/slide40.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7.xml" ContentType="application/vnd.openxmlformats-officedocument.presentationml.slide+xml"/>
  <Override PartName="/ppt/slides/slide47.xml" ContentType="application/vnd.openxmlformats-officedocument.presentationml.slide+xml"/>
  <Override PartName="/ppt/slides/slide42.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3.xml" ContentType="application/vnd.openxmlformats-officedocument.presentationml.slide+xml"/>
  <Override PartName="/ppt/slides/slide39.xml" ContentType="application/vnd.openxmlformats-officedocument.presentationml.slide+xml"/>
  <Override PartName="/ppt/slides/slide56.xml" ContentType="application/vnd.openxmlformats-officedocument.presentationml.slide+xml"/>
  <Override PartName="/ppt/slides/slide43.xml" ContentType="application/vnd.openxmlformats-officedocument.presentationml.slide+xml"/>
  <Override PartName="/ppt/slides/slide57.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59.xml" ContentType="application/vnd.openxmlformats-officedocument.presentationml.slide+xml"/>
  <Override PartName="/ppt/slides/slide52.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16.xml" ContentType="application/vnd.openxmlformats-officedocument.presentationml.slide+xml"/>
  <Override PartName="/ppt/slides/slide38.xml" ContentType="application/vnd.openxmlformats-officedocument.presentationml.slide+xml"/>
  <Override PartName="/ppt/slides/slide5.xml" ContentType="application/vnd.openxmlformats-officedocument.presentationml.slide+xml"/>
  <Override PartName="/ppt/slides/slide6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38.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7.xml" ContentType="application/vnd.openxmlformats-officedocument.presentationml.notesSlide+xml"/>
  <Override PartName="/ppt/notesSlides/notesSlide24.xml" ContentType="application/vnd.openxmlformats-officedocument.presentationml.notesSlide+xml"/>
  <Override PartName="/ppt/notesSlides/notesSlide59.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26.xml" ContentType="application/vnd.openxmlformats-officedocument.presentationml.notesSlide+xml"/>
  <Override PartName="/ppt/notesSlides/notesSlide6.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35.xml" ContentType="application/vnd.openxmlformats-officedocument.presentationml.notesSlide+xml"/>
  <Override PartName="/ppt/notesSlides/notesSlide52.xml" ContentType="application/vnd.openxmlformats-officedocument.presentationml.notesSlide+xml"/>
  <Override PartName="/ppt/notesSlides/notesSlide29.xml" ContentType="application/vnd.openxmlformats-officedocument.presentationml.notesSlide+xml"/>
  <Override PartName="/ppt/notesSlides/notesSlide9.xml" ContentType="application/vnd.openxmlformats-officedocument.presentationml.notesSlide+xml"/>
  <Override PartName="/ppt/notesSlides/notesSlide40.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5.xml" ContentType="application/vnd.openxmlformats-officedocument.presentationml.notesSlide+xml"/>
  <Override PartName="/ppt/notesSlides/notesSlide42.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36.xml" ContentType="application/vnd.openxmlformats-officedocument.presentationml.notesSlide+xml"/>
  <Override PartName="/ppt/notesSlides/notesSlide58.xml" ContentType="application/vnd.openxmlformats-officedocument.presentationml.notesSlide+xml"/>
  <Override PartName="/ppt/notesSlides/notesSlide45.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56.xml" ContentType="application/vnd.openxmlformats-officedocument.presentationml.notesSlide+xml"/>
  <Override PartName="/ppt/notesSlides/notesSlide61.xml" ContentType="application/vnd.openxmlformats-officedocument.presentationml.notesSlide+xml"/>
  <Override PartName="/ppt/notesSlides/notesSlide11.xml" ContentType="application/vnd.openxmlformats-officedocument.presentationml.notesSlide+xml"/>
  <Override PartName="/ppt/notesSlides/notesSlide47.xml" ContentType="application/vnd.openxmlformats-officedocument.presentationml.notesSlide+xml"/>
  <Override PartName="/ppt/notesSlides/notesSlide22.xml" ContentType="application/vnd.openxmlformats-officedocument.presentationml.notesSlide+xml"/>
  <Override PartName="/ppt/notesSlides/notesSlide25.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44.xml" ContentType="application/vnd.openxmlformats-officedocument.presentationml.notesSlide+xml"/>
  <Override PartName="/ppt/notesSlides/notesSlide55.xml" ContentType="application/vnd.openxmlformats-officedocument.presentationml.notesSlide+xml"/>
  <Override PartName="/ppt/notesSlides/notesSlide51.xml" ContentType="application/vnd.openxmlformats-officedocument.presentationml.notesSlide+xml"/>
  <Override PartName="/ppt/notesSlides/notesSlide14.xml" ContentType="application/vnd.openxmlformats-officedocument.presentationml.notesSlide+xml"/>
  <Override PartName="/ppt/notesSlides/notesSlide39.xml" ContentType="application/vnd.openxmlformats-officedocument.presentationml.notesSlide+xml"/>
  <Override PartName="/ppt/notesSlides/notesSlide30.xml" ContentType="application/vnd.openxmlformats-officedocument.presentationml.notesSlide+xml"/>
  <Override PartName="/ppt/notesSlides/notesSlide57.xml" ContentType="application/vnd.openxmlformats-officedocument.presentationml.notesSlide+xml"/>
  <Override PartName="/ppt/notesSlides/notesSlide60.xml" ContentType="application/vnd.openxmlformats-officedocument.presentationml.notesSlide+xml"/>
  <Override PartName="/ppt/notesSlides/notesSlide6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1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1"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2" name="PlaceHolder 4"/>
          <p:cNvSpPr>
            <a:spLocks noGrp="1"/>
          </p:cNvSpPr>
          <p:nvPr>
            <p:ph type="dt" idx="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3" name="PlaceHolder 5"/>
          <p:cNvSpPr>
            <a:spLocks noGrp="1"/>
          </p:cNvSpPr>
          <p:nvPr>
            <p:ph type="ftr" idx="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4" name="PlaceHolder 6"/>
          <p:cNvSpPr>
            <a:spLocks noGrp="1"/>
          </p:cNvSpPr>
          <p:nvPr>
            <p:ph type="sldNum" idx="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19DF024-373C-47DB-A4B6-BA919DA5E5F8}"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8" name="PlaceHolder 1"/>
          <p:cNvSpPr>
            <a:spLocks noGrp="1"/>
          </p:cNvSpPr>
          <p:nvPr>
            <p:ph type="sldImg"/>
          </p:nvPr>
        </p:nvSpPr>
        <p:spPr>
          <a:xfrm>
            <a:off x="0" y="0"/>
            <a:ext cx="0" cy="0"/>
          </a:xfrm>
          <a:prstGeom prst="rect">
            <a:avLst/>
          </a:prstGeom>
          <a:ln w="0">
            <a:noFill/>
          </a:ln>
        </p:spPr>
      </p:sp>
      <p:sp>
        <p:nvSpPr>
          <p:cNvPr id="179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Scope: 34 documented precedents plus the 1988 designated driver campaign, with seven deeper execution slides placed after their cases. Dates indicate launch year or the period described. The evidence cards distinguish measured change, reported behavior, reach, and cases without clear outcome measures. Original campaign images are placed where an original could be found; credits and rights are in each slide’s notes and in the appendix. This deck does not imply that each campaign caused a population-wide shift.</a:t>
            </a:r>
            <a:endParaRPr lang="en-US" sz="2000" b="0" u="none" strike="noStrike">
              <a:solidFill>
                <a:srgbClr val="000000"/>
              </a:solidFill>
              <a:effectLst/>
              <a:uFillTx/>
              <a:latin typeface="Arial"/>
            </a:endParaRPr>
          </a:p>
        </p:txBody>
      </p:sp>
      <p:sp>
        <p:nvSpPr>
          <p:cNvPr id="1800" name="PlaceHolder 3"/>
          <p:cNvSpPr>
            <a:spLocks noGrp="1"/>
          </p:cNvSpPr>
          <p:nvPr>
            <p:ph type="sldNum" idx="6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1" name="PlaceHolder 1"/>
          <p:cNvSpPr>
            <a:spLocks noGrp="1"/>
          </p:cNvSpPr>
          <p:nvPr>
            <p:ph type="sldImg"/>
          </p:nvPr>
        </p:nvSpPr>
        <p:spPr>
          <a:xfrm>
            <a:off x="0" y="0"/>
            <a:ext cx="0" cy="0"/>
          </a:xfrm>
          <a:prstGeom prst="rect">
            <a:avLst/>
          </a:prstGeom>
          <a:ln w="0">
            <a:noFill/>
          </a:ln>
        </p:spPr>
      </p:sp>
      <p:sp>
        <p:nvSpPr>
          <p:cNvPr id="180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reference case is the 1988 Designated Driver campaign. Harvard staff got a single, simple role written into prime-time TV shows. By 1991, 37% of Americans told a Roper poll they had served as a designated driver; other causes of the change were not ruled out (see the case slide).</a:t>
            </a:r>
            <a:endParaRPr lang="en-US" sz="2000" b="0" u="none" strike="noStrike">
              <a:solidFill>
                <a:srgbClr val="000000"/>
              </a:solidFill>
              <a:effectLst/>
              <a:uFillTx/>
              <a:latin typeface="Arial"/>
            </a:endParaRPr>
          </a:p>
        </p:txBody>
      </p:sp>
      <p:sp>
        <p:nvSpPr>
          <p:cNvPr id="1803" name="PlaceHolder 3"/>
          <p:cNvSpPr>
            <a:spLocks noGrp="1"/>
          </p:cNvSpPr>
          <p:nvPr>
            <p:ph type="sldNum" idx="7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4" name="PlaceHolder 1"/>
          <p:cNvSpPr>
            <a:spLocks noGrp="1"/>
          </p:cNvSpPr>
          <p:nvPr>
            <p:ph type="sldImg"/>
          </p:nvPr>
        </p:nvSpPr>
        <p:spPr>
          <a:xfrm>
            <a:off x="0" y="0"/>
            <a:ext cx="0" cy="0"/>
          </a:xfrm>
          <a:prstGeom prst="rect">
            <a:avLst/>
          </a:prstGeom>
          <a:ln w="0">
            <a:noFill/>
          </a:ln>
        </p:spPr>
      </p:sp>
      <p:sp>
        <p:nvSpPr>
          <p:cNvPr id="180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A study of 35 deliberate attempts to make a new behavior feel normal, from 1929 to 2022. Each case is read the same way: what people expected before, what new behavior was offered, how the campaign was built, and what happened afterward. Public campaigns are mass-media messages. Stories are dramas on TV or radio: Sabido’s Mexican telenovelas, Hum Log, Soul City, MTV Shuga, Rope Guna Fal. Community commitments are village declarations and neighborhood activism. Peer comparison shows households their use beside their neighbors’. Seven cases get a closer-look slide; sources are in the appendix.</a:t>
            </a:r>
            <a:endParaRPr lang="en-US" sz="2000" b="0" u="none" strike="noStrike">
              <a:solidFill>
                <a:srgbClr val="000000"/>
              </a:solidFill>
              <a:effectLst/>
              <a:uFillTx/>
              <a:latin typeface="Arial"/>
            </a:endParaRPr>
          </a:p>
        </p:txBody>
      </p:sp>
      <p:sp>
        <p:nvSpPr>
          <p:cNvPr id="1806" name="PlaceHolder 3"/>
          <p:cNvSpPr>
            <a:spLocks noGrp="1"/>
          </p:cNvSpPr>
          <p:nvPr>
            <p:ph type="sldNum" idx="7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7" name="PlaceHolder 1"/>
          <p:cNvSpPr>
            <a:spLocks noGrp="1"/>
          </p:cNvSpPr>
          <p:nvPr>
            <p:ph type="sldImg"/>
          </p:nvPr>
        </p:nvSpPr>
        <p:spPr>
          <a:xfrm>
            <a:off x="0" y="0"/>
            <a:ext cx="0" cy="0"/>
          </a:xfrm>
          <a:prstGeom prst="rect">
            <a:avLst/>
          </a:prstGeom>
          <a:ln w="0">
            <a:noFill/>
          </a:ln>
        </p:spPr>
      </p:sp>
      <p:sp>
        <p:nvSpPr>
          <p:cNvPr id="180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Across more than a dozen countries, from the United States and Mexico to India, Tanzania, Senegal, Uganda, and Nepal.</a:t>
            </a:r>
            <a:endParaRPr lang="en-US" sz="2000" b="0" u="none" strike="noStrike">
              <a:solidFill>
                <a:srgbClr val="000000"/>
              </a:solidFill>
              <a:effectLst/>
              <a:uFillTx/>
              <a:latin typeface="Arial"/>
            </a:endParaRPr>
          </a:p>
        </p:txBody>
      </p:sp>
      <p:sp>
        <p:nvSpPr>
          <p:cNvPr id="1809" name="PlaceHolder 3"/>
          <p:cNvSpPr>
            <a:spLocks noGrp="1"/>
          </p:cNvSpPr>
          <p:nvPr>
            <p:ph type="sldNum" idx="7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0" name="PlaceHolder 1"/>
          <p:cNvSpPr>
            <a:spLocks noGrp="1"/>
          </p:cNvSpPr>
          <p:nvPr>
            <p:ph type="sldImg"/>
          </p:nvPr>
        </p:nvSpPr>
        <p:spPr>
          <a:xfrm>
            <a:off x="0" y="0"/>
            <a:ext cx="0" cy="0"/>
          </a:xfrm>
          <a:prstGeom prst="rect">
            <a:avLst/>
          </a:prstGeom>
          <a:ln w="0">
            <a:noFill/>
          </a:ln>
        </p:spPr>
      </p:sp>
      <p:sp>
        <p:nvSpPr>
          <p:cNvPr id="181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1. Ask for one specific action: be the designated driver, “squash it” and walk away, buckle up. 2. Put the behavior inside stories people already follow; it works when the choice drives the main plot, not a side plot. 3. Tie it to an identity people want: wartime patriotism, Texas pride, teenage independence, friendship. Torches of Freedom used the same tactic to sell cigarettes. 4. Make the new expectation visible: village declarations, neighbor comparisons, ordinary women exercising on billboards. 5. Back the message with something real: police checkpoints, clinic referrals, hotlines, a clinic finder. 6. Repeat for years: Smokey Bear, Vince and Larry, and Meena ran across decades.</a:t>
            </a:r>
            <a:endParaRPr lang="en-US" sz="2000" b="0" u="none" strike="noStrike">
              <a:solidFill>
                <a:srgbClr val="000000"/>
              </a:solidFill>
              <a:effectLst/>
              <a:uFillTx/>
              <a:latin typeface="Arial"/>
            </a:endParaRPr>
          </a:p>
        </p:txBody>
      </p:sp>
      <p:sp>
        <p:nvSpPr>
          <p:cNvPr id="1812" name="PlaceHolder 3"/>
          <p:cNvSpPr>
            <a:spLocks noGrp="1"/>
          </p:cNvSpPr>
          <p:nvPr>
            <p:ph type="sldNum" idx="73"/>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3" name="PlaceHolder 1"/>
          <p:cNvSpPr>
            <a:spLocks noGrp="1"/>
          </p:cNvSpPr>
          <p:nvPr>
            <p:ph type="sldImg"/>
          </p:nvPr>
        </p:nvSpPr>
        <p:spPr>
          <a:xfrm>
            <a:off x="0" y="0"/>
            <a:ext cx="0" cy="0"/>
          </a:xfrm>
          <a:prstGeom prst="rect">
            <a:avLst/>
          </a:prstGeom>
          <a:ln w="0">
            <a:noFill/>
          </a:ln>
        </p:spPr>
      </p:sp>
      <p:sp>
        <p:nvSpPr>
          <p:cNvPr id="181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Smokey Bear, the “Crying Indian” ad, and Don’t Mess with Texas have the least evidence that behavior changed. SASA! added sustained local activism, Opower added personalized data with practical tips, and MTV Shuga built the story around the choice. Dramas reached tens of millions; results range from real gains to no clear effect. Torches of Freedom used the same methods to normalize women’s smoking in 1929.</a:t>
            </a:r>
            <a:endParaRPr lang="en-US" sz="2000" b="0" u="none" strike="noStrike">
              <a:solidFill>
                <a:srgbClr val="000000"/>
              </a:solidFill>
              <a:effectLst/>
              <a:uFillTx/>
              <a:latin typeface="Arial"/>
            </a:endParaRPr>
          </a:p>
        </p:txBody>
      </p:sp>
      <p:sp>
        <p:nvSpPr>
          <p:cNvPr id="1815" name="PlaceHolder 3"/>
          <p:cNvSpPr>
            <a:spLocks noGrp="1"/>
          </p:cNvSpPr>
          <p:nvPr>
            <p:ph type="sldNum" idx="7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6" name="PlaceHolder 1"/>
          <p:cNvSpPr>
            <a:spLocks noGrp="1"/>
          </p:cNvSpPr>
          <p:nvPr>
            <p:ph type="sldImg"/>
          </p:nvPr>
        </p:nvSpPr>
        <p:spPr>
          <a:xfrm>
            <a:off x="0" y="0"/>
            <a:ext cx="0" cy="0"/>
          </a:xfrm>
          <a:prstGeom prst="rect">
            <a:avLst/>
          </a:prstGeom>
          <a:ln w="0">
            <a:noFill/>
          </a:ln>
        </p:spPr>
      </p:sp>
      <p:sp>
        <p:nvSpPr>
          <p:cNvPr id="181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818" name="PlaceHolder 3"/>
          <p:cNvSpPr>
            <a:spLocks noGrp="1"/>
          </p:cNvSpPr>
          <p:nvPr>
            <p:ph type="sldNum" idx="7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9" name="PlaceHolder 1"/>
          <p:cNvSpPr>
            <a:spLocks noGrp="1"/>
          </p:cNvSpPr>
          <p:nvPr>
            <p:ph type="sldImg"/>
          </p:nvPr>
        </p:nvSpPr>
        <p:spPr>
          <a:xfrm>
            <a:off x="0" y="0"/>
            <a:ext cx="0" cy="0"/>
          </a:xfrm>
          <a:prstGeom prst="rect">
            <a:avLst/>
          </a:prstGeom>
          <a:ln w="0">
            <a:noFill/>
          </a:ln>
        </p:spPr>
      </p:sp>
      <p:sp>
        <p:nvSpPr>
          <p:cNvPr id="182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https://www.historians.org/perspectives-article/creating-circumstances-edward-bernays-psychoanalysis-and-the-making-of-american-consumer-culture-march-2017/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https://archive.org/details/per_new-york-times-magazine_the-new-york-times_1929-04-01_78_26000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https://cancercontrol.cancer.gov/sites/default/files/2020-06/m19_complete_accessible_0.pdf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https://www.nytimes.com/1929/04/01/archives/easter-sun-finds-the-past-in-shadow-at-modern-parade-lone-prancing.html ; https://archive.org/download/per_new-york-times-magazine_the-new-york-times_1929-04-01_78_26000/per_new-york-times-magazine_the-new-york-times_1929-04-01_78_26000_djvu.txt ; https://pubmed.ncbi.nlm.nih.gov/8868552/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An ethically troubling example. Its impact is often asserted but was never measured.</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New York Times front page, lead-column story with deck 'Group of Girls Puff at Cigarettes as a Gesture of "Freedom"' (cropped) (cropped to the cigarette sub-headline and report) (1929-04-01). Owner: The New York Times; scan via Internet Archive (also on Wikimedia Commons as PDF). Rights: Public domain in the US (published 1929; US works from 1929 entered the public domain 1 Jan 2025). Found at: https://archive.org/details/per_new-york-times-magazine_the-new-york-times_1929-04-01_78_26000. File: https://archive.org/download/per_new-york-times-magazine_the-new-york-times_1929-04-01_78_26000/page/n0_w2000.jpg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1929 | Source says: "he sponsored, on behalf of the American Tobacco Company's Lucky Strike cigarettes, demonstrations in 1929" | https://cancercontrol.cancer.gov/sites/default/files/2020-06/m19_complete_accessible_0.pdf PDF p. 389 (printed p. 361)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"It was noon in Fifth Avenue and the sidewalks were a bright medley of color yesterday" | https://archive.org/details/per_new-york-times-magazine_the-new-york-times_1929-04-01_78_26000 NYT 1 Apr 1929,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PUBLIC CAMPAIGN | Source says: "He enlisted a public relations consultant, Edward Bernays" | https://www.historians.org/perspectives-article/creating-circumstances-edward-bernays-psychoanalysis-and-the-making-of-american-consumer-culture-march-2017/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tobacco company staged women smoking publicly and framed cigarettes as a sign of independence. | Source says: "the company represented cigarettes as “symbols of freedom” and organized a display of several women walking and smoking their “torches of freedom” in New York’s Easter parade." | https://cancercontrol.cancer.gov/sites/default/files/2020-06/m19_complete_accessible_0.pdf PDF p. 183 (printed p. 155)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Women smoking on the street drew disapproval | Source says: "In 1929, it was socially acceptable for women to smoke at home and in certain public spaces, such as a hotel lobby. Smoking on the streets, however, was another matter altogether." | https://www.historians.org/perspectives-article/creating-circumstances-edward-bernays-psychoanalysis-and-the-making-of-american-consumer-culture-march-2017/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Public smoking could signal independence | Source says: "One of the group explained the cigarettes were ‘torches of freedom’ lighting the way to the day when women would smoke on the street as casually as men." | https://archive.org/details/per_new-york-times-magazine_the-new-york-times_1929-04-01_78_26000 NYT 1 Apr 1929, continuation of p. 1 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A tobacco company hired Edward Bernays to stage an Easter parade moment. | Source says: "George Washington Hill, the president of the American Tobacco Company, sought to quash this old taboo. He enlisted a public relations consultant, Edward Bernays" | https://www.historians.org/perspectives-article/creating-circumstances-edward-bernays-psychoanalysis-and-the-making-of-american-consumer-culture-march-2017/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About ten young women smoked on Fifth Avenue during the parade; press coverage was arranged. | Source says: "stage a parade on Easter Sunday of 10 young debutantes who would ... light their cigarettes and march down New York's Fifth Avenue ... exploited his connections with the press to ensure that the parade would be widely photographed" | https://www.historians.org/perspectives-article/creating-circumstances-edward-bernays-psychoanalysis-and-the-making-of-american-consumer-culture-march-2017/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Newspaper coverage carried the equality framing beyond the staged event. | Source says: "Group of Girls Puff at Cigarettes as a Gesture of “Freedom”" | https://archive.org/details/per_new-york-times-magazine_the-new-york-times_1929-04-01_78_26000 NYT 1 Apr 1929, p. 1 headline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[SOFTENED] Women already smoked at home and in some public places before 1929. The stunt’s own effect was never measured. | Source says: "In 1929, it was socially acceptable for women to smoke at home and in certain public spaces, such as a hotel lobby." | https://www.historians.org/perspectives-article/creating-circumstances-edward-bernays-psychoanalysis-and-the-making-of-american-consumer-culture-march-2017/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Historical accounts; no study measured the stunt’s impact. | Source says: "The tobacco industry advertising campaign aimed at women is credited with the steady increase in cigarette smoking initiation rates among women during this period (1925–39)" | https://cancercontrol.cancer.gov/sites/default/files/2020-06/m19_complete_accessible_0.pdf PDF p. 389 (printed p. 361)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note [SOFTENED] An ethically troubling example. Its impact is often asserted but was never measured. | Source says: "Bernays had effectively used the press to transform the progressive impulse of feminism into a boost in cigarette sales" | https://www.historians.org/perspectives-article/creating-circumstances-edward-bernays-psychoanalysis-and-the-making-of-american-consumer-culture-march-2017/</a:t>
            </a:r>
            <a:endParaRPr lang="en-US" sz="2000" b="0" u="none" strike="noStrike">
              <a:solidFill>
                <a:srgbClr val="000000"/>
              </a:solidFill>
              <a:effectLst/>
              <a:uFillTx/>
              <a:latin typeface="Arial"/>
            </a:endParaRPr>
          </a:p>
        </p:txBody>
      </p:sp>
      <p:sp>
        <p:nvSpPr>
          <p:cNvPr id="1821" name="PlaceHolder 3"/>
          <p:cNvSpPr>
            <a:spLocks noGrp="1"/>
          </p:cNvSpPr>
          <p:nvPr>
            <p:ph type="sldNum" idx="7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2" name="PlaceHolder 1"/>
          <p:cNvSpPr>
            <a:spLocks noGrp="1"/>
          </p:cNvSpPr>
          <p:nvPr>
            <p:ph type="sldImg"/>
          </p:nvPr>
        </p:nvSpPr>
        <p:spPr>
          <a:xfrm>
            <a:off x="0" y="0"/>
            <a:ext cx="0" cy="0"/>
          </a:xfrm>
          <a:prstGeom prst="rect">
            <a:avLst/>
          </a:prstGeom>
          <a:ln w="0">
            <a:noFill/>
          </a:ln>
        </p:spPr>
      </p:sp>
      <p:sp>
        <p:nvSpPr>
          <p:cNvPr id="182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https://www.adcouncil.org/about-us/our-history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https://catalog.archives.gov/id/513683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https://www.nps.gov/media/video/view.htm?id=349BCEFF-3140-438D-BF03-89C92B4A77B3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https://aef.com/classroom-resources/social-responsibility/ad-council-campaigns-made-difference/women-war-jobs-rosie-riveter/ ; https://home.nps.gov/articles/000/childcare-on-the-world-war-ii-home-front.htm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'Do the job HE left behind — Apply U.S. Employment Service' recruitment poster (NARA 44-PA-241) (1942–1945 (undated in NARA; series from OWI Domestic Operations Branch)). Owner: U.S. National Archives, RG 44 (Office of Government Reports), World War II Posters. Rights: Public domain (U.S. government work). Found at: https://catalog.archives.gov/id/513683. File: https://commons.wikimedia.org/wiki/Special:FilePath/%22Do_The_Job_He_Left_Behind%22_-_NARA_-_513683.jpg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1942 | Source says: "The organization incorporates as the Ad Council on June 25, but is quickly renamed the War Advertising Council ... producing propaganda including “Women in War Jobs,”" | https://www.adcouncil.org/about-us/our-history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"Across the country, around 6 million women entered the workforce during this time" | https://www.nps.gov/media/video/view.htm?id=349BCEFF-3140-438D-BF03-89C92B4A77B3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PUBLIC CAMPAIGN | Source says: "The War Advertising Council's Women in War Jobs campaign is the most successful advertising recruitment campaign in American history." | https://aef.com/classroom-resources/social-responsibility/ad-council-campaigns-made-difference/women-war-jobs-rosie-riveter/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Wartime advertising and the Rosie figure made women’s industrial work visible and patriotic. | Source says: "The patriotic images depicting Rosie the Riveter in posters and popular culture became iconic, symbolizing women's empowerment in the workforce." | https://www.nps.gov/media/video/view.htm?id=349BCEFF-3140-438D-BF03-89C92B4A77B3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Factory work was seen as men’s work | Source says: "Women began to replace men in jobs that were previously reserved for men only." | https://www.nps.gov/media/video/view.htm?id=349BCEFF-3140-438D-BF03-89C92B4A77B3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Women could fill essential wartime jobs | Source says: "millions of women took jobs in munitions factories, shipyards, and hospitals to support the war effort" | https://home.nps.gov/articles/000/childcare-on-the-world-war-ii-home-front.htm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Wartime advertisers connected industrial work to national service. | Source says: "The underlying theme was that the social change required to bring women into the workforce was a patriotic responsibility for women" | https://aef.com/classroom-resources/social-responsibility/ad-council-campaigns-made-difference/women-war-jobs-rosie-riveter/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Posters and other mass advertising made women workers visible. | Source says: "The nation's major magazines devoted their September 1943 covers to portrayals of women in war jobs ... Motion pictures, newspapers, radio, trade press, employee publications, and in-store displays all tied in" | https://aef.com/classroom-resources/social-responsibility/ad-council-campaigns-made-difference/women-war-jobs-rosie-riveter/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[SOFTENED] Women took factory and shipyard jobs; federal child care came in 1943 and reached only some. | Source says: "millions of women took jobs in munitions factories, shipyards, and hospitals ... In 1943, Congress allocated $20 million ... the program was temporary and did not reach every family who needed care" | https://home.nps.gov/articles/000/childcare-on-the-world-war-ii-home-front.htm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About six million women entered U.S. work during World War II. The ads’ share of that change is unknown. | Source says: "Across the country, around 6 million women entered the workforce during this time, making up nearly 1/3 of the country's workers by 1944." | https://www.nps.gov/media/video/view.htm?id=349BCEFF-3140-438D-BF03-89C92B4A77B3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Workforce records; no test of the ads. | Source says: "In December 1941, almost 13 million women were at work. By February 1943, that number rose to 15 million" | https://aef.com/classroom-resources/social-responsibility/ad-council-campaigns-made-difference/women-war-jobs-rosie-riveter/</a:t>
            </a:r>
            <a:endParaRPr lang="en-US" sz="2000" b="0" u="none" strike="noStrike">
              <a:solidFill>
                <a:srgbClr val="000000"/>
              </a:solidFill>
              <a:effectLst/>
              <a:uFillTx/>
              <a:latin typeface="Arial"/>
            </a:endParaRPr>
          </a:p>
        </p:txBody>
      </p:sp>
      <p:sp>
        <p:nvSpPr>
          <p:cNvPr id="1824" name="PlaceHolder 3"/>
          <p:cNvSpPr>
            <a:spLocks noGrp="1"/>
          </p:cNvSpPr>
          <p:nvPr>
            <p:ph type="sldNum" idx="7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5" name="PlaceHolder 1"/>
          <p:cNvSpPr>
            <a:spLocks noGrp="1"/>
          </p:cNvSpPr>
          <p:nvPr>
            <p:ph type="sldImg"/>
          </p:nvPr>
        </p:nvSpPr>
        <p:spPr>
          <a:xfrm>
            <a:off x="0" y="0"/>
            <a:ext cx="0" cy="0"/>
          </a:xfrm>
          <a:prstGeom prst="rect">
            <a:avLst/>
          </a:prstGeom>
          <a:ln w="0">
            <a:noFill/>
          </a:ln>
        </p:spPr>
      </p:sp>
      <p:sp>
        <p:nvSpPr>
          <p:cNvPr id="182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https://smokeybear.com/en/smokeys-history/about-the-campaign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https://catalog.archives.gov/id/515437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https://www.adcouncil.org/about-us/our-history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First Smokey Bear poster by Albert Staehle: 'Smokey says — Care will prevent 9 out of 10 woods fires!' (USDA Forest Service / State Forest Service) (1944). Owner: U.S. National Archives (NARA 515437), World War II Posters. Rights: Public domain (U.S. government work); Smokey's name and likeness are separately protected under the Smokey Bear Act (16 USC 580p) — fine for non-commercial research use. Found at: https://catalog.archives.gov/id/515437. File: https://commons.wikimedia.org/wiki/Special:FilePath/SMOKEY_SAYS_-_CARE_WILL_PREVENT_9_OUT_OF_10_FOREST_FIRES%5E_-_NARA_-_515437.jpg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1944 | Source says: "partnered with advertising agency Foote, Cone &amp; Belding (FCB) to create the Smokey Bear campaign in 1944." | https://smokeybear.com/en/smokeys-history/about-the-campaign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"this is the longest-running public service advertising campaign in U.S. history." | https://smokeybear.com/en/smokeys-history/about-the-campaign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PUBLIC CAMPAIGN | Source says: "this is the longest-running public service advertising campaign in U.S. history." | https://smokeybear.com/en/smokeys-history/about-the-campaign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recurring character made personal responsibility for preventing wildfires familiar across generations. | Source says: "Smokey has educated generations of Americans about their role in preventing unwanted, human-caused wildfires" | https://smokeybear.com/en/smokeys-history/about-the-campaign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Wildfires felt like someone else’s problem | Source says: "a new idea on how to fight this problem was born: if people were urged to be more careful, some of the fires could be prevented." | https://smokeybear.com/en/smokeys-history/about-the-campaign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Each visitor had a part in preventing fires | Source says: "His catchphrase reflects your responsibility: Only YOU can prevent wildfires." | https://smokeybear.com/en/smokeys-history/about-the-campaign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The Forest Service and ad partners created one recurring bear character. | Source says: "The USDA Forest Service, National Association of State Foresters, and the Ad Council partnered with advertising agency Foote, Cone &amp; Belding (FCB) to create the Smokey Bear campaign in 1944." | https://smokeybear.com/en/smokeys-history/about-the-campaign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Posters began in 1944; the “Only You” line came in 1947, then radio and TV spots. | Source says: "His signature phrase, “Remember... Only YOU Can Prevent Forest Fires,” was introduced three years later, in 1947." | https://smokeybear.com/en/smokeys-history/about-the-campaign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Materials paired the memorable character with specific fire-safety advice. | Source says: "The PSAs make sure the wildfire prevention tips are focused on the most relevant “fire starters” of the day." | https://smokeybear.com/en/smokeys-history/about-the-campaign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The message has endured since 1944. The sources reviewed do not show how many fires it prevented. | Source says: "Since 1944, Smokey’s been working hard to inspire Americans to prevent wildfires." | https://smokeybear.com/en/smokeys-history/about-the-campaign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Campaign history; other causes of change were not ruled out. | Source says: "The story of Smokey Bear — who still educates Americans about fire safety today — begins during WWII" | https://www.adcouncil.org/about-us/our-history</a:t>
            </a:r>
            <a:endParaRPr lang="en-US" sz="2000" b="0" u="none" strike="noStrike">
              <a:solidFill>
                <a:srgbClr val="000000"/>
              </a:solidFill>
              <a:effectLst/>
              <a:uFillTx/>
              <a:latin typeface="Arial"/>
            </a:endParaRPr>
          </a:p>
        </p:txBody>
      </p:sp>
      <p:sp>
        <p:nvSpPr>
          <p:cNvPr id="1827" name="PlaceHolder 3"/>
          <p:cNvSpPr>
            <a:spLocks noGrp="1"/>
          </p:cNvSpPr>
          <p:nvPr>
            <p:ph type="sldNum" idx="7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8" name="PlaceHolder 1"/>
          <p:cNvSpPr>
            <a:spLocks noGrp="1"/>
          </p:cNvSpPr>
          <p:nvPr>
            <p:ph type="sldImg"/>
          </p:nvPr>
        </p:nvSpPr>
        <p:spPr>
          <a:xfrm>
            <a:off x="0" y="0"/>
            <a:ext cx="0" cy="0"/>
          </a:xfrm>
          <a:prstGeom prst="rect">
            <a:avLst/>
          </a:prstGeom>
          <a:ln w="0">
            <a:noFill/>
          </a:ln>
        </p:spPr>
      </p:sp>
      <p:sp>
        <p:nvSpPr>
          <p:cNvPr id="182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https://www.adcouncil.org/about-us/our-history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https://www.youtube.com/watch?v=MPePAA-V4ZI</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https://www.zocalopublicsquare.org/crying-indian-ad-fooled-environmental-movement/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https://www.cnn.com/2023/02/28/us/crying-indian-ad-campaign-cec/index.html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campaign also illustrates how a message can redirect attention toward individual conduct.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Frame from the 1971 'Crying Indian' TV spot: close-up of the tear (Iron Eyes Cody) [file note: (frame at 0:49)] (1971). Owner: Keep America Beautiful / Ad Council; rights transferred to the National Congress of American Indians Fund in 2023. Rights: Copyrighted — fair use for commentary, criticism, and research; frame grabbed from an unofficial YouTube upload (no official upload found). Found at: https://www.youtube.com/watch?v=MPePAA-V4ZI. File: https://www.youtube.com/watch?v=MPePAA-V4ZI</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1971 | Source says: "The commercial first aired on television on Earth Day in 1971" | https://www.cnn.com/2023/02/28/us/crying-indian-ad-campaign-cec/index.html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"It’s one of the most well-known public service announcements in American history." | https://www.cnn.com/2023/02/28/us/crying-indian-ad-campaign-cec/index.html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PUBLIC CAMPAIGN | Source says: "a public service advertisement for the anti-litter organization Keep America Beautiful" | https://www.zocalopublicsquare.org/crying-indian-ad-fooled-environmental-movement/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memorable public-service ad made littering a personal moral failure. | Source says: "By making individual viewers feel guilty and responsible for the polluted environment, the ad deflected the question of responsibility away from corporations" | https://www.zocalopublicsquare.org/crying-indian-ad-fooled-environmental-movement/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[CORRECTED] Protesters blamed industry for throwaway packaging | Source says: "All these protests held industry—not consumers—responsible for the proliferation of disposable items" | https://www.zocalopublicsquare.org/crying-indian-ad-fooled-environmental-movement/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Individuals were urged to feel personally responsible | Source says: "placed it entirely in the realm of individual action" | https://www.zocalopublicsquare.org/crying-indian-ad-fooled-environmental-movement/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Keep America Beautiful built an emotional TV spot around a single visual story. | Source says: "Cody’s tear made its television debut in 1971 at the close of a public service advertisement for the anti-litter organization Keep America Beautiful." | https://www.zocalopublicsquare.org/crying-indian-ad-fooled-environmental-movement/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The closing tear and “People start pollution. People can stop it” put the blame on individuals. | Source says: "At the moment the tear appears, the narrator, in a baritone voice, intones: “People start pollution. People can stop it.”" | https://www.zocalopublicsquare.org/crying-indian-ad-fooled-environmental-movement/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[CORRECTED] It ended with a mail-in offer for “71 things you can do”; stations aired it until prints wore out. | Source says: "TV stations have continually asked for replacement films” of the commercial, “because they have literally worn out the originals from the constant showings." | https://www.zocalopublicsquare.org/crying-indian-ad-fooled-environmental-movement/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[SOFTENED] The ad became famous. Its sponsors later credited it with an 88% litter drop, citing no study. | Source says: "The campaign wins two Clio Awards and helps reduce littering by 88 percent until the PSA's retirement in 1983." | https://www.adcouncil.org/about-us/our-history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Campaign history; no clear behavior test. | Source says: "The campaign wins two Clio Awards and helps reduce littering by 88 percent" | https://www.adcouncil.org/about-us/our-history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note [VERIFIED] The campaign also illustrates how a message can redirect attention toward individual conduct. | Source says: "the ad deflected the question of responsibility away from corporations and placed it entirely in the realm of individual action" | https://www.zocalopublicsquare.org/crying-indian-ad-fooled-environmental-movement/</a:t>
            </a:r>
            <a:endParaRPr lang="en-US" sz="2000" b="0" u="none" strike="noStrike">
              <a:solidFill>
                <a:srgbClr val="000000"/>
              </a:solidFill>
              <a:effectLst/>
              <a:uFillTx/>
              <a:latin typeface="Arial"/>
            </a:endParaRPr>
          </a:p>
        </p:txBody>
      </p:sp>
      <p:sp>
        <p:nvSpPr>
          <p:cNvPr id="1830" name="PlaceHolder 3"/>
          <p:cNvSpPr>
            <a:spLocks noGrp="1"/>
          </p:cNvSpPr>
          <p:nvPr>
            <p:ph type="sldNum" idx="7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1" name="PlaceHolder 1"/>
          <p:cNvSpPr>
            <a:spLocks noGrp="1"/>
          </p:cNvSpPr>
          <p:nvPr>
            <p:ph type="sldImg"/>
          </p:nvPr>
        </p:nvSpPr>
        <p:spPr>
          <a:xfrm>
            <a:off x="0" y="0"/>
            <a:ext cx="0" cy="0"/>
          </a:xfrm>
          <a:prstGeom prst="rect">
            <a:avLst/>
          </a:prstGeom>
          <a:ln w="0">
            <a:noFill/>
          </a:ln>
        </p:spPr>
      </p:sp>
      <p:sp>
        <p:nvSpPr>
          <p:cNvPr id="183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https://files.eric.ed.gov/fulltext/ED445370.pdf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https://www.unfpa.org/news/serial-melodrama-selling-soap-social-change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https://files.eric.ed.gov/fulltext/ED445370.pdf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none placed. Wanted: Scene that names a class or shows enrollment. No clip or still found online. Leads: Televisa archive; photographs in Singhal &amp; Rogers (1999), Entertainment-Education. A J.J. Juez (Televisa) poster was placed here on 2026-09-26 and removed: it is a different telenovela.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1975 | Source says: "839,943 people enrolled in adult education classes during the period in which Ven Conmigo was being broadcast (December 1975-November 1976)" | https://files.eric.ed.gov/fulltext/ED445370.pdf PDF p. 65 (Inventory p. 53)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Mexico | Source says: "Location: Mexico" | https://files.eric.ed.gov/fulltext/ED445370.pdf PDF p. 64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"The first of the serials which used the new methodology was Ven Conmigo ('Come with Me')." | https://files.eric.ed.gov/fulltext/ED445370.pdf PDF p. 64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TV drama portrayed adult literacy and enrollment in classes as achievable. | Source says: "A unique feature of Ven Conmigo was that it specifically promoted enrollment in adult literacy classes established by the National Adult Education Plans." | https://files.eric.ed.gov/fulltext/ED445370.pdf PDF p. 64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Adult classes could feel out of reach | Source says: "Some 250,000 people tried to register for adult education classes in a single day following an episode" | https://www.unfpa.org/news/serial-melodrama-selling-soap-social-change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Enrolling to learn to read could feel possible | Source says: "an older man broke down in tears when he could finally read his granddaughter's letters" | https://www.unfpa.org/news/serial-melodrama-selling-soap-social-change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A television drama followed characters confronting adult illiteracy. | Source says: "an older man broke down in tears when he could finally read his granddaughter's letters" | https://www.unfpa.org/news/serial-melodrama-selling-soap-social-change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Scenes presented study and enrollment as choices ordinary adults could make. | Source says: "Ven Conmigo told the melodramatic story of characters which included both "good" and "bad" role models, thus offering the opportunity for the program to promote "socially desirable" behaviors" | https://files.eric.ed.gov/fulltext/ED445370.pdf PDF p. 64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[CORRECTED] Episodes told viewers where to sign up for government literacy classes and how to get a booklet. | Source says: "viewers motivated to act on the program's call to action--to sign up for literacy classes--were told how to receive a booklet for further information, and where to go to sign up for the government-sponsored classes" | https://files.eric.ed.gov/fulltext/ED445370.pdf PDF p. 13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About 840,000 people enrolled in adult education during its broadcast year, far more than the year before. | Source says: "839,943 people enrolled in adult education classes during the period in which Ven Conmigo was being broadcast (December 1975-November 1976) ... a nine-fold increase" | https://files.eric.ed.gov/fulltext/ED445370.pdf PDF p. 65 (Inventory p. 53)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Enrollment records before and after; other causes possible. | Source says: "Tracking of Ministry of Education registration records" | https://files.eric.ed.gov/fulltext/ED445370.pdf PDF p. 65</a:t>
            </a:r>
            <a:endParaRPr lang="en-US" sz="2000" b="0" u="none" strike="noStrike">
              <a:solidFill>
                <a:srgbClr val="000000"/>
              </a:solidFill>
              <a:effectLst/>
              <a:uFillTx/>
              <a:latin typeface="Arial"/>
            </a:endParaRPr>
          </a:p>
        </p:txBody>
      </p:sp>
      <p:sp>
        <p:nvSpPr>
          <p:cNvPr id="1833" name="PlaceHolder 3"/>
          <p:cNvSpPr>
            <a:spLocks noGrp="1"/>
          </p:cNvSpPr>
          <p:nvPr>
            <p:ph type="sldNum" idx="8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4" name="PlaceHolder 1"/>
          <p:cNvSpPr>
            <a:spLocks noGrp="1"/>
          </p:cNvSpPr>
          <p:nvPr>
            <p:ph type="sldImg"/>
          </p:nvPr>
        </p:nvSpPr>
        <p:spPr>
          <a:xfrm>
            <a:off x="0" y="0"/>
            <a:ext cx="0" cy="0"/>
          </a:xfrm>
          <a:prstGeom prst="rect">
            <a:avLst/>
          </a:prstGeom>
          <a:ln w="0">
            <a:noFill/>
          </a:ln>
        </p:spPr>
      </p:sp>
      <p:sp>
        <p:nvSpPr>
          <p:cNvPr id="183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https://files.eric.ed.gov/fulltext/ED445370.pdf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https://www.itu.int/hub/2020/04/how-can-television-viewing-help-to-advance-the-sdgs/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https://files.eric.ed.gov/fulltext/ED445370.pdf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https://mahb.stanford.edu/blog/tv-birth-control/ ; https://es.wikipedia.org/wiki/Acomp%C3%A1%C3%B1ame_(telenovela) ; https://www.youtube.com/watch?v=_zJJziQgeKo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Historic outcome claims are difficult to separate from concurrent trends.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Acompáñame opening-title card (hands logo), from the 1977 Televisa broadcast opening [file note: (frame at 0:18, trimmed)] (1977). Owner: Televisa (uploaded by fan channel 'El baul musical de las telenovelas'). Rights: copyrighted — fair use for commentary, criticism, and research; fan upload, not official. Low-res VHS source upscaled to 1080p in the upload; rest of that video is a fan re-edit with stock scenery, only this title card appears original.. Found at: https://www.youtube.com/watch?v=_zJJziQgeKo. File: https://www.youtube.com/watch?v=_zJJziQgeKo&amp;t=18</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1977 | Source says: "Dates: 1977-78" | https://files.eric.ed.gov/fulltext/ED445370.pdf PDF p. 68 (report 'Inventory of Projects, Page 54')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Mexico | Source says: "Location: Mexico" | https://files.eric.ed.gov/fulltext/ED445370.pdf PDF p. 68 (report 'Inventory of Projects, Page 54')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"Acompaname ('Come Along with Me') was the Sabido's second major pro-social telenovela." | https://files.eric.ed.gov/fulltext/ED445370.pdf PDF p. 68 (report 'Inventory of Projects, Page 54')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TV drama portrayed family planning as compatible with a happy family. | Source says: "This time, the program promoted family planning as a means to achieve family harmony." | https://files.eric.ed.gov/fulltext/ED445370.pdf PDF p. 68 (report 'Inventory of Projects, Page 54')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Family planning was hard to discuss | Source says: "used engaging and entertaining characters to role-model spousal harmony when couples made family planning decisions." | https://www.itu.int/hub/2020/04/how-can-television-viewing-help-to-advance-the-sdgs/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Spouses could discuss and seek it | Source says: "used engaging and entertaining characters to role-model spousal harmony when couples made family planning decisions." | https://www.itu.int/hub/2020/04/how-can-television-viewing-help-to-advance-the-sdgs/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[CORRECTED] A daily drama followed three sisters; the one with ten unplanned children fell into poverty. | Source says: "Amanda y sus dos hermanas Raquel y Esperanza se criaron felizmente en la localidad de Tacubaya ... al no planificar su familia correctamente, empiezan a llenarse de hijos, hasta llegar a diez." | https://es.wikipedia.org/wiki/Acomp%C3%A1%C3%B1ame_(telenovela)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Characters modeled conversations about contraception and family size. | Source says: "used engaging and entertaining characters to role-model spousal harmony when couples made family planning decisions." | https://www.itu.int/hub/2020/04/how-can-television-viewing-help-to-advance-the-sdgs/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[CORRECTED] Episode epilogues gave advice about family-planning services; calls to the population council rose. | Source says: "The lessons were reinforced with an epilogue at the end of each episode, giving advice about family planning services." | https://mahb.stanford.edu/blog/tv-birth-control/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Family-planning clinic use rose during the broadcast year, but a small viewer study found no clear change in contraceptive use. | Source says: "over 500,000 Mexicans visited family planing clinics and adopted contraceptives during the year the Acompañame was on the air ... a study of 319 people did not find a significant difference in contraceptive use" | https://files.eric.ed.gov/fulltext/ED445370.pdf PDF p. 68 (report 'Inventory of Projects, Page 54')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Clinic records and a viewer survey gave mixed results. | Source says: "Pre- and post- broadcast panel study intended to have a random sample of 800; in fact, only 319 comparable interviews were conducted / Analysis of clinic data" | https://files.eric.ed.gov/fulltext/ED445370.pdf PDF p. 68 (report 'Inventory of Projects, Page 54')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note [VERIFIED] Historic outcome claims are difficult to separate from concurrent trends. | Source says: "Televisa acknowledged that secular trends also played a role." | https://files.eric.ed.gov/fulltext/ED445370.pdf PDF p. 68 (report 'Inventory of Projects, Page 54')</a:t>
            </a:r>
            <a:endParaRPr lang="en-US" sz="2000" b="0" u="none" strike="noStrike">
              <a:solidFill>
                <a:srgbClr val="000000"/>
              </a:solidFill>
              <a:effectLst/>
              <a:uFillTx/>
              <a:latin typeface="Arial"/>
            </a:endParaRPr>
          </a:p>
        </p:txBody>
      </p:sp>
      <p:sp>
        <p:nvSpPr>
          <p:cNvPr id="1836" name="PlaceHolder 3"/>
          <p:cNvSpPr>
            <a:spLocks noGrp="1"/>
          </p:cNvSpPr>
          <p:nvPr>
            <p:ph type="sldNum" idx="8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7" name="PlaceHolder 1"/>
          <p:cNvSpPr>
            <a:spLocks noGrp="1"/>
          </p:cNvSpPr>
          <p:nvPr>
            <p:ph type="sldImg"/>
          </p:nvPr>
        </p:nvSpPr>
        <p:spPr>
          <a:xfrm>
            <a:off x="0" y="0"/>
            <a:ext cx="0" cy="0"/>
          </a:xfrm>
          <a:prstGeom prst="rect">
            <a:avLst/>
          </a:prstGeom>
          <a:ln w="0">
            <a:noFill/>
          </a:ln>
        </p:spPr>
      </p:sp>
      <p:sp>
        <p:nvSpPr>
          <p:cNvPr id="183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https://www.adcouncil.org/our-causes/buzzed-driving-prevention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https://aef.com/classroom-resources/social-responsibility/ad-council-campaigns-made-difference/drunk-driving-prevention/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https://www.prnewswire.com/news-releases/smokey-bear-and-friends-dont-let-friends-drive-drunk-inducted-into-advertising-week-walk-of-fame-277793801.html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https://www.adcouncil.org/about-us/our-history ; https://www.youtube.com/watch?v=BPnqSmxh-60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End card of 'Crashing Glasses' TV PSA: 'Drinking and driving can kill a friendship' (Ad Council / U.S. DOT), CLIO winner [file note: (frame at 0:24.5, cropped to picture area)] (1983). Owner: Ad Council / U.S. Department of Transportation (uploaded by 'PSA America' channel). Rights: U.S. DOT-sponsored PSA; rights unclear (Ad Council) — fair use for commentary, criticism, and research. 643px native SD, below 700px target.. Found at: https://www.youtube.com/watch?v=BPnqSmxh-60. File: https://www.youtube.com/watch?v=BPnqSmxh-60&amp;t=24</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title [CORRECTED] Drunk Driving Prevention | Source says: "In 1983 the Ad Council and the National Highway Traffic Safety Administration (under the U.S. Department of Transportation – U.S. DOT) partnered to launch the Drunk Driving Prevention campaign." | https://aef.com/classroom-resources/social-responsibility/ad-council-campaigns-made-difference/drunk-driving-prevention/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[CORRECTED] 1983 · slogan 1990 | Source says: "In 1983 the Ad Council and the National Highway Traffic Safety Administration (under the U.S. Department of Transportation – U.S. DOT) partnered to launch the Drunk Driving Prevention campaign." | https://aef.com/classroom-resources/social-responsibility/ad-council-campaigns-made-difference/drunk-driving-prevention/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"the Ad Council and the National Highway Traffic Safety Administration (under the U.S. Department of Transportation – U.S. DOT)" | https://aef.com/classroom-resources/social-responsibility/ad-council-campaigns-made-difference/drunk-driving-prevention/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PUBLIC CAMPAIGN | Source says: "partnered to launch the Drunk Driving Prevention campaign." | https://aef.com/classroom-resources/social-responsibility/ad-council-campaigns-made-difference/drunk-driving-prevention/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Recast intervening in a friend’s plans as part of being a good friend. | Source says: "The campaign took the unique approach of targeting the intervener—first with the tagline, "Drinking and Driving Can Kill a Friendship,"" | https://www.prnewswire.com/news-releases/smokey-bear-and-friends-dont-let-friends-drive-drunk-inducted-into-advertising-week-walk-of-fame-277793801.html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A friend’s drive home was their own decision | Source says: "Although society’s permissive attitude toward drinking and driving had recently begun to shift" | https://aef.com/classroom-resources/social-responsibility/ad-council-campaigns-made-difference/drunk-driving-prevention/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A friend should step in before they drive | Source says: "new PSAs encouraging friends to intervene in order to prevent a drunk person from getting behind the wheel" | https://aef.com/classroom-resources/social-responsibility/ad-council-campaigns-made-difference/drunk-driving-prevention/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The campaign made intervention a test of friendship, not a lecture about alcohol. | Source says: "The campaign took the unique approach of targeting the intervener—first with the tagline, "Drinking and Driving Can Kill a Friendship,"" | https://www.prnewswire.com/news-releases/smokey-bear-and-friends-dont-let-friends-drive-drunk-inducted-into-advertising-week-walk-of-fame-277793801.html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In 1990 new ads introduced “Friends Don’t Let Friends Drive Drunk,” the campaign’s best-known line. | Source says: "In 1990, new PSAs encouraging friends to intervene ... introduced the tagline, “Friends Don’t Let Friends Drive Drunk.” ... The tagline went on to become the most recognized anti-drinking and driving slogan in America." | https://aef.com/classroom-resources/social-responsibility/ad-council-campaigns-made-difference/drunk-driving-prevention/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[SOFTENED] The ask was concrete: step in and keep a friend who has been drinking from taking the wheel. | Source says: "new PSAs encouraging friends to intervene in order to prevent a drunk person from getting behind the wheel" | https://aef.com/classroom-resources/social-responsibility/ad-council-campaigns-made-difference/drunk-driving-prevention/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More than two in three Americans say they have tried to stop someone from driving after drinking. | Source says: "even as of 2013, more than two thirds of American adults report having stopped a friend from driving while under the influence" | https://www.prnewswire.com/news-releases/smokey-bear-and-friends-dont-let-friends-drive-drunk-inducted-into-advertising-week-walk-of-fame-277793801.html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[SOFTENED] Ad Council-reported self-report figure; campaign’s share cannot be isolated. | Source says: "more than two thirds of American adults report having stopped a friend from driving" | https://www.prnewswire.com/news-releases/smokey-bear-and-friends-dont-let-friends-drive-drunk-inducted-into-advertising-week-walk-of-fame-277793801.html</a:t>
            </a:r>
            <a:endParaRPr lang="en-US" sz="2000" b="0" u="none" strike="noStrike">
              <a:solidFill>
                <a:srgbClr val="000000"/>
              </a:solidFill>
              <a:effectLst/>
              <a:uFillTx/>
              <a:latin typeface="Arial"/>
            </a:endParaRPr>
          </a:p>
        </p:txBody>
      </p:sp>
      <p:sp>
        <p:nvSpPr>
          <p:cNvPr id="1839" name="PlaceHolder 3"/>
          <p:cNvSpPr>
            <a:spLocks noGrp="1"/>
          </p:cNvSpPr>
          <p:nvPr>
            <p:ph type="sldNum" idx="8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0" name="PlaceHolder 1"/>
          <p:cNvSpPr>
            <a:spLocks noGrp="1"/>
          </p:cNvSpPr>
          <p:nvPr>
            <p:ph type="sldImg"/>
          </p:nvPr>
        </p:nvSpPr>
        <p:spPr>
          <a:xfrm>
            <a:off x="0" y="0"/>
            <a:ext cx="0" cy="0"/>
          </a:xfrm>
          <a:prstGeom prst="rect">
            <a:avLst/>
          </a:prstGeom>
          <a:ln w="0">
            <a:noFill/>
          </a:ln>
        </p:spPr>
      </p:sp>
      <p:sp>
        <p:nvSpPr>
          <p:cNvPr id="184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https://files.eric.ed.gov/fulltext/ED445370.pdf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https://www.youtube.com/watch?v=Sxn-lSJiW7o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https://pubmed.ncbi.nlm.nih.gov/12319295/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https://pubmed.ncbi.nlm.nih.gov/12283722/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Still from Hum Log episode 1 (Doordarshan, 1984): the Basesar Ram family at home [file note: (frame at 5:00; top 60px cropped to remove Goldmines watermark)] (1984). Owner: Doordarshan; distributed by Goldmines Movies (licensed YouTube upload). Rights: copyrighted — fair use for commentary, criticism, and research. 600x420 native SD.. Found at: https://www.youtube.com/watch?v=Sxn-lSJiW7o. File: https://www.youtube.com/watch?v=Sxn-lSJiW7o&amp;t=300</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1984 | Source says: "Dates: 1984-85" | https://files.eric.ed.gov/fulltext/ED445370.pdf PDF p. 69-70 (report 'Inventory of Projects, Page 56-57')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India | Source says: "Location: India" | https://files.eric.ed.gov/fulltext/ED445370.pdf PDF p. 70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"India's first long-running pro-social serial, Hum Log ('We People')." | https://files.eric.ed.gov/fulltext/ED445370.pdf PDF p. 69</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national TV drama explored family size, women making their own choices, and other social expectations. | Source says: "To promote development themes such as equal status for women, family harmony, and smaller family size norms." | https://files.eric.ed.gov/fulltext/ED445370.pdf PDF p. 69</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Family and gender expectations went unquestioned | Source says: "Hum Log was a prosocial TV program that was designed to promote women's status in Indian society." | https://pubmed.ncbi.nlm.nih.gov/12283722/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Viewers could imagine different choices | Source says: "The effects of exposure to "Hum Log" ... on viewers' beliefs about women's status, freedom of choice, and family planning were assessed" | https://pubmed.ncbi.nlm.nih.gov/12319295/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A long-running TV family supplied characters with different beliefs and choices. | Source says: "to evaluate the pro-social and anti-social behavior of the ten main Hum Log characters" | https://files.eric.ed.gov/fulltext/ED445370.pdf PDF p. 70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Viewers followed consequences over time, rather than hearing one stand-alone message. | Source says: "156 30-minute ... episodes were broadcast in Hindi on Indian national network television twice weekly for 17 months in 1984-85" | https://files.eric.ed.gov/fulltext/ED445370.pdf PDF p. 70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Some independent women were punished by the plot, undercutting the intended lesson. | Source says: "in many cases, the self-sufficient, career-oriented women experienced negative social consequences, while characters who pursued more traditional female roles were rewarded." | https://pubmed.ncbi.nlm.nih.gov/12319295/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Survey results were mixed: heavier viewers held more pro-equality views, but a fuller model found no sign the show shifted them. | Source says: "Viewers who were more exposed to Hum Log were also more likely to believe in women's equality and women's freedom of choice, but not in family planning." | https://pubmed.ncbi.nlm.nih.gov/12283722/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Survey of 1,170 people; viewing was not assigned by chance. | Source says: "assessed in a survey of 1170 respondents from three geographic areas." | https://pubmed.ncbi.nlm.nih.gov/12319295/</a:t>
            </a:r>
            <a:endParaRPr lang="en-US" sz="2000" b="0" u="none" strike="noStrike">
              <a:solidFill>
                <a:srgbClr val="000000"/>
              </a:solidFill>
              <a:effectLst/>
              <a:uFillTx/>
              <a:latin typeface="Arial"/>
            </a:endParaRPr>
          </a:p>
        </p:txBody>
      </p:sp>
      <p:sp>
        <p:nvSpPr>
          <p:cNvPr id="1842" name="PlaceHolder 3"/>
          <p:cNvSpPr>
            <a:spLocks noGrp="1"/>
          </p:cNvSpPr>
          <p:nvPr>
            <p:ph type="sldNum" idx="83"/>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3" name="PlaceHolder 1"/>
          <p:cNvSpPr>
            <a:spLocks noGrp="1"/>
          </p:cNvSpPr>
          <p:nvPr>
            <p:ph type="sldImg"/>
          </p:nvPr>
        </p:nvSpPr>
        <p:spPr>
          <a:xfrm>
            <a:off x="0" y="0"/>
            <a:ext cx="0" cy="0"/>
          </a:xfrm>
          <a:prstGeom prst="rect">
            <a:avLst/>
          </a:prstGeom>
          <a:ln w="0">
            <a:noFill/>
          </a:ln>
        </p:spPr>
      </p:sp>
      <p:sp>
        <p:nvSpPr>
          <p:cNvPr id="184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https://www.adcouncil.org/about-us/our-history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https://www.youtube.com/watch?v=1_8hkdZkF7Q</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https://www.nhtsa.gov/book/countermeasures-that-work/seat-belts-and-child-restraints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https://web.archive.org/web/20250302174026/https://americanhistory.si.edu/explore/stories/vince-and-larry-dummies-crash-smithsonian ; https://americanhistory.si.edu/explore/stories/vince-and-larry-dummies-crash-smithsonian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Vince and Larry in an NHTSA/Ad Council seat-belt PSA (airbag-era spot; ends 'You could learn a lot from a dummy. Buckle your safety belt.') [file note: (frame at 0:23, pillarbox trimmed)] (c. 1990s (undated spot; uploaded 2013)). Owner: NHTSA / U.S. DOT and Ad Council (official USDOTNHTSA channel). Rights: U.S. government-sponsored PSA, official upload; likely public domain or government use — treat as fair use for commentary, criticism, and research.. Found at: https://www.youtube.com/watch?v=1_8hkdZkF7Q. File: https://www.youtube.com/watch?v=1_8hkdZkF7Q&amp;t=23</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1985 | Source says: "When the U.S. Department of Transportation and the National Highway Transportation Safety Administration partnered with the Ad Council in 1985 to address the issue, they turned to the Leo Burnett ad agency" | https://web.archive.org/web/20250302174026/https://americanhistory.si.edu/explore/stories/vince-and-larry-dummies-crash-smithsonian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"debuted in television, print and radio ads nationwide." | https://web.archive.org/web/20250302174026/https://americanhistory.si.edu/explore/stories/vince-and-larry-dummies-crash-smithsonian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PUBLIC CAMPAIGN | Source says: "Two of the most iconic characters in our history start encouraging Americans to buckle up." | https://www.adcouncil.org/about-us/our-history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Comic crash-test dummies made fastening a seat belt memorable and ordinary. | Source says: "Enter Vince and Larry, two bantering crash test dummies with a penchant for slapstick. Their message to Americans is simple: buckle up and don’t be a dummy." | https://www.adcouncil.org/about-us/our-history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Skipping a seat belt seemed routine | Source says: "In 1985, only 21% of Americans are buckling their seat belts." | https://www.adcouncil.org/about-us/our-history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Buckling up became the obvious move | Source says: "Today, seat belt usage is at 90.4%" | https://www.adcouncil.org/about-us/our-history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Two crash-test dummy characters made the safety warning funny. | Source says: "“Usually PSAs are shocking and gory, so we thought, what if we had these guys love their jobs?”" | https://web.archive.org/web/20250302174026/https://americanhistory.si.edu/explore/stories/vince-and-larry-dummies-crash-smithsonian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Short spots repeated the crash consequence and the buckle-up instruction. | Source says: "Their message to Americans is simple: buckle up and don’t be a dummy." | https://www.adcouncil.org/about-us/our-history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The same characters stayed recognizable across years of ads and merchandise. | Source says: "In 1992, a New Jersey toy manufacturer even introduced action figures of the same name." | https://web.archive.org/web/20250302174026/https://americanhistory.si.edu/explore/stories/vince-and-larry-dummies-crash-smithsonian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Seat-belt use rose over decades, but laws and enforcement changed too. The ads’ share is unclear. | Source says: "New York enacted the first statewide seat belt use law in 1984 with other States soon following." | https://www.nhtsa.gov/book/countermeasures-that-work/seat-belts-and-child-restraints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National trend; campaign effect not isolated. | Source says: "In 1985, only 21% of Americans are buckling their seat belts. ... Today, seat belt usage is at 90.4%" | https://www.adcouncil.org/about-us/our-history</a:t>
            </a:r>
            <a:endParaRPr lang="en-US" sz="2000" b="0" u="none" strike="noStrike">
              <a:solidFill>
                <a:srgbClr val="000000"/>
              </a:solidFill>
              <a:effectLst/>
              <a:uFillTx/>
              <a:latin typeface="Arial"/>
            </a:endParaRPr>
          </a:p>
        </p:txBody>
      </p:sp>
      <p:sp>
        <p:nvSpPr>
          <p:cNvPr id="1845" name="PlaceHolder 3"/>
          <p:cNvSpPr>
            <a:spLocks noGrp="1"/>
          </p:cNvSpPr>
          <p:nvPr>
            <p:ph type="sldNum" idx="8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6" name="PlaceHolder 1"/>
          <p:cNvSpPr>
            <a:spLocks noGrp="1"/>
          </p:cNvSpPr>
          <p:nvPr>
            <p:ph type="sldImg"/>
          </p:nvPr>
        </p:nvSpPr>
        <p:spPr>
          <a:xfrm>
            <a:off x="0" y="0"/>
            <a:ext cx="0" cy="0"/>
          </a:xfrm>
          <a:prstGeom prst="rect">
            <a:avLst/>
          </a:prstGeom>
          <a:ln w="0">
            <a:noFill/>
          </a:ln>
        </p:spPr>
      </p:sp>
      <p:sp>
        <p:nvSpPr>
          <p:cNvPr id="184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https://www.txdot.gov/about/newsroom/statewide/txdot-salutes-40-years-of-dont-mess-with-texas.html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https://www.youtube.com/watch?v=KISppQMhOuI</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https://ftp.txdot.gov/pub/txdot-info/trv/travel-industry/dmwt_2013_attitudes_behaviors_executive.pdf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https://www.dontmesswithtexas.org/</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End frame of the first Don't mess with Texas TV spot: Stevie Ray Vaughan before a Texas flag, 'Sponsored by Texas Department of Transportation' [file note: (frame at 0:28)] (1986). Owner: Texas Department of Transportation (official 'Don't mess with Texas' channel). Rights: TxDOT-owned; 'Don't mess with Texas' is a registered trademark — fair use for commentary, criticism, and research. 720x480 native SD.. Found at: https://www.youtube.com/watch?v=KISppQMhOuI. File: https://www.youtube.com/watch?v=KISppQMhOuI&amp;t=28</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1986 | Source says: "Launched in 1986, the campaign was created to address the increasing amount of litter along Texas highways" | https://www.txdot.gov/about/newsroom/statewide/txdot-salutes-40-years-of-dont-mess-with-texas.html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Texas, United States | Source says: "litter along Texas highways" | https://www.txdot.gov/about/newsroom/statewide/txdot-salutes-40-years-of-dont-mess-with-texas.html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PUBLIC CAMPAIGN | Source says: "one of the most iconic anti-litter campaigns: Don’t mess with Texas." | https://www.txdot.gov/about/newsroom/statewide/txdot-salutes-40-years-of-dont-mess-with-texas.html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Used state pride and admired public figures to make littering socially unacceptable. | Source says: "by appealing to Texans’ pride and strong connection to the state. ... its collaboration with influential Texas voices from music, film and popular culture" | https://www.txdot.gov/about/newsroom/statewide/txdot-salutes-40-years-of-dont-mess-with-texas.html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Roadside litter was tolerated | Source says: "created to address the increasing amount of litter along Texas highways" | https://www.txdot.gov/about/newsroom/statewide/txdot-salutes-40-years-of-dont-mess-with-texas.html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Littering offended Texas pride | Source says: "by appealing to Texans’ pride and strong connection to the state." | https://www.txdot.gov/about/newsroom/statewide/txdot-salutes-40-years-of-dont-mess-with-texas.html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The first ad used Texas musician Stevie Ray Vaughan and a state-pride slogan. | Source says: "Stevie Ray Vaughan appeared on the screen in the first ad of the most iconic anti-litter campaigns: Don’t mess with Texas." | https://www.txdot.gov/about/newsroom/statewide/txdot-salutes-40-years-of-dont-mess-with-texas.html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[SOFTENED] It debuted on the Cotton Bowl screen on Jan. 1, 1986, then continued as TV and radio spots. | Source says: "As football fans watched inside the Cotton Bowl on Jan. 1, 1986, Stevie Ray Vaughan appeared on the screen in the first ad" | https://www.txdot.gov/about/newsroom/statewide/txdot-salutes-40-years-of-dont-mess-with-texas.html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Later famous Texans and public cleanup events kept the message visible. | Source says: "names like Willie Nelson, George Strait, Eva Longoria, Matthew McConaughey ... The campaign includes annual “Trash-Off” community litter pick-up events and the Adopt-a-Highway volunteer program." | https://www.txdot.gov/about/newsroom/statewide/txdot-salutes-40-years-of-dont-mess-with-texas.html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In a 2013 Texas survey, 98% recognized the slogan. That measures reach, not less litter. | Source says: "Within the general population, awareness of the Don’t mess with Texas slogan is very high (98%), with most residents associating it with an anti-litter message" | https://ftp.txdot.gov/pub/txdot-info/trv/travel-industry/dmwt_2013_attitudes_behaviors_executive.pdf p. 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State survey of awareness. | Source says: "2013 Litter Attitudes And Behaviors ... Pre-Campaign Report April 3, 2013" | https://ftp.txdot.gov/pub/txdot-info/trv/travel-industry/dmwt_2013_attitudes_behaviors_executive.pdf p. 1-2</a:t>
            </a:r>
            <a:endParaRPr lang="en-US" sz="2000" b="0" u="none" strike="noStrike">
              <a:solidFill>
                <a:srgbClr val="000000"/>
              </a:solidFill>
              <a:effectLst/>
              <a:uFillTx/>
              <a:latin typeface="Arial"/>
            </a:endParaRPr>
          </a:p>
        </p:txBody>
      </p:sp>
      <p:sp>
        <p:nvSpPr>
          <p:cNvPr id="1848" name="PlaceHolder 3"/>
          <p:cNvSpPr>
            <a:spLocks noGrp="1"/>
          </p:cNvSpPr>
          <p:nvPr>
            <p:ph type="sldNum" idx="8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9" name="PlaceHolder 1"/>
          <p:cNvSpPr>
            <a:spLocks noGrp="1"/>
          </p:cNvSpPr>
          <p:nvPr>
            <p:ph type="sldImg"/>
          </p:nvPr>
        </p:nvSpPr>
        <p:spPr>
          <a:xfrm>
            <a:off x="0" y="0"/>
            <a:ext cx="0" cy="0"/>
          </a:xfrm>
          <a:prstGeom prst="rect">
            <a:avLst/>
          </a:prstGeom>
          <a:ln w="0">
            <a:noFill/>
          </a:ln>
        </p:spPr>
      </p:sp>
      <p:sp>
        <p:nvSpPr>
          <p:cNvPr id="185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https://www.thecrimson.com/article/1991/12/6/harvard-alcohol-project-helps-bush-tape/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https://guides.library.harvard.edu/CHC/designateddriver ; https://pubmed.ncbi.nlm.nih.gov/7917447/ ; https://www.youtube.com/watch?v=p85zXhD3F5c</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Reference case for this deck.</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“The Designated Driver Is the Life of the Party” poster on the Cheers bar set (Kirstie Alley, Ted Danson) (c. 1988–1991 (undated)). Owner: Harvard T.H. Chan School of Public Health, Center for Health Communication. Rights: copyrighted — fair use for commentary, criticism, and research. Found at: https://hsph.harvard.edu/research/health-communication/harvard-alcohol-project-designated-driver/. File: https://hsph.harvard.edu/wp-content/uploads/2024/11/D.D._Cheers-SamRebecca.jpg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1988 | Source says: "In 1988, the Center for Health Communication (CHC) launched the U.S. Designated Driver Campaign"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"launched the U.S. Designated Driver Campaign as a new component of the nation’s comprehensive approach"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"TV writers agreed to insert drunken driving prevention messages, including frequent references to designated drivers, into scripts of top-rated television programs"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Harvard and television partners made choosing one sober driver a familiar social role. | Source says: "“Designated Driver” became a household phrase in the U.S. to such an extent that the term appeared in the 1991 Random House Webster’s College Dictionary"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A drinking group might leave driving undecided | Source says: "The campaign set out to demonstrate how a new social concept — the “designated driver” — could be imported from Scandinavia and rapidly diffused through American society"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The group chose a sober driver in advance | Source says: "Designated Driver who doesn’t drink at all."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Harvard defined one small role: take turns being the person who does not drink. | Source says: "If you and your companions drink alcoholic beverages, drink in moderation — and take your turn as the Designated Driver who doesn’t drink at all."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[SOFTENED] Staff met 250 Hollywood people; scenes and lines entered more than 160 prime-time programs. | Source says: "CHC staff spent 25 workweeks in Hollywood meeting individually with 250 key people ... more than 160 prime-time programs incorporated sub-plots, scenes, and dialogue on the subject"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Three networks reinforced the role with ads; publicity and partners repeated it. | Source says: "At Harvard’s request, ABC, CBS, and NBC also aired frequent public service announcements (PSAs) during prime time ... Harvard’s public relations activities further reinforced the campaign"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By 1991, 37% of Americans said they had served as a designated driver (Roper poll). | Source says: "According to the Roper Poll, the proportion of Americans serving as a designated driver reached 37% in 1991."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National poll; other causes of change were not ruled out. | Source says: "hampered by the absence of a carefully matched non-exposure control group, which precludes any definitive judgment on the campaign’s contribution"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note [VERIFIED] Reference case for this deck. | Source says: "(editorial, not a factual claim)"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[VERIFIED] Choose one non-drinker before the group goes out; rotate the role on later nights. | Source says: "take your turn as the Designated Driver who doesn’t drink at all."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[VERIFIED] Harvard spent 25 workweeks meeting 250 Hollywood people; Grant Tinker helped open doors. | Source says: "CHC staff spent 25 workweeks in Hollywood meeting individually with 250 key people ... recruited with Grant Tinker’s leadership, to provide ready access"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[SOFTENED] More than 160 prime-time programs addressed drunk driving over four years; ABC, CBS, and NBC aired ads. | Source says: "Over a four-year period, more than 160 prime-time programs incorporated sub-plots, scenes, and dialogue on the subject, including frequent references to the use of designated drivers."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[CORRECTED] News coverage, sports leagues, NHTSA, MADD, and local police repeated the same idea. | Source says: "government agencies (e.g., the National Highway Traffic Safety Administration [NHTSA] ...); ... Mothers Against Drunk Driving); professional sports leagues ...; and state and local police departments, endorsed and promoted"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[VERIFIED] A tiny, repeatable role can spread through existing stories when creators can include it in one line. | Source says: "The Designated Driver message could be incorporated into scripts with a line or two of dialogue — it did not require major changes in character development or the story line." | https://hsph.harvard.edu/research/health-communication/harvard-alcohol-project-designated-driver/</a:t>
            </a:r>
            <a:endParaRPr lang="en-US" sz="2000" b="0" u="none" strike="noStrike">
              <a:solidFill>
                <a:srgbClr val="000000"/>
              </a:solidFill>
              <a:effectLst/>
              <a:uFillTx/>
              <a:latin typeface="Arial"/>
            </a:endParaRPr>
          </a:p>
        </p:txBody>
      </p:sp>
      <p:sp>
        <p:nvSpPr>
          <p:cNvPr id="1851" name="PlaceHolder 3"/>
          <p:cNvSpPr>
            <a:spLocks noGrp="1"/>
          </p:cNvSpPr>
          <p:nvPr>
            <p:ph type="sldNum" idx="8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2" name="PlaceHolder 1"/>
          <p:cNvSpPr>
            <a:spLocks noGrp="1"/>
          </p:cNvSpPr>
          <p:nvPr>
            <p:ph type="sldImg"/>
          </p:nvPr>
        </p:nvSpPr>
        <p:spPr>
          <a:xfrm>
            <a:off x="0" y="0"/>
            <a:ext cx="0" cy="0"/>
          </a:xfrm>
          <a:prstGeom prst="rect">
            <a:avLst/>
          </a:prstGeom>
          <a:ln w="0">
            <a:noFill/>
          </a:ln>
        </p:spPr>
      </p:sp>
      <p:sp>
        <p:nvSpPr>
          <p:cNvPr id="185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https://www.thecrimson.com/article/1991/12/6/harvard-alcohol-project-helps-bush-tape/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https://guides.library.harvard.edu/CHC/designateddriver ; https://pubmed.ncbi.nlm.nih.gov/7917447/ ; https://www.youtube.com/watch?v=p85zXhD3F5c</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Reference case for this deck.</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Title card of CBS network PSA “Choose a Designated Driver — A CBS Public Awareness Message” (VHS off-air recording) [file note: (frame at 0.5s)] (1989). Owner: CBS; uploaded by 'Video Archive' (not the owner). Rights: copyrighted — fair use for commentary, criticism, and research. Found at: https://www.youtube.com/watch?v=p85zXhD3F5c. File: https://www.youtube.com/watch?v=p85zXhD3F5c</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1988 | Source says: "In 1988, the Center for Health Communication (CHC) launched the U.S. Designated Driver Campaign"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"launched the U.S. Designated Driver Campaign as a new component of the nation’s comprehensive approach"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"TV writers agreed to insert drunken driving prevention messages, including frequent references to designated drivers, into scripts of top-rated television programs"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Harvard and television partners made choosing one sober driver a familiar social role. | Source says: "“Designated Driver” became a household phrase in the U.S. to such an extent that the term appeared in the 1991 Random House Webster’s College Dictionary"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A drinking group might leave driving undecided | Source says: "The campaign set out to demonstrate how a new social concept — the “designated driver” — could be imported from Scandinavia and rapidly diffused through American society"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The group chose a sober driver in advance | Source says: "Designated Driver who doesn’t drink at all."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Harvard defined one small role: take turns being the person who does not drink. | Source says: "If you and your companions drink alcoholic beverages, drink in moderation — and take your turn as the Designated Driver who doesn’t drink at all."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[SOFTENED] Staff met 250 Hollywood people; scenes and lines entered more than 160 prime-time programs. | Source says: "CHC staff spent 25 workweeks in Hollywood meeting individually with 250 key people ... more than 160 prime-time programs incorporated sub-plots, scenes, and dialogue on the subject"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Three networks reinforced the role with ads; publicity and partners repeated it. | Source says: "At Harvard’s request, ABC, CBS, and NBC also aired frequent public service announcements (PSAs) during prime time ... Harvard’s public relations activities further reinforced the campaign"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By 1991, 37% of Americans said they had served as a designated driver (Roper poll). | Source says: "According to the Roper Poll, the proportion of Americans serving as a designated driver reached 37% in 1991."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National poll; other causes of change were not ruled out. | Source says: "hampered by the absence of a carefully matched non-exposure control group, which precludes any definitive judgment on the campaign’s contribution"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note [VERIFIED] Reference case for this deck. | Source says: "(editorial, not a factual claim)"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[VERIFIED] Choose one non-drinker before the group goes out; rotate the role on later nights. | Source says: "take your turn as the Designated Driver who doesn’t drink at all."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[VERIFIED] Harvard spent 25 workweeks meeting 250 Hollywood people; Grant Tinker helped open doors. | Source says: "CHC staff spent 25 workweeks in Hollywood meeting individually with 250 key people ... recruited with Grant Tinker’s leadership, to provide ready access"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[SOFTENED] More than 160 prime-time programs addressed drunk driving over four years; ABC, CBS, and NBC aired ads. | Source says: "Over a four-year period, more than 160 prime-time programs incorporated sub-plots, scenes, and dialogue on the subject, including frequent references to the use of designated drivers."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[CORRECTED] News coverage, sports leagues, NHTSA, MADD, and local police repeated the same idea. | Source says: "government agencies (e.g., the National Highway Traffic Safety Administration [NHTSA] ...); ... Mothers Against Drunk Driving); professional sports leagues ...; and state and local police departments, endorsed and promoted" | https://hsph.harvard.edu/research/health-communication/harvard-alcohol-project-designated-driver/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[VERIFIED] A tiny, repeatable role can spread through existing stories when creators can include it in one line. | Source says: "The Designated Driver message could be incorporated into scripts with a line or two of dialogue — it did not require major changes in character development or the story line." | https://hsph.harvard.edu/research/health-communication/harvard-alcohol-project-designated-driver/</a:t>
            </a:r>
            <a:endParaRPr lang="en-US" sz="2000" b="0" u="none" strike="noStrike">
              <a:solidFill>
                <a:srgbClr val="000000"/>
              </a:solidFill>
              <a:effectLst/>
              <a:uFillTx/>
              <a:latin typeface="Arial"/>
            </a:endParaRPr>
          </a:p>
        </p:txBody>
      </p:sp>
      <p:sp>
        <p:nvSpPr>
          <p:cNvPr id="1854" name="PlaceHolder 3"/>
          <p:cNvSpPr>
            <a:spLocks noGrp="1"/>
          </p:cNvSpPr>
          <p:nvPr>
            <p:ph type="sldNum" idx="8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5" name="PlaceHolder 1"/>
          <p:cNvSpPr>
            <a:spLocks noGrp="1"/>
          </p:cNvSpPr>
          <p:nvPr>
            <p:ph type="sldImg"/>
          </p:nvPr>
        </p:nvSpPr>
        <p:spPr>
          <a:xfrm>
            <a:off x="0" y="0"/>
            <a:ext cx="0" cy="0"/>
          </a:xfrm>
          <a:prstGeom prst="rect">
            <a:avLst/>
          </a:prstGeom>
          <a:ln w="0">
            <a:noFill/>
          </a:ln>
        </p:spPr>
      </p:sp>
      <p:sp>
        <p:nvSpPr>
          <p:cNvPr id="185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https://www.thecrimson.com/article/1993/3/25/harvard-group-works-with-90210-producers/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https://en.wikipedia.org/wiki/List_of_Blossom_episodes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https://www.thecrimson.com/article/1993/3/25/harvard-group-works-with-90210-producers/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https://en.wikipedia.org/wiki/Beverly_Hills,_90210_season_3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Beverly Hills, 90210: Donna and Kelly at a school restroom mirror during Kelly’s diet-pill storyline (CBS-posted clip 'Diet Pills') (1993 (season 3; exact episode unconfirmed)). Owner: CBS Media Ventures (official CBS YouTube channel). Rights: copyrighted — fair use for commentary, criticism, and research. Found at: https://www.youtube.com/watch?v=HOArW-Yqzj4. File: https://i.ytimg.com/vi/HOArW-Yqzj4/hqdefault.jpg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1993 | Source says: "Last night’s episode of Fox’s “Beverly Hills, 90210” was the first product of a new Harvard-based initiative to educate teenagers about eating disorders." | https://www.thecrimson.com/article/1993/3/25/harvard-group-works-with-90210-producers/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"Fox’s “Beverly Hills, 90210” ... In a future episode of NBC’s “Blossom,” another teen-oriented program" | https://www.thecrimson.com/article/1993/3/25/harvard-group-works-with-90210-producers/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"a series of “Beverly Hills” episodes in which Kelly, played by actress Jennifer Garth, is obsessed with making herself thin by taking diet pills." | https://www.thecrimson.com/article/1993/3/25/harvard-group-works-with-90210-producers/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Harvard worked with 90210 and Blossom on eating-disorder stories that modeled friends stepping in to help. | Source says: "In a future episode of NBC’s “Blossom,” another teen-oriented program, Blossom refers a friend suspected of having an eating disorder to a past bulimic" | https://www.thecrimson.com/article/1993/3/25/harvard-group-works-with-90210-producers/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Friends might avoid an eating-disorder concern | Source says: "a project aimed at “breaking through” the invisible barrier that frequently prevents people from helping their friends overcome health problems." | https://www.thecrimson.com/article/1993/3/25/harvard-group-works-with-90210-producers/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Friends could notice and offer help | Source says: "to help create a social climate which comes to view interpersonal intervention as highly valued social acts" | https://www.thecrimson.com/article/1993/3/25/harvard-group-works-with-90210-producers/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[CORRECTED] Harvard’s health-communication center worked with the producers of popular teen shows. | Source says: "the Harvard Center for Health Communication of the School of Public Health has collaborated with television producers to integrate health messages" | https://www.thecrimson.com/article/1993/3/25/harvard-group-works-with-90210-producers/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Eating-disorder plots put a friend’s response inside familiar characters’ lives. | Source says: "Blossom refers a friend suspected of having an eating disorder to a past bulimic, who explains her cycle of chronic dieting and purging." | https://www.thecrimson.com/article/1993/3/25/harvard-group-works-with-90210-producers/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[REMOVED] In Blossom, the heroine sends a friend she suspects has an eating disorder to a former bulimic. | Source says: "Blossom refers a friend suspected of having an eating disorder to a past bulimic" | https://www.thecrimson.com/article/1993/3/25/harvard-group-works-with-90210-producers/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90210 began the storyline March 24, 1993; Blossom’s “Hunger” aired May 10, 1993. Viewer helping was not measured. | Source says: "Title=Hunger ... OriginalAirDate={{Start date|1993|5|10}} ... ShortSummary=Blossom thinks Six may be [[bulimic]]." | https://en.wikipedia.org/wiki/List_of_Blossom_episodes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Campaign record; behavior not measured. | Source says: "(no evaluation located; Crimson reports only the placements)" | https://www.thecrimson.com/article/1993/3/25/harvard-group-works-with-90210-producers/</a:t>
            </a:r>
            <a:endParaRPr lang="en-US" sz="2000" b="0" u="none" strike="noStrike">
              <a:solidFill>
                <a:srgbClr val="000000"/>
              </a:solidFill>
              <a:effectLst/>
              <a:uFillTx/>
              <a:latin typeface="Arial"/>
            </a:endParaRPr>
          </a:p>
        </p:txBody>
      </p:sp>
      <p:sp>
        <p:nvSpPr>
          <p:cNvPr id="1857" name="PlaceHolder 3"/>
          <p:cNvSpPr>
            <a:spLocks noGrp="1"/>
          </p:cNvSpPr>
          <p:nvPr>
            <p:ph type="sldNum" idx="8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8" name="PlaceHolder 1"/>
          <p:cNvSpPr>
            <a:spLocks noGrp="1"/>
          </p:cNvSpPr>
          <p:nvPr>
            <p:ph type="sldImg"/>
          </p:nvPr>
        </p:nvSpPr>
        <p:spPr>
          <a:xfrm>
            <a:off x="0" y="0"/>
            <a:ext cx="0" cy="0"/>
          </a:xfrm>
          <a:prstGeom prst="rect">
            <a:avLst/>
          </a:prstGeom>
          <a:ln w="0">
            <a:noFill/>
          </a:ln>
        </p:spPr>
      </p:sp>
      <p:sp>
        <p:nvSpPr>
          <p:cNvPr id="185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https://www.unicef.org/bangladesh/en/meena-and-unicef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https://www.unicef.org/pakistan/reports/meenas-adventures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https://www.unicef.org/bangladesh/en/meena-and-unicef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https://www.unicef.org/pakistan/media/3471/file/Count%20your%20chickens.pdf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Panel from UNICEF 'Count Your Chickens' Meena booklet (Urdu edition): Meena and Mithu the parrot peer through the school window (Story 1993; booklet PDF created 2011). Owner: UNICEF Pakistan (UNICEF Meena Communication Initiative). Rights: copyrighted (UNICEF) — fair use for commentary, criticism, and research. Found at: https://www.unicef.org/pakistan/reports/meenas-adventures. File: https://www.unicef.org/pakistan/media/3471/file/Count%20your%20chickens.pdf</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1993 | Source says: "Bangladesh was the first country to launch Meena when a film about her struggle to go to school, called ‘Count Your Chickens’, was broadcast on national television in 1993." | https://www.unicef.org/bangladesh/en/meena-and-unicef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South Asia | Source says: "creating an animated film series to entertain and inspire girls, their families and communities across South Asia." | https://www.unicef.org/bangladesh/en/meena-and-unicef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"UNICEF decided to celebrate the decade by creating an animated film series" | https://www.unicef.org/bangladesh/en/meena-and-unicef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UNICEF’s animated heroine challenged the expectation that girls should miss school or receive less care than boys. | Source says: "Meena is a spirited, nine-year-old girl, who braves all the odds – whether in her efforts to go to school or in fighting the discrimination against children." | https://www.unicef.org/bangladesh/en/meena-and-unicef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Girls’ exclusion from school seemed ordinary | Source says: "a film about her struggle to go to school" | https://www.unicef.org/bangladesh/en/meena-and-unicef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A girl could insist on equal opportunity | Source says: "a girl succeeding against the odds to gain equal treatment, love, care and respect." | https://www.unicef.org/bangladesh/en/meena-and-unicef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UNICEF asked more than 10,000 children about the heroine’s look and life. | Source says: "UNICEF spoke to over 10,000 children about the clothes Meena should wear and the type of life she might have." | https://www.unicef.org/bangladesh/en/meena-and-unicef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A recurring animated girl faced school and family obstacles in story form. | Source says: "The stories revolve around the adventures of Meena, her brother Raju, her pet parrot Mithu, and members of her family and community." | https://www.unicef.org/bangladesh/en/meena-and-unicef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TV films expanded into radio, comics, books, and discussion materials. | Source says: "Meena has starred in 26 films for television, as well as radio programmes, comics and books. ... Discussion and teachers’ guides" | https://www.unicef.org/bangladesh/en/meena-and-unicef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In Bangladesh, 97% of urban and 81% of rural children and adolescents recognized Meena. | Source says: "About 97 per cent of urban and 81 per cent of rural children and adolescents in Bangladesh recognise Meena." | https://www.unicef.org/bangladesh/en/meena-and-unicef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Recognition survey; this does not prove behavior changed. | Source says: "recognise Meena" | https://www.unicef.org/bangladesh/en/meena-and-unicef</a:t>
            </a:r>
            <a:endParaRPr lang="en-US" sz="2000" b="0" u="none" strike="noStrike">
              <a:solidFill>
                <a:srgbClr val="000000"/>
              </a:solidFill>
              <a:effectLst/>
              <a:uFillTx/>
              <a:latin typeface="Arial"/>
            </a:endParaRPr>
          </a:p>
        </p:txBody>
      </p:sp>
      <p:sp>
        <p:nvSpPr>
          <p:cNvPr id="1860" name="PlaceHolder 3"/>
          <p:cNvSpPr>
            <a:spLocks noGrp="1"/>
          </p:cNvSpPr>
          <p:nvPr>
            <p:ph type="sldNum" idx="8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1" name="PlaceHolder 1"/>
          <p:cNvSpPr>
            <a:spLocks noGrp="1"/>
          </p:cNvSpPr>
          <p:nvPr>
            <p:ph type="sldImg"/>
          </p:nvPr>
        </p:nvSpPr>
        <p:spPr>
          <a:xfrm>
            <a:off x="0" y="0"/>
            <a:ext cx="0" cy="0"/>
          </a:xfrm>
          <a:prstGeom prst="rect">
            <a:avLst/>
          </a:prstGeom>
          <a:ln w="0">
            <a:noFill/>
          </a:ln>
        </p:spPr>
      </p:sp>
      <p:sp>
        <p:nvSpPr>
          <p:cNvPr id="186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https://www.unfpa.org/news/serial-melodrama-selling-soap-social-change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https://gap.hks.harvard.edu/effects-entertainment-education-radio-soap-opera-family-planning-behavior-tanzania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https://pubmed.ncbi.nlm.nih.gov/10546311/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https://www.ebi.ac.uk/europepmc/webservices/rest/search?query=EXT_ID:10546311%20AND%20SRC:MED&amp;resultType=core&amp;format=json ; https://pubmed.ncbi.nlm.nih.gov/11010359/</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Title page and abstract of Rogers et al., "Effects of an Entertainment-education Radio Soap Opera on Family Planning Behavior in Tanzania" (1999). Owner: Studies in Family Planning / Population Council (image supplied by Tim Miano). Rights: Copyrighted; fair use for commentary, criticism, and research. Found at: https://www.jstor.org/stable/172196. File: https://www.jstor.org/stable/172196</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1993 | Source says: "An entertainment-education radio soap opera introduced in Tanzania in 1993 was evaluated by means of a field experimental design" | https://pubmed.ncbi.nlm.nih.gov/10546311/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Tanzania | Source says: "broadcast by seven mainland stations of Radio Tanzania" | https://pubmed.ncbi.nlm.nih.gov/10546311/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"30 minute entertainment-education radio soap opera broadcast twice weekly during prime time on Radio Tanzania" | https://gap.hks.harvard.edu/effects-entertainment-education-radio-soap-opera-family-planning-behavior-tanzania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[SOFTENED] A Swahili radio soap opera wove family planning and HIV prevention into its storylines. | Source says: "The radio program focused on major themes identified in formative research including misperceptions regarding contraceptive use and HIV/AIDs, economic empowerment, and gender-based violence." | https://gap.hks.harvard.edu/effects-entertainment-education-radio-soap-opera-family-planning-behavior-tanzania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Family planning was difficult to raise | Source says: "influenced listeners to talk with their spouses and peers about contraception." | https://pubmed.ncbi.nlm.nih.gov/10546311/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Couples could discuss and use it | Source says: "The soap opera had strong behavioral effects on family planning adoption" | https://pubmed.ncbi.nlm.nih.gov/10546311/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A continuing radio drama gave listeners characters to follow over time. | Source says: "broadcast twice weekly during prime time on Radio Tanzania. The program aired in the national language, Swahili, from 1993 to 1997." | https://gap.hks.harvard.edu/effects-entertainment-education-radio-soap-opera-family-planning-behavior-tanzania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[SOFTENED] Storylines tackled family planning and HIV; listeners then talked more with spouses about it. | Source says: "it increased listeners’ self-efficacy regarding family planning adoption and influenced listeners to talk with their spouses and peers about contraception." | https://pubmed.ncbi.nlm.nih.gov/10546311/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[REMOVED] Dodoma aired other programs from 1993 to 1995, giving the study a comparison area. | Source says: "In the Dodoma region, the radio station broadcast local programming instead of the soap opera from 1993 to 1995 and thus the region served as the control group" | https://gap.hks.harvard.edu/effects-entertainment-education-radio-soap-opera-family-planning-behavior-tanzania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Married women using family planning rose 10 points where it aired and fell 11 in the comparison area, 1993–95. | Source says: "The proportion of married women who practice family planning increased by 10 percentage points in the area that received the intervention, and decreased by 11 percentage points in the control area." | https://gap.hks.harvard.edu/effects-entertainment-education-radio-soap-opera-family-planning-behavior-tanzania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Areas compared over time; other differences may matter. | Source says: "An eighth station broadcast alternative programming from 1993 to 1995, its listenership serving as a comparison area" | https://pubmed.ncbi.nlm.nih.gov/10546311/</a:t>
            </a:r>
            <a:endParaRPr lang="en-US" sz="2000" b="0" u="none" strike="noStrike">
              <a:solidFill>
                <a:srgbClr val="000000"/>
              </a:solidFill>
              <a:effectLst/>
              <a:uFillTx/>
              <a:latin typeface="Arial"/>
            </a:endParaRPr>
          </a:p>
        </p:txBody>
      </p:sp>
      <p:sp>
        <p:nvSpPr>
          <p:cNvPr id="1863" name="PlaceHolder 3"/>
          <p:cNvSpPr>
            <a:spLocks noGrp="1"/>
          </p:cNvSpPr>
          <p:nvPr>
            <p:ph type="sldNum" idx="9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4" name="PlaceHolder 1"/>
          <p:cNvSpPr>
            <a:spLocks noGrp="1"/>
          </p:cNvSpPr>
          <p:nvPr>
            <p:ph type="sldImg"/>
          </p:nvPr>
        </p:nvSpPr>
        <p:spPr>
          <a:xfrm>
            <a:off x="0" y="0"/>
            <a:ext cx="0" cy="0"/>
          </a:xfrm>
          <a:prstGeom prst="rect">
            <a:avLst/>
          </a:prstGeom>
          <a:ln w="0">
            <a:noFill/>
          </a:ln>
        </p:spPr>
      </p:sp>
      <p:sp>
        <p:nvSpPr>
          <p:cNvPr id="186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https://www.clickitorticket.org/Pages/history.aspx</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https://www.iihs.org/research-areas/bibliography/ref/997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https://web.archive.org/web/20170519013040/https://www.nhtsa.gov/sites/nhtsa.dot.gov/files/811779.pdf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https://ncvisionzero.org/wp-content/uploads/2016/08/ciot-history.pdf ; https://pubmed.ncbi.nlm.nih.gov/15178237/ ; https://www.youtube.com/watch?v=fC9r5dtUxWE ; https://web.archive.org/web/2020/https://www.nhtsa.gov/sites/nhtsa.gov/files/811232.pdf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Frame from NHTSA national Click It or Ticket TV PSA: officer at the window of an unbelted driver [file note: (frame at 15s, cropped to remove uploader watermark)] (2003 (first nationwide mobilization)). Owner: NHTSA / U.S. DOT (paid PSA); VHS upload by 'Analog Memories'. Rights: public domain (U.S. government work) likely; talent/production rights unknown. Found at: https://www.youtube.com/watch?v=fC9r5dtUxWE. File: https://www.youtube.com/watch?v=fC9r5dtUxWE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1993 onward | Source says: "The first Statewide Click It or Ticket campaign took place in North Carolina in 1993, followed by South Carolina in 2000." | https://web.archive.org/web/2020/https://www.nhtsa.gov/sites/nhtsa.gov/files/811232.pdf PDF p. 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North Carolina → United States | Source says: "The first Statewide Click It or Ticket campaign took place in North Carolina in 1993" | https://web.archive.org/web/2020/https://www.nhtsa.gov/sites/nhtsa.gov/files/811232.pdf PDF p. 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PUBLIC CAMPAIGN | Source says: "coupling concentrated enforcement with massive publicity to increase seat belt use." | https://pubmed.ncbi.nlm.nih.gov/15178237/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Combined repeated media messages with visible enforcement to establish seat-belt use as expected conduct. | Source says: "North Carolina was the first United States jurisdiction to implement a statewide program (called Click It or Ticket) coupling concentrated enforcement with massive publicity to increase seat belt use." | https://pubmed.ncbi.nlm.nih.gov/15178237/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A seat belt could feel optional | Source says: "In the years before the law, belt use in North Carolina had stabilized at 60 to 65%." | https://web.archive.org/web/2020/https://www.nhtsa.gov/sites/nhtsa.gov/files/811232.pdf PDF p. 13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Unbelted driving could bring a ticket | Source says: "58,883 citations for not using belts" | https://www.iihs.org/research-areas/bibliography/ref/997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[SOFTENED] Publicity announced the enforcement itself: buckle up or get a ticket. | Source says: "based on the Canadian model of a combination of intensive enforcement and publicity about the enforcement" | https://www.iihs.org/research-areas/bibliography/ref/997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In 1993, eight weeks of paid ads backed checkpoints in 100 counties; a second wave followed in 1994. | Source says: "paid advertising to broadcast this message to the public (expending about $500,000. or about 6¢ per resident) during the 8 weeks of the 1993 campaign) ... seat belt checkpoints conducted in 100 counties across the State" | https://web.archive.org/web/20170519013040/https://www.nhtsa.gov/sites/nhtsa.dot.gov/files/811779.pdf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[CORRECTED] First 3 weeks: about 3,000 checkpoints, 22,000 citations. Both waves: 6,364 and 58,883. | Source says: "Overall, this statewide program resulted in approximately 3,000 checkpoints and 22,000 seat belt citations issued over a 3-week period" | https://web.archive.org/web/20170519013040/https://www.nhtsa.gov/sites/nhtsa.dot.gov/files/811779.pdf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In North Carolina, observed driver belt use rose from 64% before the program to 80% in Nov. 1993 and 81% by Aug. 1994. | Source says: "Driver belt use increased from 64% before the program to 80% in November 1993, dropped to 73% by May 1994, and then rose slightly higher to 81% in August 1994." | https://www.iihs.org/research-areas/bibliography/ref/997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Before-after roadside counts; publicity and enforcement ran together. | Source says: "Driver belt use increased from 64% before the program to 80% in November 1993" | https://www.iihs.org/research-areas/bibliography/ref/997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[VERIFIED] Ads announced the plain consequence: an unbelted driver could get a ticket. | Source says: "publicity about the enforcement" | https://www.iihs.org/research-areas/bibliography/ref/997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[CORRECTED] North Carolina paid for eight weeks of ads in 1993; a second wave ran in July 1994. | Source says: "paid advertising to broadcast this message to the public (expending about $500,000. or about 6¢ per resident) during the 8 weeks of the 1993 campaign) ... seat belt checkpoints conducted in 100 counties across the State" | https://web.archive.org/web/20170519013040/https://www.nhtsa.gov/sites/nhtsa.dot.gov/files/811779.pdf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[CORRECTED] About 3,000 checkpoints in 100 counties in three weeks; 6,364 across both waves. | Source says: "Overall, this statewide program resulted in approximately 3,000 checkpoints and 22,000 seat belt citations issued over a 3-week period" | https://web.archive.org/web/20170519013040/https://www.nhtsa.gov/sites/nhtsa.dot.gov/files/811779.pdf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[CORRECTED] About 22,000 belt citations in the first three weeks; 58,883 across both waves. | Source says: "Overall, this statewide program resulted in approximately 3,000 checkpoints and 22,000 seat belt citations issued over a 3-week period" | https://web.archive.org/web/20170519013040/https://www.nhtsa.gov/sites/nhtsa.dot.gov/files/811779.pdf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[VERIFIED] The message worked as an announcement of a real, coordinated enforcement action. | Source says: "greatly increased law enforcement, and publicity aimed at heightened visibility" | https://web.archive.org/web/2020/https://www.nhtsa.gov/sites/nhtsa.gov/files/811232.pdf PDF p. 12</a:t>
            </a:r>
            <a:endParaRPr lang="en-US" sz="2000" b="0" u="none" strike="noStrike">
              <a:solidFill>
                <a:srgbClr val="000000"/>
              </a:solidFill>
              <a:effectLst/>
              <a:uFillTx/>
              <a:latin typeface="Arial"/>
            </a:endParaRPr>
          </a:p>
        </p:txBody>
      </p:sp>
      <p:sp>
        <p:nvSpPr>
          <p:cNvPr id="1866" name="PlaceHolder 3"/>
          <p:cNvSpPr>
            <a:spLocks noGrp="1"/>
          </p:cNvSpPr>
          <p:nvPr>
            <p:ph type="sldNum" idx="9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7" name="PlaceHolder 1"/>
          <p:cNvSpPr>
            <a:spLocks noGrp="1"/>
          </p:cNvSpPr>
          <p:nvPr>
            <p:ph type="sldImg"/>
          </p:nvPr>
        </p:nvSpPr>
        <p:spPr>
          <a:xfrm>
            <a:off x="0" y="0"/>
            <a:ext cx="0" cy="0"/>
          </a:xfrm>
          <a:prstGeom prst="rect">
            <a:avLst/>
          </a:prstGeom>
          <a:ln w="0">
            <a:noFill/>
          </a:ln>
        </p:spPr>
      </p:sp>
      <p:sp>
        <p:nvSpPr>
          <p:cNvPr id="186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https://www.clickitorticket.org/Pages/history.aspx</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https://www.iihs.org/research-areas/bibliography/ref/997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https://web.archive.org/web/20170519013040/https://www.nhtsa.gov/sites/nhtsa.dot.gov/files/811779.pdf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https://ncvisionzero.org/wp-content/uploads/2016/08/ciot-history.pdf ; https://pubmed.ncbi.nlm.nih.gov/15178237/ ; https://www.youtube.com/watch?v=fC9r5dtUxWE ; https://web.archive.org/web/2020/https://www.nhtsa.gov/sites/nhtsa.gov/files/811232.pdf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End card of the same 2003 NHTSA PSA: 'Click It or Ticket — Paid for by U.S. DOT and NHTSA' [file note: (frame at 28.5s)] (2003). Owner: NHTSA / U.S. DOT. Rights: public domain (U.S. government work) likely. Found at: https://www.youtube.com/watch?v=fC9r5dtUxWE. File: https://www.youtube.com/watch?v=fC9r5dtUxWE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1993 onward | Source says: "The first Statewide Click It or Ticket campaign took place in North Carolina in 1993, followed by South Carolina in 2000." | https://web.archive.org/web/2020/https://www.nhtsa.gov/sites/nhtsa.gov/files/811232.pdf PDF p. 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North Carolina → United States | Source says: "The first Statewide Click It or Ticket campaign took place in North Carolina in 1993" | https://web.archive.org/web/2020/https://www.nhtsa.gov/sites/nhtsa.gov/files/811232.pdf PDF p. 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PUBLIC CAMPAIGN | Source says: "coupling concentrated enforcement with massive publicity to increase seat belt use." | https://pubmed.ncbi.nlm.nih.gov/15178237/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Combined repeated media messages with visible enforcement to establish seat-belt use as expected conduct. | Source says: "North Carolina was the first United States jurisdiction to implement a statewide program (called Click It or Ticket) coupling concentrated enforcement with massive publicity to increase seat belt use." | https://pubmed.ncbi.nlm.nih.gov/15178237/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A seat belt could feel optional | Source says: "In the years before the law, belt use in North Carolina had stabilized at 60 to 65%." | https://web.archive.org/web/2020/https://www.nhtsa.gov/sites/nhtsa.gov/files/811232.pdf PDF p. 13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Unbelted driving could bring a ticket | Source says: "58,883 citations for not using belts" | https://www.iihs.org/research-areas/bibliography/ref/997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[SOFTENED] Publicity announced the enforcement itself: buckle up or get a ticket. | Source says: "based on the Canadian model of a combination of intensive enforcement and publicity about the enforcement" | https://www.iihs.org/research-areas/bibliography/ref/997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In 1993, eight weeks of paid ads backed checkpoints in 100 counties; a second wave followed in 1994. | Source says: "paid advertising to broadcast this message to the public (expending about $500,000. or about 6¢ per resident) during the 8 weeks of the 1993 campaign) ... seat belt checkpoints conducted in 100 counties across the State" | https://web.archive.org/web/20170519013040/https://www.nhtsa.gov/sites/nhtsa.dot.gov/files/811779.pdf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[CORRECTED] First 3 weeks: about 3,000 checkpoints, 22,000 citations. Both waves: 6,364 and 58,883. | Source says: "Overall, this statewide program resulted in approximately 3,000 checkpoints and 22,000 seat belt citations issued over a 3-week period" | https://web.archive.org/web/20170519013040/https://www.nhtsa.gov/sites/nhtsa.dot.gov/files/811779.pdf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In North Carolina, observed driver belt use rose from 64% before the program to 80% in Nov. 1993 and 81% by Aug. 1994. | Source says: "Driver belt use increased from 64% before the program to 80% in November 1993, dropped to 73% by May 1994, and then rose slightly higher to 81% in August 1994." | https://www.iihs.org/research-areas/bibliography/ref/997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Before-after roadside counts; publicity and enforcement ran together. | Source says: "Driver belt use increased from 64% before the program to 80% in November 1993" | https://www.iihs.org/research-areas/bibliography/ref/997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[VERIFIED] Ads announced the plain consequence: an unbelted driver could get a ticket. | Source says: "publicity about the enforcement" | https://www.iihs.org/research-areas/bibliography/ref/997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[CORRECTED] North Carolina paid for eight weeks of ads in 1993; a second wave ran in July 1994. | Source says: "paid advertising to broadcast this message to the public (expending about $500,000. or about 6¢ per resident) during the 8 weeks of the 1993 campaign) ... seat belt checkpoints conducted in 100 counties across the State" | https://web.archive.org/web/20170519013040/https://www.nhtsa.gov/sites/nhtsa.dot.gov/files/811779.pdf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[CORRECTED] About 3,000 checkpoints in 100 counties in three weeks; 6,364 across both waves. | Source says: "Overall, this statewide program resulted in approximately 3,000 checkpoints and 22,000 seat belt citations issued over a 3-week period" | https://web.archive.org/web/20170519013040/https://www.nhtsa.gov/sites/nhtsa.dot.gov/files/811779.pdf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[CORRECTED] About 22,000 belt citations in the first three weeks; 58,883 across both waves. | Source says: "Overall, this statewide program resulted in approximately 3,000 checkpoints and 22,000 seat belt citations issued over a 3-week period" | https://web.archive.org/web/20170519013040/https://www.nhtsa.gov/sites/nhtsa.dot.gov/files/811779.pdf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[VERIFIED] The message worked as an announcement of a real, coordinated enforcement action. | Source says: "greatly increased law enforcement, and publicity aimed at heightened visibility" | https://web.archive.org/web/2020/https://www.nhtsa.gov/sites/nhtsa.gov/files/811232.pdf PDF p. 12</a:t>
            </a:r>
            <a:endParaRPr lang="en-US" sz="2000" b="0" u="none" strike="noStrike">
              <a:solidFill>
                <a:srgbClr val="000000"/>
              </a:solidFill>
              <a:effectLst/>
              <a:uFillTx/>
              <a:latin typeface="Arial"/>
            </a:endParaRPr>
          </a:p>
        </p:txBody>
      </p:sp>
      <p:sp>
        <p:nvSpPr>
          <p:cNvPr id="1869" name="PlaceHolder 3"/>
          <p:cNvSpPr>
            <a:spLocks noGrp="1"/>
          </p:cNvSpPr>
          <p:nvPr>
            <p:ph type="sldNum" idx="9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0" name="PlaceHolder 1"/>
          <p:cNvSpPr>
            <a:spLocks noGrp="1"/>
          </p:cNvSpPr>
          <p:nvPr>
            <p:ph type="sldImg"/>
          </p:nvPr>
        </p:nvSpPr>
        <p:spPr>
          <a:xfrm>
            <a:off x="0" y="0"/>
            <a:ext cx="0" cy="0"/>
          </a:xfrm>
          <a:prstGeom prst="rect">
            <a:avLst/>
          </a:prstGeom>
          <a:ln w="0">
            <a:noFill/>
          </a:ln>
        </p:spPr>
      </p:sp>
      <p:sp>
        <p:nvSpPr>
          <p:cNvPr id="187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https://hsph.harvard.edu/research/health-communication/squash-it-campaign/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https://guides.library.harvard.edu/CHC/initiatives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https://hsph.harvard.edu/research/health-communication/squash-it-campaign/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Squash It! logo backdrop at a Harvard-MetLife youth forum, C-SPAN broadcast frame (Jefferson Junior High, Washington DC) [file note: (fetched via web.archive.org id_ copy; live CDN returns HTML)] (Likely May 16, 1997 (inferred: frame shows 'Fri.'; Harvard page links the May 16, 1997 C-SPAN forum)). Owner: Harvard T.H. Chan Center for Health Communication / C-SPAN. Rights: Copyrighted; fair use for commentary, criticism, and research. Found at: https://guides.library.harvard.edu/CHC/initiatives. File: https://cdn1.sph.harvard.edu/wp-content/uploads/sites/78/2020/07/CropScale916xSQ-IT-FORUM-3_FullStageWithSign.jpg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1994 | Source says: "in 1994 the Center for Health Communication launched the “Squash It!” Campaign to Prevent Youth Violence" | https://hsph.harvard.edu/research/health-communication/squash-it-campaign/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"During the 1980s and early 1990s, the United States experienced sharply increased rates of gun violence." | https://hsph.harvard.edu/research/health-communication/squash-it-campaign/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"Television producers incorporated the Squash It! message in scripts of “Beverly Hills, 90210” (Fox), “Dangerous Minds” (ABC), “ER” (NBC)" | https://hsph.harvard.edu/research/health-communication/squash-it-campaign/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Harvard placed a “walk away” response to confrontation in television scripts and athlete messages. | Source says: "At the Center’s request, the National Basketball Association (NBA) produced and sponsored PSAs featuring players with a walk-away message" | https://hsph.harvard.edu/research/health-communication/squash-it-campaign/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[SOFTENED] Teens thought peers expected a fight, not a walk-away | Source says: "A large majority agreed with the statement, “Most people I know would say it’s almost impossible to walk away from an angry scene or confrontation without fighting.”" | https://hsph.harvard.edu/research/health-communication/squash-it-campaign/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Walking away could show control | Source says: "“It takes more self-control and more self-respect not to fight than to fight.”" | https://hsph.harvard.edu/research/health-communication/squash-it-campaign/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[CORRECTED] Harvard built on “squash it,” a phrase Black teens already used for walking away. | Source says: "Center staff learned that the phrase “squash it” occasionally was used by African-American youth in other cities as well to signal a decision to walk away" | https://hsph.harvard.edu/research/health-communication/squash-it-campaign/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[SOFTENED] Producers of nine TV series, including ER and 90210, worked the message into scripts. | Source says: "Television producers incorporated the Squash It! message in scripts of “Beverly Hills, 90210” (Fox), “Dangerous Minds” (ABC), “ER” (NBC), “Family Matters” (ABC)" | https://hsph.harvard.edu/research/health-communication/squash-it-campaign/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MTV artists and sports figures repeated the phrase in short ads. | Source says: "MTV, which produced Squash It! PSAs featuring top recording artists, including Coolio, Method Man, and KRS-One." | https://hsph.harvard.edu/research/health-communication/squash-it-campaign/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In surveys, use of “squash it” to avoid a fight rose from 48% to 60% among Black youth. | Source says: "60% of African-American youths reported using the phrase “squash it” to disengage from a potentially violent confrontation in 1997, up from 48% in 1995." | https://hsph.harvard.edu/research/health-communication/squash-it-campaign/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[SOFTENED] Harvard surveys, 1995 vs. 1997; no comparison group; many other efforts ran too. | Source says: "the campaign was one of many youth violence prevention initiatives undertaken in the 1990s." | https://hsph.harvard.edu/research/health-communication/squash-it-campaign/</a:t>
            </a:r>
            <a:endParaRPr lang="en-US" sz="2000" b="0" u="none" strike="noStrike">
              <a:solidFill>
                <a:srgbClr val="000000"/>
              </a:solidFill>
              <a:effectLst/>
              <a:uFillTx/>
              <a:latin typeface="Arial"/>
            </a:endParaRPr>
          </a:p>
        </p:txBody>
      </p:sp>
      <p:sp>
        <p:nvSpPr>
          <p:cNvPr id="1872" name="PlaceHolder 3"/>
          <p:cNvSpPr>
            <a:spLocks noGrp="1"/>
          </p:cNvSpPr>
          <p:nvPr>
            <p:ph type="sldNum" idx="93"/>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3" name="PlaceHolder 1"/>
          <p:cNvSpPr>
            <a:spLocks noGrp="1"/>
          </p:cNvSpPr>
          <p:nvPr>
            <p:ph type="sldImg"/>
          </p:nvPr>
        </p:nvSpPr>
        <p:spPr>
          <a:xfrm>
            <a:off x="0" y="0"/>
            <a:ext cx="0" cy="0"/>
          </a:xfrm>
          <a:prstGeom prst="rect">
            <a:avLst/>
          </a:prstGeom>
          <a:ln w="0">
            <a:noFill/>
          </a:ln>
        </p:spPr>
      </p:sp>
      <p:sp>
        <p:nvSpPr>
          <p:cNvPr id="187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https://www.soulcity.org.za/about/history/blocks/one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https://web.archive.org/web/2020/https://www.endvawnow.org/uploads/browser/files/Soul%20City%204%20Impact%20Evaluation%20VAW%20Vol%20II.pdf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https://web.archive.org/web/2020/https://www.endvawnow.org/uploads/browser/files/Soul%20City%204%20Impact%20Evaluation%20VAW%20Vol%20I.pdf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https://pubmed.ncbi.nlm.nih.gov/16006028/</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Soul City 4 / NNVAW evaluation page: Matlakala storyline, newspaper coverage, and Mamelodi Rekord 'Women take to the streets against violence' clipping (20 Aug 1999) (two press clippings cropped from the page) [file note: (PDF p. 11, rendered 200 dpi)] (Report July 2001; material 1999). Owner: Soul City Institute for Health and Development Communication. Rights: Copyrighted; fair use for commentary, criticism, and research. Found at: https://web.archive.org/web/2020/https://www.endvawnow.org/uploads/browser/files/Soul%20City%204%20Impact%20Evaluation%20VAW%20Vol%20II.pdf. File: https://web.archive.org/web/2020/https://www.endvawnow.org/uploads/browser/files/Soul%20City%204%20Impact%20Evaluation%20VAW%20Vol%20II.pdf</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1994 | Source says: "The year is 1992 in Alexendra Clinic... Two years after its establishment, the small team launched the Soul City Series" | https://www.soulcity.org.za/about/history/blocks/one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South Africa | Source says: "The Soul City 4 intervention (multimedia and Partnership components) was the first of its kind, conducted on such a large scale, to address domestic violence" | https://web.archive.org/web/2020/https://www.endvawnow.org/uploads/browser/files/Soul%20City%204%20Impact%20Evaluation%20VAW%20Vol%20II.pdf PDF p. 26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"a campaign consisting of a television and radio drama, as well as print materials in newspapers" | https://www.soulcity.org.za/about/history/blocks/one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TV and radio drama modeled new responses to health problems; a later season addressed domestic violence. | Source says: "The series initially dealt with key mother and child health issues and later included issues such as substance abuse, land &amp; housing and HIV/AIDS" | https://www.soulcity.org.za/about/history/blocks/one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Partner violence could be dismissed as private | Source says: "The frames included: - domestic violence is not a private affair" | https://web.archive.org/web/2020/https://www.endvawnow.org/uploads/browser/files/Soul%20City%204%20Impact%20Evaluation%20VAW%20Vol%20II.pdf PDF p. 27 (printed p. 19)</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Neighbors could recognize and oppose it | Source says: "The series also depicts the community’s shift from 'silent collusion' with the abuse to active opposition, at one point, all banging pots outside the abuser’s home" | https://web.archive.org/web/2020/https://www.endvawnow.org/uploads/browser/files/Soul%20City%204%20Impact%20Evaluation%20VAW%20Vol%20II.pdf PDF p. 11 (printed p. 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[CORRECTED] Season four’s 13-part TV drama followed Matlakala as her husband turned abusive. | Source says: "The Soul City 4 television drama went on air on the 7th of July 1999. For the subsequent 13 weeks, South African audiences followed Matlakala" | https://web.archive.org/web/2020/https://www.endvawnow.org/uploads/browser/files/Soul%20City%204%20Impact%20Evaluation%20VAW%20Vol%20II.pdf PDF p. 11 (printed p. 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Radio, print, and community events carried the topic beyond TV. | Source says: "a 45 part radio drama in 9 languages and three full-colour information booklets - one million of each were distributed nationally" | https://web.archive.org/web/2020/https://www.endvawnow.org/uploads/browser/files/Soul%20City%204%20Impact%20Evaluation%20VAW%20Vol%20II.pdf PDF p. 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[CORRECTED] A network of 1,500+ activists and groups marched and pressed to enact the Domestic Violence Act. | Source says: "the Network is a coalition of over 1 500 activists and community organisations from rural and urban areas." | https://web.archive.org/web/2020/https://www.endvawnow.org/uploads/browser/files/Soul%20City%204%20Impact%20Evaluation%20VAW%20Vol%20II.pdf PDF p. 6, 8</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After season four, more people said domestic violence should not be treated as a private matter: 56% rose to 66%. | Source says: "significant increase in the proportion of respondents who disagreed that violence between a man and woman was a private affair between the baseline (56%) and evaluation survey (66%)." | https://web.archive.org/web/2020/https://www.endvawnow.org/uploads/browser/files/Soul%20City%204%20Impact%20Evaluation%20VAW%20Vol%20I.pdf PDF p. 30 (printed p. 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Before-and-after survey; other causes possible. | Source says: "the evaluation period was relatively short, with only eight to nine months between baseline and evaluation measurement." | https://web.archive.org/web/2020/https://www.endvawnow.org/uploads/browser/files/Soul%20City%204%20Impact%20Evaluation%20VAW%20Vol%20I.pdf PDF p. 66</a:t>
            </a:r>
            <a:endParaRPr lang="en-US" sz="2000" b="0" u="none" strike="noStrike">
              <a:solidFill>
                <a:srgbClr val="000000"/>
              </a:solidFill>
              <a:effectLst/>
              <a:uFillTx/>
              <a:latin typeface="Arial"/>
            </a:endParaRPr>
          </a:p>
        </p:txBody>
      </p:sp>
      <p:sp>
        <p:nvSpPr>
          <p:cNvPr id="1875" name="PlaceHolder 3"/>
          <p:cNvSpPr>
            <a:spLocks noGrp="1"/>
          </p:cNvSpPr>
          <p:nvPr>
            <p:ph type="sldNum" idx="9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6" name="PlaceHolder 1"/>
          <p:cNvSpPr>
            <a:spLocks noGrp="1"/>
          </p:cNvSpPr>
          <p:nvPr>
            <p:ph type="sldImg"/>
          </p:nvPr>
        </p:nvSpPr>
        <p:spPr>
          <a:xfrm>
            <a:off x="0" y="0"/>
            <a:ext cx="0" cy="0"/>
          </a:xfrm>
          <a:prstGeom prst="rect">
            <a:avLst/>
          </a:prstGeom>
          <a:ln w="0">
            <a:noFill/>
          </a:ln>
        </p:spPr>
      </p:sp>
      <p:sp>
        <p:nvSpPr>
          <p:cNvPr id="187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https://www.fastcompany.com/1682147/neal-baer-empowering-health-and-society-through-storytelling</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https://www.fastcompany.com/1682147/neal-baer-empowering-health-and-society-through-storytelling</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https://pubmed.ncbi.nlm.nih.gov/10964636/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https://pure.johnshopkins.edu/en/publications/using-entertainment-television-to-build-a-context-for-prevention--4/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Weaker fit on norm creation than direct narrative interventions.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ER cast promotional image (not the Following ER segment itself) (mid-1990s). Owner: NBC / Warner Bros. Television. Rights: Copyrighted; fair use for commentary, criticism, and research. Found at: unrecorded (supplied by Tim Miano). File: unrecorded (supplied by Tim Miano)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[CORRECTED] 1996 | Source says: "Produced during 1996-2001 with a Kaiser Family Foundation grant in partnership with WBAL-TV and Johns Hopkins Bloomberg School of Public Health" | https://www.fastcompany.com/1682147/neal-baer-empowering-health-and-society-through-storytelling</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"A nationally syndicated television news series called "Following ER" was developed to educate viewers about the health issues dramatized on "ER,"" | https://pubmed.ncbi.nlm.nih.gov/10964636/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"to educate viewers about the health issues dramatized on "ER," NBC's award-winning medical drama." | https://pubmed.ncbi.nlm.nih.gov/10964636/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[SOFTENED] Local news segments aired after ER, telling viewers how to prevent the illness just shown. | Source says: "the segments told viewers how to prevent a medical issue portrayed in that night’s show and where to get more information." | https://www.fastcompany.com/1682147/neal-baer-empowering-health-and-society-through-storytelling</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note [VERIFIED] Weaker fit on norm creation than direct narrative interventions. | Source says: "This study investigated the impact of this prime-time link on viewer attention, satisfaction, information recall, and perceptions" | https://pubmed.ncbi.nlm.nih.gov/10964636/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A fictional health plot ended with the episode | Source says: "Framing news stories about familiar health concerns in the context of television drama represents a viable strategy" | https://pubmed.ncbi.nlm.nih.gov/10964636/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Viewers could connect it to real information | Source says: "the segments told viewers how to prevent a medical issue portrayed in that night’s show and where to get more information." | https://www.fastcompany.com/1682147/neal-baer-empowering-health-and-society-through-storytelling</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[CORRECTED] 90-second health news segments ran on NBC stations right after ER. | Source says: "90-second health news segments that ran on NBC affiliates after the drama." | https://www.fastcompany.com/1682147/neal-baer-empowering-health-and-society-through-storytelling</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[SOFTENED] Each segment took up the medical issue shown in that night’s episode. | Source says: "the segments told viewers how to prevent a medical issue portrayed in that night’s show" | https://www.fastcompany.com/1682147/neal-baer-empowering-health-and-society-through-storytelling</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[REMOVED] Segments told viewers how to prevent it and where to get more information. | Source says: "the segments told viewers how to prevent a medical issue portrayed in that night’s show and where to get more information." | https://www.fastcompany.com/1682147/neal-baer-empowering-health-and-society-through-storytelling</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[SOFTENED] In a test with 458 jurors, an ER tie-in raised attention to a familiar health story but not a novel one. | Source says: "In the case of the familiar topic story, the "ER" tie-in enhanced the attention and satisfaction of viewers... the "ER" tie-in did not generate any beneficial effects when paired with the novel topic story." | https://pubmed.ncbi.nlm.nih.gov/10964636/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Viewers were assigned by chance; health behavior was not tested. | Source says: "A total of 458 municipal jurors participated in a randomized 2 ("ER" tie-in vs no tie-in) x 2 (familiar vs novel story topic) experiment." | https://pubmed.ncbi.nlm.nih.gov/10964636/</a:t>
            </a:r>
            <a:endParaRPr lang="en-US" sz="2000" b="0" u="none" strike="noStrike">
              <a:solidFill>
                <a:srgbClr val="000000"/>
              </a:solidFill>
              <a:effectLst/>
              <a:uFillTx/>
              <a:latin typeface="Arial"/>
            </a:endParaRPr>
          </a:p>
        </p:txBody>
      </p:sp>
      <p:sp>
        <p:nvSpPr>
          <p:cNvPr id="1878" name="PlaceHolder 3"/>
          <p:cNvSpPr>
            <a:spLocks noGrp="1"/>
          </p:cNvSpPr>
          <p:nvPr>
            <p:ph type="sldNum" idx="9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9" name="PlaceHolder 1"/>
          <p:cNvSpPr>
            <a:spLocks noGrp="1"/>
          </p:cNvSpPr>
          <p:nvPr>
            <p:ph type="sldImg"/>
          </p:nvPr>
        </p:nvSpPr>
        <p:spPr>
          <a:xfrm>
            <a:off x="0" y="0"/>
            <a:ext cx="0" cy="0"/>
          </a:xfrm>
          <a:prstGeom prst="rect">
            <a:avLst/>
          </a:prstGeom>
          <a:ln w="0">
            <a:noFill/>
          </a:ln>
        </p:spPr>
      </p:sp>
      <p:sp>
        <p:nvSpPr>
          <p:cNvPr id="188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https://tostan.org/february-14-1998-first-inter-village-public-declaration/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https://www.excisionparlonsen.org/wp-content/uploads/2022/06/Evluation-a-long-terme-du-programme-de-Tostan-au-Senegal.pdf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https://tostan.org/unicef-case-study-outlines-success-tostan-approach-accelerating-abandonment-female-genital/ ; https://tostan.org/back-where-it-began-public-declaration-mbour-senegal/ ; https://data.unicef.org/wp-content/uploads/2015/12/fgmc_tostan_eng_96.pdf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Women march with banner 'L’abandon total de l’excision au Sénégal: nous pouvons' at a 22-community public declaration, Mbour (Sunday May 8, 2011 (inferred: post says 'Sunday May 8th'; image uploaded 2011; Tostan repost dated April 2, 2013)). Owner: Tostan. Rights: Copyrighted; fair use for commentary, criticism, and research. Found at: https://tostan.org/back-where-it-began-public-declaration-mbour-senegal/. File: http://3.bp.blogspot.com/-MpBbiI4D2Kg/TdaHo3UyXxI/AAAAAAAAAcI/SLyZlwyKn7s/s1600/5x7+Cropped+CIMG6226+Mbour+Declaration.JPG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1997 onward | Source says: "in 1997, the village of Malicounda Bambara, also in the department of Mbour, was the first community to declare its abandonment of FGC" | https://tostan.org/back-where-it-began-public-declaration-mbour-senegal/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Senegal | Source says: "in 1997, the village of Malicounda Bambara, also in the department of Mbour, was the first community to declare its abandonment of FGC" | https://tostan.org/back-where-it-began-public-declaration-mbour-senegal/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COMMUNITY | Source says: "It is very important to bring together the whole community to abandon a practice"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Communities publicly committed to abandoning female genital cutting, making a changed expectation visible to everyone. | Source says: "making an announcement in a public setting reflects endorsement of the new social norm"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Families expected cutting to continue | Source says: "they are social norms that are reinforced across interconnected families and communities, or social networks"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Linked villages could agree to stop together | Source says: "harmful practices, such as FGC, cannot be abandoned by one community alone because they are social norms"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Community education and discussion came before any declaration. | Source says: "The process begins three years earlier, when a community invites Tostan to implement our Community Empowerment Program (CEP)."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Villages connected through marriage spoke with one another before committing. | Source says: "L’implication des autres villages obéit aux liens de parenté et aux alliances" | https://www.excisionparlonsen.org/wp-content/uploads/2022/06/Evluation-a-long-terme-du-programme-de-Tostan-au-Senegal.pdf PDF p. 51 (printed p. 35)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A public ceremony made the shared decision visible and reduced fear of acting alone. | Source says: "no one will be ostracized for deciding not to engage in a practice when all have collectively agreed to stop it."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[VERIFIED] PREPARE: Community education gave people time to discuss health, rights, and the practice. | Source says: "This holistic program focuses on human rights and basic nonformal education which provides a foundation for sustainable development."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[VERIFIED] CONNECT: Villages linked through marriage met before making a joint commitment. | Source says: "The next step towards a public declaration is the organization of inter-village meetings. These meetings bring together communities participating in the Tostan program alongside the ‘adopted’ villages within their social networks."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[VERIFIED] DECLARE: Representatives announced the collective decision in public. | Source says: "“We, the fifty representatives of more than eight thousand people residing in thirteen villages declare our firm commitment to end the practice" | https://tostan.org/february-14-1998-first-inter-village-public-declaration/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[VERIFIED] SUSTAIN: The public commitment signaled that families would not have to act alone. | Source says: "no one will be ostracized for deciding not to engage in a practice when all have collectively agreed to stop it."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[VERIFIED] A declaration becomes useful after the connected groups have reached the same decision. | Source says: "Une période de réflexion et de concertation est nécessaire pour asseoir le processus." | https://www.excisionparlonsen.org/wp-content/uploads/2022/06/Evluation-a-long-terme-du-programme-de-Tostan-au-Senegal.pdf PDF p. 51 (printed p. 35)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Cutting fell by more than half in participating villages over nearly a decade. | Source says: "Almost a decade after taking this step, “the prevalence of [FGC] had fallen by more than half in the participating villages.”" | https://tostan.org/unicef-case-study-outlines-success-tostan-approach-accelerating-abandonment-female-genital/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UNICEF 2008 study vs. comparison villages; not randomized; starting rates differed. | Source says: "Donc le taux de départ pour évaluer l’évolution des taux d’excision était plus faible dans les villages d’intervention de Tostan (villages A)." | https://www.excisionparlonsen.org/wp-content/uploads/2022/06/Evluation-a-long-terme-du-programme-de-Tostan-au-Senegal.pdf PDF p. 14</a:t>
            </a:r>
            <a:endParaRPr lang="en-US" sz="2000" b="0" u="none" strike="noStrike">
              <a:solidFill>
                <a:srgbClr val="000000"/>
              </a:solidFill>
              <a:effectLst/>
              <a:uFillTx/>
              <a:latin typeface="Arial"/>
            </a:endParaRPr>
          </a:p>
        </p:txBody>
      </p:sp>
      <p:sp>
        <p:nvSpPr>
          <p:cNvPr id="1881" name="PlaceHolder 3"/>
          <p:cNvSpPr>
            <a:spLocks noGrp="1"/>
          </p:cNvSpPr>
          <p:nvPr>
            <p:ph type="sldNum" idx="9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2" name="PlaceHolder 1"/>
          <p:cNvSpPr>
            <a:spLocks noGrp="1"/>
          </p:cNvSpPr>
          <p:nvPr>
            <p:ph type="sldImg"/>
          </p:nvPr>
        </p:nvSpPr>
        <p:spPr>
          <a:xfrm>
            <a:off x="0" y="0"/>
            <a:ext cx="0" cy="0"/>
          </a:xfrm>
          <a:prstGeom prst="rect">
            <a:avLst/>
          </a:prstGeom>
          <a:ln w="0">
            <a:noFill/>
          </a:ln>
        </p:spPr>
      </p:sp>
      <p:sp>
        <p:nvSpPr>
          <p:cNvPr id="188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https://tostan.org/february-14-1998-first-inter-village-public-declaration/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https://www.excisionparlonsen.org/wp-content/uploads/2022/06/Evluation-a-long-terme-du-programme-de-Tostan-au-Senegal.pdf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https://tostan.org/unicef-case-study-outlines-success-tostan-approach-accelerating-abandonment-female-genital/ ; https://tostan.org/back-where-it-began-public-declaration-mbour-senegal/ ; https://data.unicef.org/wp-content/uploads/2015/12/fgmc_tostan_eng_96.pdf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Village gathering in Keur Simbara (a village that abandoned FGC in 1998 after Tostan's program) during DFID visit [file note: (via Special:FilePath)] (March 21, 2013). Owner: James Fulker / UK DFID. Rights: CC BY 2.0. Found at: https://commons.wikimedia.org/wiki/File:Village_gathering_(8592452962).jpg. File: https://commons.wikimedia.org/wiki/Special:FilePath/Village_gathering_(8592452962).jpg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1997 onward | Source says: "in 1997, the village of Malicounda Bambara, also in the department of Mbour, was the first community to declare its abandonment of FGC" | https://tostan.org/back-where-it-began-public-declaration-mbour-senegal/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Senegal | Source says: "in 1997, the village of Malicounda Bambara, also in the department of Mbour, was the first community to declare its abandonment of FGC" | https://tostan.org/back-where-it-began-public-declaration-mbour-senegal/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COMMUNITY | Source says: "It is very important to bring together the whole community to abandon a practice"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Communities publicly committed to abandoning female genital cutting, making a changed expectation visible to everyone. | Source says: "making an announcement in a public setting reflects endorsement of the new social norm"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Families expected cutting to continue | Source says: "they are social norms that are reinforced across interconnected families and communities, or social networks"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Linked villages could agree to stop together | Source says: "harmful practices, such as FGC, cannot be abandoned by one community alone because they are social norms"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Community education and discussion came before any declaration. | Source says: "The process begins three years earlier, when a community invites Tostan to implement our Community Empowerment Program (CEP)."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Villages connected through marriage spoke with one another before committing. | Source says: "L’implication des autres villages obéit aux liens de parenté et aux alliances" | https://www.excisionparlonsen.org/wp-content/uploads/2022/06/Evluation-a-long-terme-du-programme-de-Tostan-au-Senegal.pdf PDF p. 51 (printed p. 35)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A public ceremony made the shared decision visible and reduced fear of acting alone. | Source says: "no one will be ostracized for deciding not to engage in a practice when all have collectively agreed to stop it."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[VERIFIED] PREPARE: Community education gave people time to discuss health, rights, and the practice. | Source says: "This holistic program focuses on human rights and basic nonformal education which provides a foundation for sustainable development."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[VERIFIED] CONNECT: Villages linked through marriage met before making a joint commitment. | Source says: "The next step towards a public declaration is the organization of inter-village meetings. These meetings bring together communities participating in the Tostan program alongside the ‘adopted’ villages within their social networks."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[VERIFIED] DECLARE: Representatives announced the collective decision in public. | Source says: "“We, the fifty representatives of more than eight thousand people residing in thirteen villages declare our firm commitment to end the practice" | https://tostan.org/february-14-1998-first-inter-village-public-declaration/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[VERIFIED] SUSTAIN: The public commitment signaled that families would not have to act alone. | Source says: "no one will be ostracized for deciding not to engage in a practice when all have collectively agreed to stop it." | https://tostan.org/path-public-declaration/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[VERIFIED] A declaration becomes useful after the connected groups have reached the same decision. | Source says: "Une période de réflexion et de concertation est nécessaire pour asseoir le processus." | https://www.excisionparlonsen.org/wp-content/uploads/2022/06/Evluation-a-long-terme-du-programme-de-Tostan-au-Senegal.pdf PDF p. 51 (printed p. 35)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Cutting fell by more than half in participating villages over nearly a decade. | Source says: "Almost a decade after taking this step, “the prevalence of [FGC] had fallen by more than half in the participating villages.”" | https://tostan.org/unicef-case-study-outlines-success-tostan-approach-accelerating-abandonment-female-genital/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UNICEF 2008 study vs. comparison villages; not randomized; starting rates differed. | Source says: "Donc le taux de départ pour évaluer l’évolution des taux d’excision était plus faible dans les villages d’intervention de Tostan (villages A)." | https://www.excisionparlonsen.org/wp-content/uploads/2022/06/Evluation-a-long-terme-du-programme-de-Tostan-au-Senegal.pdf PDF p. 14</a:t>
            </a:r>
            <a:endParaRPr lang="en-US" sz="2000" b="0" u="none" strike="noStrike">
              <a:solidFill>
                <a:srgbClr val="000000"/>
              </a:solidFill>
              <a:effectLst/>
              <a:uFillTx/>
              <a:latin typeface="Arial"/>
            </a:endParaRPr>
          </a:p>
        </p:txBody>
      </p:sp>
      <p:sp>
        <p:nvSpPr>
          <p:cNvPr id="1884" name="PlaceHolder 3"/>
          <p:cNvSpPr>
            <a:spLocks noGrp="1"/>
          </p:cNvSpPr>
          <p:nvPr>
            <p:ph type="sldNum" idx="9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5" name="PlaceHolder 1"/>
          <p:cNvSpPr>
            <a:spLocks noGrp="1"/>
          </p:cNvSpPr>
          <p:nvPr>
            <p:ph type="sldImg"/>
          </p:nvPr>
        </p:nvSpPr>
        <p:spPr>
          <a:xfrm>
            <a:off x="0" y="0"/>
            <a:ext cx="0" cy="0"/>
          </a:xfrm>
          <a:prstGeom prst="rect">
            <a:avLst/>
          </a:prstGeom>
          <a:ln w="0">
            <a:noFill/>
          </a:ln>
        </p:spPr>
      </p:sp>
      <p:sp>
        <p:nvSpPr>
          <p:cNvPr id="188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https://www.kff.org/bet-rap-it-up-psas/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https://www.youtube.com/watch?v=5mvFp4grit0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https://www.kff.org/wp-content/uploads/2013/01/7515.pdf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BET Rap-It-Up PSA end card with 1-866-RAP-IT-UP hotline (spot featuring 106 &amp; Park host Free), off-air recording [file note: (frame at 27 s)] (Early 2000s (inferred from 1-866 number; exact air date unknown)). Owner: BET / Kaiser Family Foundation (uploaded by BET-archive fan channel). Rights: Copyrighted; fair use for commentary, criticism, and research. Found at: https://www.youtube.com/watch?v=5mvFp4grit0. File: https://www.youtube.com/watch?v=5mvFp4grit0</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1998 | Source says: "Since its launch in September of 1998 through December of 2005, Rap It Up PSAs aired over 16,000 times on the network." | https://www.kff.org/wp-content/uploads/2013/01/7515.pdf PDF p. 20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"Kaiser launched a partnership with Black Entertainment Television (BET), focused on reaching African Americans about HIV/AIDS." | https://www.kff.org/wp-content/uploads/2013/01/7515.pdf PDF p. 19</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"The Rap It Up campaign also includes targeted PSAs, long-form special programming, free print and Web resources" | https://www.kff.org/wp-content/uploads/2013/01/7515.pdf PDF p. 19</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[CORRECTED] Kaiser Family Foundation and BET put HIV education into PSAs, TV specials, print guides, and outreach. | Source says: "The Rap It Up campaign also includes targeted PSAs, long-form special programming, free print and Web resources as well as an extensive community initiative." | https://www.kff.org/wp-content/uploads/2013/01/7515.pdf PDF p. 19</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HIV questions could stay unspoken | Source says: "More than one million viewers have called the campaign’s dedicated hotline" | https://www.kff.org/wp-content/uploads/2013/01/7515.pdf PDF p. 20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Young viewers could ask and seek testing | Source says: "including a national database of HIV testing centers." | https://www.kff.org/bet-rap-it-up-psas/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BET carried messages through entertainment and short announcements. | Source says: "Eight in 10 African Americans aged 18 to 24 (84%) reported having seen some element of the campaign on BET, either a full-length show or one of the PSAs." | https://www.kff.org/wp-content/uploads/2013/01/7515.pdf PDF p. 20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[SOFTENED] Kaiser and BET co-produced HIV messages aimed at Black viewers. | Source says: "BET and Kaiser have teamed up to produce television PSAs to raise awareness about HIV/AIDS in the African American community." | https://www.kff.org/bet-rap-it-up-psas/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Ads pointed to a free phone line and website with testing-center information. | Source says: "PSAs refer viewers to the campaign’s toll-free number (1-866-RAP-IT-UP) and/or website (www.rap-it-up.com) for additional HIV/AIDS related information, including a national database of HIV testing centers." | https://www.kff.org/bet-rap-it-up-psas/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In a survey, 84% of young Black adults had seen some part of the BET campaign. | Source says: "Eight in 10 African Americans aged 18 to 24 (84%) reported having seen some element of the campaign on BET" | https://www.kff.org/wp-content/uploads/2013/01/7515.pdf PDF p. 20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Audience survey; reach, not behavior change. | Source says: "In 2004 Kaiser conducted its first national assessment of coordinated efforts across media campaigns to reach African Americans" | https://www.kff.org/wp-content/uploads/2013/01/7515.pdf PDF p. 20</a:t>
            </a:r>
            <a:endParaRPr lang="en-US" sz="2000" b="0" u="none" strike="noStrike">
              <a:solidFill>
                <a:srgbClr val="000000"/>
              </a:solidFill>
              <a:effectLst/>
              <a:uFillTx/>
              <a:latin typeface="Arial"/>
            </a:endParaRPr>
          </a:p>
        </p:txBody>
      </p:sp>
      <p:sp>
        <p:nvSpPr>
          <p:cNvPr id="1887" name="PlaceHolder 3"/>
          <p:cNvSpPr>
            <a:spLocks noGrp="1"/>
          </p:cNvSpPr>
          <p:nvPr>
            <p:ph type="sldNum" idx="9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8" name="PlaceHolder 1"/>
          <p:cNvSpPr>
            <a:spLocks noGrp="1"/>
          </p:cNvSpPr>
          <p:nvPr>
            <p:ph type="sldImg"/>
          </p:nvPr>
        </p:nvSpPr>
        <p:spPr>
          <a:xfrm>
            <a:off x="0" y="0"/>
            <a:ext cx="0" cy="0"/>
          </a:xfrm>
          <a:prstGeom prst="rect">
            <a:avLst/>
          </a:prstGeom>
          <a:ln w="0">
            <a:noFill/>
          </a:ln>
        </p:spPr>
      </p:sp>
      <p:sp>
        <p:nvSpPr>
          <p:cNvPr id="188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https://truthinitiative.org/who-we-are/our-history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https://www.thensmc.com/resources/showcase/truth%C2%AE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https://crimesolutions.ojp.gov/ratedprograms/truthr-campaign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https://pubmed.ncbi.nlm.nih.gov/15727971/ ; https://doi.org/10.2105/AJPH.2004.049692 ; https://www.youtube.com/watch?v=C5JkH01ArIc</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Frame from 'Body Bags' truth TV spot (teens unloading body bags outside a tobacco HQ), inside a 2000 truth launch reel [file note: (frame at 1:12, pillarbox cropped)] (2000). Owner: American Legacy Foundation / Truth Initiative (agencies Arnold, Crispin Porter + Bogusky); reel uploaded by 'weldonmedfield', not an official channel. Rights: copyrighted - fair use for commentary, criticism, and research. Found at: https://www.youtube.com/watch?v=C5JkH01ArIc. File: https://www.youtube.com/watch?v=C5JkH01ArIc</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2000 | Source says: "The truth® campaign was launched nationally in 2000." | https://crimesolutions.ojp.gov/ratedprograms/truthr-campaign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"The truth® campaign is a national smoking prevention campaign that uses advertisements with anti-tobacco messages targeted at youths ages 12 to 17" | https://crimesolutions.ojp.gov/ratedprograms/truthr-campaign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PUBLIC CAMPAIGN | Source says: "The truth® campaign is a national smoking prevention campaign" | https://crimesolutions.ojp.gov/ratedprograms/truthr-campaign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Gave rejecting tobacco an independent, youth-centered identity. | Source says: "truth ® signalled additional brand values that smoking could never hope to hold, such as independence and understanding." | https://www.thensmc.com/resources/showcase/truth%C2%AE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Smoking could signal independence | Source says: "using tobacco was a tool of rebellion and all about sending a signal to the world that the user made decisions for him/herself" | https://www.thensmc.com/resources/showcase/truth%C2%AE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Rejecting tobacco could signal independence | Source says: "By attacking the duplicity and manipulation of the tobacco industry the agency would channel teens' natural rebelliousness against tobacco companies." | https://www.thensmc.com/resources/showcase/truth%C2%AE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Youth-oriented ads exposed the tobacco industry’s conduct. | Source says: "They feature historical statements from the tobacco industry’s dubious marketing tactics and its efforts to obscure the health effects of tobacco." | https://crimesolutions.ojp.gov/ratedprograms/truthr-campaign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[SOFTENED] One brand voice, not adult warnings, cast rejecting tobacco as independence. | Source says: "Rather than use obvious and directive messages that tell teens not to smoke, campaign advertisements use graphic images that depict stark facts" | https://crimesolutions.ojp.gov/ratedprograms/truthr-campaign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[SOFTENED] The campaign kept evolving: new ads, a website, events, and summer tours. | Source says: "truth ® is a multi-dimensional, constantly evolving campaign, featuring advertising; a website; social networking sites and interactive elements; events; and grassroots outreach through summer and autumn tours." | https://www.thensmc.com/resources/showcase/truth%C2%AE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By 2002, researchers estimated about 300,000 fewer youth smokers than there would have been without truth. | Source says: "By 2002, smoking rates overall were 1.5 percentage points lower than they would have been in the absence of the campaign, which translates to roughly 300,000 fewer youth smokers" | https://crimesolutions.ojp.gov/ratedprograms/truthr-campaign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Estimate linking school survey trends to ad exposure by market; not a trial. | Source says: "We used data from the Monitoring the Future survey in a pre/post quasi-experimental design to relate trends in youth smoking prevalence to varied doses of the "truth" campaign" | https://pubmed.ncbi.nlm.nih.gov/15727971/</a:t>
            </a:r>
            <a:endParaRPr lang="en-US" sz="2000" b="0" u="none" strike="noStrike">
              <a:solidFill>
                <a:srgbClr val="000000"/>
              </a:solidFill>
              <a:effectLst/>
              <a:uFillTx/>
              <a:latin typeface="Arial"/>
            </a:endParaRPr>
          </a:p>
        </p:txBody>
      </p:sp>
      <p:sp>
        <p:nvSpPr>
          <p:cNvPr id="1890" name="PlaceHolder 3"/>
          <p:cNvSpPr>
            <a:spLocks noGrp="1"/>
          </p:cNvSpPr>
          <p:nvPr>
            <p:ph type="sldNum" idx="9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1" name="PlaceHolder 1"/>
          <p:cNvSpPr>
            <a:spLocks noGrp="1"/>
          </p:cNvSpPr>
          <p:nvPr>
            <p:ph type="sldImg"/>
          </p:nvPr>
        </p:nvSpPr>
        <p:spPr>
          <a:xfrm>
            <a:off x="0" y="0"/>
            <a:ext cx="0" cy="0"/>
          </a:xfrm>
          <a:prstGeom prst="rect">
            <a:avLst/>
          </a:prstGeom>
          <a:ln w="0">
            <a:noFill/>
          </a:ln>
        </p:spPr>
      </p:sp>
      <p:sp>
        <p:nvSpPr>
          <p:cNvPr id="189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https://web.archive.org/web/20060721034053/http://www.puntos.org.ni/sstv/sexto-sentido.php</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https://web.archive.org/web/20170407202041/http://www.endvawnow.org/uploads/browser/files/sexto_sentido_impact_evaluation_english.pdf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https://knowledgecommons.popcouncil.org/departments_sbsr-hiv/33/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https://web.archive.org/web/20170407202041/http://www.endvawnow.org/uploads/browser/files/sexto_sentido_impact_evaluation_english.pdf ; https://pmc.ncbi.nlm.nih.gov/articles/PMC7025324/ ; https://www.culanth.org/fieldsights/spectacles-of-sexuality-televisionary-activism-in-nicaragua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Sexto Sentido cast line-up promotional photo (hi-res TIFF from Puntos de Encuentro press/novela images) (c. 2001-2005 (archived 2007)). Owner: Fundacion Puntos de Encuentro. Rights: copyrighted - fair use for commentary, criticism, and research. Found at: https://web.archive.org/web/2007/http://www.puntos.org.ni/novela/. File: https://web.archive.org/web/20070819104829id_/http://www.puntos.org.ni/novela/images/sexto_line-up.tif</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2001 | Source says: "EPISODIOS 1 AL 35 (Febrero de 2001 - Octubre de 2001)" | https://web.archive.org/web/20060721034053/http://www.puntos.org.ni/sstv/sexto-sentido.php</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Nicaragua | Source says: "The surveys were implemented in three Nicaraguan cities: Estelí, Juigalpa, and León." | https://web.archive.org/web/20170407202041/http://www.endvawnow.org/uploads/browser/files/sexto_sentido_impact_evaluation_english.pdf PDF p. 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"The weekly TV drama Sexto Sentido was the strategy’s largest component" | https://web.archive.org/web/20170407202041/http://www.endvawnow.org/uploads/browser/files/sexto_sentido_impact_evaluation_english.pdf PDF p. 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[SOFTENED] A youth TV drama brought gender, sexuality, and violence into family viewing. | Source says: "The series integrates various issue-based storylines and has successfully introduced sensitive and complicated topics such as sexuality into the home." | https://web.archive.org/web/20170407202041/http://www.endvawnow.org/uploads/browser/files/sexto_sentido_impact_evaluation_english.pdf PDF p. 10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Sensitive topics stayed private | Source says: "SDSI influences young people in their decision to talk about their personal problems with a person they trust, and to ask for help." | https://web.archive.org/web/20170407202041/http://www.endvawnow.org/uploads/browser/files/sexto_sentido_impact_evaluation_english.pdf PDF p. 51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Young people could talk and seek help | Source says: "SDSI influences young people in their decision to talk about their personal problems with a person they trust, and to ask for help." | https://web.archive.org/web/20170407202041/http://www.endvawnow.org/uploads/browser/files/sexto_sentido_impact_evaluation_english.pdf PDF p. 51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[SOFTENED] A weekly TV soap wove storylines on sexuality, gender violence, and HIV. | Source says: "Sexto Sentido, a weekly “social soap” TV series broadcast on national commercial and local cable stations. The series integrates various issue-based storylines" | https://web.archive.org/web/20170407202041/http://www.endvawnow.org/uploads/browser/files/sexto_sentido_impact_evaluation_english.pdf PDF p. 10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A nightly youth call-in radio show and local youth training took the TV issues further. | Source says: "Sexto Sentido Radio, a live nightly radio call-in show broadcast simultaneously on a national FM radio station and nine local radio stations. The call-in shows discuss and debate the issues touched on in the TV series." | https://web.archive.org/web/20170407202041/http://www.endvawnow.org/uploads/browser/files/sexto_sentido_impact_evaluation_english.pdf PDF p. 10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The program sought discussion and service use, not viewing alone. | Source says: "it measured SDSI’s impact on the following areas: gender equity, stigma reduction, personalization of risk perception, knowledge and use of services, interpersonal communication" | https://web.archive.org/web/20170407202041/http://www.endvawnow.org/uploads/browser/files/sexto_sentido_impact_evaluation_english.pdf PDF p. 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[SOFTENED] Youth who watched more talked more about HIV and violence, and were 48% likelier to seek help for violence. | Source says: "Those most exposed to SDSI had a 48 percent greater probability of going to organizations or centers with concerns about violence" | https://web.archive.org/web/20170407202041/http://www.endvawnow.org/uploads/browser/files/sexto_sentido_impact_evaluation_english.pdf PDF p. 47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Same youth surveyed yearly, 2003-05; heavier viewers may have been predisposed. | Source says: "It could be argued that this could mean that those who watched Sexto Sentido TV more regularly (the more exposed group) were, in effect, predisposed to the kinds of changes" | https://web.archive.org/web/20170407202041/http://www.endvawnow.org/uploads/browser/files/sexto_sentido_impact_evaluation_english.pdf PDF p. 73</a:t>
            </a:r>
            <a:endParaRPr lang="en-US" sz="2000" b="0" u="none" strike="noStrike">
              <a:solidFill>
                <a:srgbClr val="000000"/>
              </a:solidFill>
              <a:effectLst/>
              <a:uFillTx/>
              <a:latin typeface="Arial"/>
            </a:endParaRPr>
          </a:p>
        </p:txBody>
      </p:sp>
      <p:sp>
        <p:nvSpPr>
          <p:cNvPr id="1893" name="PlaceHolder 3"/>
          <p:cNvSpPr>
            <a:spLocks noGrp="1"/>
          </p:cNvSpPr>
          <p:nvPr>
            <p:ph type="sldNum" idx="10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4" name="PlaceHolder 1"/>
          <p:cNvSpPr>
            <a:spLocks noGrp="1"/>
          </p:cNvSpPr>
          <p:nvPr>
            <p:ph type="sldImg"/>
          </p:nvPr>
        </p:nvSpPr>
        <p:spPr>
          <a:xfrm>
            <a:off x="0" y="0"/>
            <a:ext cx="0" cy="0"/>
          </a:xfrm>
          <a:prstGeom prst="rect">
            <a:avLst/>
          </a:prstGeom>
          <a:ln w="0">
            <a:noFill/>
          </a:ln>
        </p:spPr>
      </p:sp>
      <p:sp>
        <p:nvSpPr>
          <p:cNvPr id="189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https://www.cdc.gov/pcd/issues/2004/jul/04_0043.htm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https://web.archive.org/web/20090122164030/http://www.cdc.gov/youthcampaign/advertising/african_american/PDF/hiphopscotch.pdf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https://pubmed.ncbi.nlm.nih.gov/16061581/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https://www.ebi.ac.uk/europepmc/webservices/rest/PMC1253475/fullTextXML ; https://archive.cdc.gov/www_cdc_gov/media/pressrel/r040217.htm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'Hip-Hop Scotch' VERB print ad (CDC Ad No. CDC-03-M01050), cropped from agency proof (2003). Owner: CDC (prepared by PFI Marketing). Rights: public domain (US federal government work). Found at: https://web.archive.org/web/2009/http://www.cdc.gov/youthcampaign/advertising/. File: https://web.archive.org/web/20090122164030id_/http://www.cdc.gov/youthcampaign/advertising/african_american/PDF/hiphopscotch.pdf</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2002 | Source says: "develop VERB™, a multiethnic campaign launched in June 2002 to increase and maintain physical activity among tweens, or children aged nine to 13 years." | https://www.ebi.ac.uk/europepmc/webservices/rest/PMC1253475/fullTextXML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"Using the VERB brand, paid advertising ran nationally from June 2002 through June 2003, targeting 9- to 13-year-old youths." | https://pubmed.ncbi.nlm.nih.gov/16061581/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PUBLIC CAMPAIGN | Source says: "Launched in 2002 by the Centers for Disease Control and Prevention" | https://pubmed.ncbi.nlm.nih.gov/16061581/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Branded physical activity as fun and social for children. | Source says: "VERB uses commercial marketing methods to advertise being physically active as cool, fun, and a chance to have a good time with friends." | https://pubmed.ncbi.nlm.nih.gov/16061581/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[SOFTENED] Activity messages leaned on health facts | Source says: "VERB messages diverge from the “just-the-facts” delivery that is central to many public health campaigns." | https://www.ebi.ac.uk/europepmc/webservices/rest/PMC1253475/fullTextXML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Children could find an activity they enjoyed | Source says: "the campaign asks tweens to discover new activities they like to do." | https://www.ebi.ac.uk/europepmc/webservices/rest/PMC1253475/fullTextXML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[CORRECTED] The CDC asked 9- to 13-year-olds to discover activities they liked: “VERB. It’s what you do.” | Source says: "VERB is not an acronym but is the word verb as a part of speech, meaning an action word. The tag line is, “It’s what you do.”" | https://www.ebi.ac.uk/europepmc/webservices/rest/PMC1253475/fullTextXML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Children tested ads; paid placements reached them on TV, radio, and in print. | Source says: "All VERB campaign messages and the way they are presented in ads (i.e., television, radio, print) are tested with tween-aged focus groups" | https://www.ebi.ac.uk/europepmc/webservices/rest/PMC1253475/fullTextXML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Parents and local programs were enlisted to make activity easier to try. | Source says: "Partner organizations such as parks, schools, and youth-serving organizations can reap the benefits of tweens’ affinity for the VERB brand" | https://www.ebi.ac.uk/europepmc/webservices/rest/PMC1253475/fullTextXML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After one year, 9- and 10-year-olds aware of VERB reported 34% more free-time activity sessions a week than unaware peers. | Source says: "The average 9- to 10-year-old youth engaged in 34% more free-time physical activity sessions per week than did 9- to 10-year-old youths who were unaware of the campaign." | https://pubmed.ncbi.nlm.nih.gov/16061581/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Same children surveyed 2002 and 2003; aware vs. unaware; self-reported. | Source says: "The follow-up survey was repeated with the same cohort of children and parents in April to June 2003. Propensity scoring was used to determine the campaign's effects" | https://pubmed.ncbi.nlm.nih.gov/16061581/</a:t>
            </a:r>
            <a:endParaRPr lang="en-US" sz="2000" b="0" u="none" strike="noStrike">
              <a:solidFill>
                <a:srgbClr val="000000"/>
              </a:solidFill>
              <a:effectLst/>
              <a:uFillTx/>
              <a:latin typeface="Arial"/>
            </a:endParaRPr>
          </a:p>
        </p:txBody>
      </p:sp>
      <p:sp>
        <p:nvSpPr>
          <p:cNvPr id="1896" name="PlaceHolder 3"/>
          <p:cNvSpPr>
            <a:spLocks noGrp="1"/>
          </p:cNvSpPr>
          <p:nvPr>
            <p:ph type="sldNum" idx="10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7" name="PlaceHolder 1"/>
          <p:cNvSpPr>
            <a:spLocks noGrp="1"/>
          </p:cNvSpPr>
          <p:nvPr>
            <p:ph type="sldImg"/>
          </p:nvPr>
        </p:nvSpPr>
        <p:spPr>
          <a:xfrm>
            <a:off x="0" y="0"/>
            <a:ext cx="0" cy="0"/>
          </a:xfrm>
          <a:prstGeom prst="rect">
            <a:avLst/>
          </a:prstGeom>
          <a:ln w="0">
            <a:noFill/>
          </a:ln>
        </p:spPr>
      </p:sp>
      <p:sp>
        <p:nvSpPr>
          <p:cNvPr id="189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https://www.kff.org/past-campaigns/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https://www.kff.org/viacom-know-psas/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https://www.kff.org/wp-content/uploads/2013/01/7515.pdf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https://web.archive.org/web/20040705083544/http://www.kff.org:80/entpartnerships/viacom.cfm ; https://web.archive.org/web/20060921152026/http://www.kff.org/entpartnerships/viacom/ ; https://www.advocate.com/news/2003/01/07/viacom-kaiser-launch-global-quotknow-hivaidsquot-campaign-7380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'Meet the new face of HIV' KNOW HIV/AIDS outdoor PSA (African American version), 2003 campaign (Dec 2002 file, 2003 campaign). Owner: Kaiser Family Foundation / Viacom. Rights: copyrighted - fair use for commentary, criticism, and research. Found at: https://www.kff.org/viacom-know-psas/. File: https://web.archive.org/web/20120801180854id_/http://www.kff.org/entpartnerships/loader.cfm?url=/commonspot/security/getfile.cfm&amp;PageID=14847</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2003 | Source says: "The U.S. component of the multi-year effort launched January 6th 2003" | https://web.archive.org/web/20040705083544/http://www.kff.org:80/entpartnerships/viacom.cfm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"In the United States, the campaign was aimed at the public-at-large as well as those groups that are most at-risk for the disease" | https://www.kff.org/past-campaigns/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"The initiative also encompassed AIDS-related themes woven into CBS Corporation- and Viacom-produced entertainment series" | https://www.kff.org/past-campaigns/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[CORRECTED] Kaiser Family Foundation and Viacom, then CBS's parent, spread HIV prevention and testing messages across shows and media. | Source says: "The Viacom company includes: CBS, UPN, Paramount Television and Pictures, Infinity Radio, Viacom Outdoor" | https://web.archive.org/web/20040705083544/http://www.kff.org:80/entpartnerships/viacom.cfm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[SOFTENED] HIV messages sat in scattered, separate channels | Source says: "KNOW HIV/AIDS marked the first attempt to engage all divisions within Viacom’s vast array of assets in a unified campaign on HIV/AIDS." | https://www.kff.org/wp-content/uploads/2013/01/7515.pdf PDF p. 21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People could find information and testing advice | Source says: "At the KNOW HIV/AIDS website, find a local testing site, learn more about prevention and the epidemic" | https://web.archive.org/web/20040705083544/http://www.kff.org:80/entpartnerships/viacom.cfm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[CORRECTED] Kaiser supplied health expertise; Viacom, including CBS, supplied creative reach. | Source says: "Drawing on the Kaiser Family Foundation’s expertise, and the breadth and depth of CBS Corporation and Viacom’s creative and distribution assets" | https://www.kff.org/past-campaigns/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Ads ran across TV, radio, outdoor, online, and print properties. | Source says: "the multi-year initiative used television, radio, outdoor, online and print media to provide information about HIV prevention and testing." | https://www.kff.org/past-campaigns/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Entertainment plots and a free guide added context and next-step information. | Source says: "The initiative also encompassed AIDS-related themes woven into CBS Corporation- and Viacom-produced entertainment series, a free educational guide, and other resources." | https://www.kff.org/past-campaigns/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Viacom committed over $120 million in first-year ad placements; KFF records report reach, not a change in testing. | Source says: "The ad placement value committed for the first year of the campaign exceeds $120 million (not including programming contributions)." | https://web.archive.org/web/20040705083544/http://www.kff.org:80/entpartnerships/viacom.cfm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[VERIFIED] Campaign record; behavior effect not established. | Source says: "Kaiser and Viacom developed television, radio and outdoor PSAs, reaching out to the general population" | https://www.kff.org/wp-content/uploads/2013/01/7515.pdf PDF p. 21</a:t>
            </a:r>
            <a:endParaRPr lang="en-US" sz="2000" b="0" u="none" strike="noStrike">
              <a:solidFill>
                <a:srgbClr val="000000"/>
              </a:solidFill>
              <a:effectLst/>
              <a:uFillTx/>
              <a:latin typeface="Arial"/>
            </a:endParaRPr>
          </a:p>
        </p:txBody>
      </p:sp>
      <p:sp>
        <p:nvSpPr>
          <p:cNvPr id="1899" name="PlaceHolder 3"/>
          <p:cNvSpPr>
            <a:spLocks noGrp="1"/>
          </p:cNvSpPr>
          <p:nvPr>
            <p:ph type="sldNum" idx="10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0" name="PlaceHolder 1"/>
          <p:cNvSpPr>
            <a:spLocks noGrp="1"/>
          </p:cNvSpPr>
          <p:nvPr>
            <p:ph type="sldImg"/>
          </p:nvPr>
        </p:nvSpPr>
        <p:spPr>
          <a:xfrm>
            <a:off x="0" y="0"/>
            <a:ext cx="0" cy="0"/>
          </a:xfrm>
          <a:prstGeom prst="rect">
            <a:avLst/>
          </a:prstGeom>
          <a:ln w="0">
            <a:noFill/>
          </a:ln>
        </p:spPr>
      </p:sp>
      <p:sp>
        <p:nvSpPr>
          <p:cNvPr id="190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https://raisingvoices.org/women/sasa-approach/</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https://raisingvoices.org/resources/sasa-activist-kit-awareness-phase/ ; https://raisingvoices.org/resources/sasa-activist-kit-action-phase/ ; https://pmc.ncbi.nlm.nih.gov/articles/PMC4243194/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SASA! Awareness-phase Power Poster: 'Be aware! Unequal power between women and men - is it okay?' [file note: (SASA_Awareness/CommunicationMaterials/Awareness.CM.PowerPoster.pdf, p.1)] (2008 (Activist Kit; PDF dated Jan 2009)). Owner: Raising Voices. Rights: copyrighted; distributed free by Raising Voices - research use. Found at: https://raisingvoices.org/resources/sasa-activist-kit-awareness-phase/. File: https://raisingvoices.org/wp-content/uploads/2022/01/2.-SASA_Awareness.zip</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2007 onward | Source says: "The study was conducted between November 2007 and May 2012 in the Rubaga and Makindye Divisions of Kampala, Uganda."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Uganda | Source says: "a pair-matched cluster randomized controlled trial (CRT) was conducted in eight communities (four intervention and four control) in Kampala, Uganda."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COMMUNITY | Source says: "SASA!, a community mobilization intervention to prevent violence and reduce HIV-risk behaviors."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Community conversations and activism challenged the acceptability of violence by a partner. | Source says: "a community mobilization intervention that seeks to change community attitudes, norms and behaviors that result in gender inequality, violence and increased HIV vulnerability for women."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Partner violence could be accepted or ignored | Source says: "social norms that define violence as a private issue, or normalise men's use of power over women, will likely be maintained."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Neighbors could question and act on it | Source says: "Women experiencing violence in intervention communities were more likely to receive supportive community responses."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Local residents were selected, trained, and supported as activists. | Source says: "In Start, community activists (CAs) (regular women and men) interested in issues of violence, power and rights are selected and trained"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In Awareness, activists got neighbors questioning men's power over women where they gathered. | Source says: "Community members were also encouraged to critically think about men's power over women and how this may manifest in their community."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[SOFTENED] Support built help for people changing; Action had them try and celebrate new behavior. | Source says: "The SUPPORT phase was designed to strengthen the skills and connections between community members to encourage them to support those who were changing. This preceded the ACTION phase"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Women in participating communities were about half as likely to say partner violence was acceptable. | Source says: "The intervention was associated with significantly lower social acceptance of IPV among women (adjusted risk ratio 0.54, 95% confidence interval (CI) 0.38 to 0.79)"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8 communities randomized; the 52% drop in physical violence was not significant. | Source says: "52% lower past year experience of physical IPV among women (0.48, 95% CI 0.16 to 1.39)"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[VERIFIED] Staff mapped the community and recruited local women and men as activists. | Source says: "In the START phase, CEDOVIP staff systematically learned about the community by mapping formal and informal resources ... CEDOVIP also selected a number of community activists (ordinary women and men resident in the community)."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[VERIFIED] Activists raised questions about power through familiar, informal conversations. | Source says: "The emphasis of the AWARENESS phase was on helping activists to gain confidence to conduct informal activities within their communities."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[SOFTENED] Neighbors built skills and ties to support people who were changing. | Source says: "The SUPPORT phase was designed to strengthen the skills and connections between community members to encourage them to support those who were changing."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[VERIFIED] People practiced and publicly recognized changed behavior. | Source says: "the ACTION phase in which individuals were encouraged to try out new behaviours and celebrate change within their community."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[SOFTENED] Change moved through sustained, phased activism in local networks, not one-off messages. | Source says: "In the absence of sustained activism, social norms that define violence as a private issue, or normalise men's use of power over women, will likely be maintained." | https://pmc.ncbi.nlm.nih.gov/articles/PMC4165071/</a:t>
            </a:r>
            <a:endParaRPr lang="en-US" sz="2000" b="0" u="none" strike="noStrike">
              <a:solidFill>
                <a:srgbClr val="000000"/>
              </a:solidFill>
              <a:effectLst/>
              <a:uFillTx/>
              <a:latin typeface="Arial"/>
            </a:endParaRPr>
          </a:p>
        </p:txBody>
      </p:sp>
      <p:sp>
        <p:nvSpPr>
          <p:cNvPr id="1902" name="PlaceHolder 3"/>
          <p:cNvSpPr>
            <a:spLocks noGrp="1"/>
          </p:cNvSpPr>
          <p:nvPr>
            <p:ph type="sldNum" idx="103"/>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3" name="PlaceHolder 1"/>
          <p:cNvSpPr>
            <a:spLocks noGrp="1"/>
          </p:cNvSpPr>
          <p:nvPr>
            <p:ph type="sldImg"/>
          </p:nvPr>
        </p:nvSpPr>
        <p:spPr>
          <a:xfrm>
            <a:off x="0" y="0"/>
            <a:ext cx="0" cy="0"/>
          </a:xfrm>
          <a:prstGeom prst="rect">
            <a:avLst/>
          </a:prstGeom>
          <a:ln w="0">
            <a:noFill/>
          </a:ln>
        </p:spPr>
      </p:sp>
      <p:sp>
        <p:nvSpPr>
          <p:cNvPr id="190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https://raisingvoices.org/women/sasa-approach/</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https://raisingvoices.org/resources/sasa-activist-kit-awareness-phase/ ; https://raisingvoices.org/resources/sasa-activist-kit-action-phase/ ; https://pmc.ncbi.nlm.nih.gov/articles/PMC4243194/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SASA! Action-phase Community Poster: 'Take Action! Everyone has a right to live free of violence!' (community march) [file note: (ACTION/CommunicationMaterials/Action.CM.CommPoster.pdf, p.1)] (2008 (Activist Kit; PDF dated 2009)). Owner: Raising Voices. Rights: copyrighted; distributed free by Raising Voices - research use. Found at: https://raisingvoices.org/resources/sasa-activist-kit-action-phase/. File: https://raisingvoices.org/wp-content/uploads/2022/01/4.-SASA_Action.zip</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2007 onward | Source says: "The study was conducted between November 2007 and May 2012 in the Rubaga and Makindye Divisions of Kampala, Uganda."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Uganda | Source says: "a pair-matched cluster randomized controlled trial (CRT) was conducted in eight communities (four intervention and four control) in Kampala, Uganda."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COMMUNITY | Source says: "SASA!, a community mobilization intervention to prevent violence and reduce HIV-risk behaviors."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Community conversations and activism challenged the acceptability of violence by a partner. | Source says: "a community mobilization intervention that seeks to change community attitudes, norms and behaviors that result in gender inequality, violence and increased HIV vulnerability for women."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Partner violence could be accepted or ignored | Source says: "social norms that define violence as a private issue, or normalise men's use of power over women, will likely be maintained."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Neighbors could question and act on it | Source says: "Women experiencing violence in intervention communities were more likely to receive supportive community responses."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Local residents were selected, trained, and supported as activists. | Source says: "In Start, community activists (CAs) (regular women and men) interested in issues of violence, power and rights are selected and trained"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In Awareness, activists got neighbors questioning men's power over women where they gathered. | Source says: "Community members were also encouraged to critically think about men's power over women and how this may manifest in their community."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[SOFTENED] Support built help for people changing; Action had them try and celebrate new behavior. | Source says: "The SUPPORT phase was designed to strengthen the skills and connections between community members to encourage them to support those who were changing. This preceded the ACTION phase"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Women in participating communities were about half as likely to say partner violence was acceptable. | Source says: "The intervention was associated with significantly lower social acceptance of IPV among women (adjusted risk ratio 0.54, 95% confidence interval (CI) 0.38 to 0.79)"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8 communities randomized; the 52% drop in physical violence was not significant. | Source says: "52% lower past year experience of physical IPV among women (0.48, 95% CI 0.16 to 1.39)" | https://bmcmedicine.biomedcentral.com/articles/10.1186/s12916-014-0122-5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[VERIFIED] Staff mapped the community and recruited local women and men as activists. | Source says: "In the START phase, CEDOVIP staff systematically learned about the community by mapping formal and informal resources ... CEDOVIP also selected a number of community activists (ordinary women and men resident in the community)."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[VERIFIED] Activists raised questions about power through familiar, informal conversations. | Source says: "The emphasis of the AWARENESS phase was on helping activists to gain confidence to conduct informal activities within their communities."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[SOFTENED] Neighbors built skills and ties to support people who were changing. | Source says: "The SUPPORT phase was designed to strengthen the skills and connections between community members to encourage them to support those who were changing."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[VERIFIED] People practiced and publicly recognized changed behavior. | Source says: "the ACTION phase in which individuals were encouraged to try out new behaviours and celebrate change within their community." | https://pmc.ncbi.nlm.nih.gov/articles/PMC4165071/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[SOFTENED] Change moved through sustained, phased activism in local networks, not one-off messages. | Source says: "In the absence of sustained activism, social norms that define violence as a private issue, or normalise men's use of power over women, will likely be maintained." | https://pmc.ncbi.nlm.nih.gov/articles/PMC4165071/</a:t>
            </a:r>
            <a:endParaRPr lang="en-US" sz="2000" b="0" u="none" strike="noStrike">
              <a:solidFill>
                <a:srgbClr val="000000"/>
              </a:solidFill>
              <a:effectLst/>
              <a:uFillTx/>
              <a:latin typeface="Arial"/>
            </a:endParaRPr>
          </a:p>
        </p:txBody>
      </p:sp>
      <p:sp>
        <p:nvSpPr>
          <p:cNvPr id="1905" name="PlaceHolder 3"/>
          <p:cNvSpPr>
            <a:spLocks noGrp="1"/>
          </p:cNvSpPr>
          <p:nvPr>
            <p:ph type="sldNum" idx="10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6" name="PlaceHolder 1"/>
          <p:cNvSpPr>
            <a:spLocks noGrp="1"/>
          </p:cNvSpPr>
          <p:nvPr>
            <p:ph type="sldImg"/>
          </p:nvPr>
        </p:nvSpPr>
        <p:spPr>
          <a:xfrm>
            <a:off x="0" y="0"/>
            <a:ext cx="0" cy="0"/>
          </a:xfrm>
          <a:prstGeom prst="rect">
            <a:avLst/>
          </a:prstGeom>
          <a:ln w="0">
            <a:noFill/>
          </a:ln>
        </p:spPr>
      </p:sp>
      <p:sp>
        <p:nvSpPr>
          <p:cNvPr id="190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https://www.nber.org/system/files/working_papers/w15386/w15386.pdf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https://eml.berkeley.edu/~saez/course131/allcott2011.pdf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https://eml.berkeley.edu/~saez/course131/allcott2011.pdf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https://ceepr.mit.edu/wp-content/uploads/2023/02/2009-014.pdf ; https://www.oracle.com/utilities/opower-energy-efficiency/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Home Energy Report "Last Month Neighborhood Comparison" social comparison module (Allcott 2011, Fig. 1) [file note: (p. 1084, embedded image 1097x303)] (c. 2008–2009 report; published 2011). Owner: OPOWER report design; reproduced in Allcott, J. Public Economics 95 (2011), Elsevier. Rights: copyrighted — fair use for commentary, criticism, and research. Found at: https://eml.berkeley.edu/~saez/course131/allcott2011.pdf. File: https://eml.berkeley.edu/~saez/course131/allcott2011.pdf</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[CORRECTED] 2008 onward | Source says: "The SMUD messaging experiment began in April 2008" | https://www.nber.org/system/files/working_papers/w15386/w15386.pdf p. 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"OPOWER had contracts to run programs at 47 utilities in 21 states" | https://eml.berkeley.edu/~saez/course131/allcott2011.pdf p. 1082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PEER COMPARISON | Source says: "Home Energy Report letters (HERs) that compare a household's energy use to that of similar neighbors" | https://eml.berkeley.edu/~saez/course131/allcott2011.pdf p. 1082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mechanism [VERIFIED] Compare with nearby homes | Source says: "A household's comparison group comprises approximately 100 geographically-proximate houses with similar characteristics" | https://eml.berkeley.edu/~saez/course131/allcott2011.pdf p. 1083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Showing households their neighbors’ energy use created a concrete peer comparison for conservation. | Source says: "OPOWER mails Home Energy Report letters (HERs) that compare a household's energy use to that of similar neighbors and provide energy conservation tips." | https://eml.berkeley.edu/~saez/course131/allcott2011.pdf p. 1082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[SOFTENED] Households likely misjudged their use vs. neighbors | Source says: "It seems likely that untreated households believe that they are closer to the social norm than they actually are" | https://eml.berkeley.edu/~saez/course131/allcott2011.pdf p. 1084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Neighbors’ use made saving concrete | Source says: "the social comparisons may facilitate social learning about their privately-optimal level of energy use" | https://eml.berkeley.edu/~saez/course131/allcott2011.pdf p. 1084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[CORRECTED] OPOWER built each report from the home’s own meter reads and mailed it for the utility. | Source says: "Within several days of the meter read, the results are sent electronically to OPOWER, where each household's social comparison is computed. The Home Energy Report is printed by an outside contractor and sent via U.S. Mail." | https://eml.berkeley.edu/~saez/course131/allcott2011.pdf p. 1085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A bar chart compared the home with about 100 similar nearby homes and the most efficient 20%. | Source says: "the graph on the left side of the Social Comparison presents the “descriptive norm” by comparing the household to the mean and 20th percentile of its comparison group" | https://eml.berkeley.edu/~saez/course131/allcott2011.pdf p. 1083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Each report paired comparison with practical ways to save energy. | Source says: "The Report's second key component is the Action Steps Module ... these energy conservation tips include both changes to the household's stock of energy-using durable goods and to the use" | https://eml.berkeley.edu/~saez/course131/allcott2011.pdf p. 1083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Households sent the reports used about 2% less electricity on average. | Source says: "I estimate that the average program reduces energy consumption by 2.0%." | https://eml.berkeley.edu/~saez/course131/allcott2011.pdf p. 1082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Nearly 600,000 households randomly assigned across 17 experiments. | Source says: "With nearly 600,000 households in treatment and control groups, this is one of the largest randomized field experiments in history." | https://eml.berkeley.edu/~saez/course131/allcott2011.pdf p. 1082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[CORRECTED] DATA: Utilities sent each household’s meter reads to OPOWER. | Source says: "Within several days of the meter read, the results are sent electronically to OPOWER" | https://eml.berkeley.edu/~saez/course131/allcott2011.pdf p. 1085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[VERIFIED] COMPARISON: Mailed reports showed the home beside similar nearby homes. | Source says: "compare a household's energy use to that of similar neighbors" | https://eml.berkeley.edu/~saez/course131/allcott2011.pdf p. 1082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[CORRECTED] GUIDANCE: The same report offered tips matched to the home’s past use. | Source says: "These suggestions are targeted to different households based on historical energy use patterns and demographic characteristics." | https://eml.berkeley.edu/~saez/course131/allcott2011.pdf p. 1083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[CORRECTED] FEEDBACK: Reports repeated monthly to quarterly, so households saw their use again. | Source says: "Reports are sent to the Treatment group monthly, bimonthly, or quarterly, depending on the utility." | https://eml.berkeley.edu/~saez/course131/allcott2011.pdf p. 1085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[SOFTENED] Pair the comparison with practical steps; Allcott credits the tips with keeping low users from using more. | Source says: "the potential effect is likely mitigated by the energy conservation tips or other aspects of the injuntive norms that affect all categories equally" | https://eml.berkeley.edu/~saez/course131/allcott2011.pdf p. 1083</a:t>
            </a:r>
            <a:endParaRPr lang="en-US" sz="2000" b="0" u="none" strike="noStrike">
              <a:solidFill>
                <a:srgbClr val="000000"/>
              </a:solidFill>
              <a:effectLst/>
              <a:uFillTx/>
              <a:latin typeface="Arial"/>
            </a:endParaRPr>
          </a:p>
        </p:txBody>
      </p:sp>
      <p:sp>
        <p:nvSpPr>
          <p:cNvPr id="1908" name="PlaceHolder 3"/>
          <p:cNvSpPr>
            <a:spLocks noGrp="1"/>
          </p:cNvSpPr>
          <p:nvPr>
            <p:ph type="sldNum" idx="10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9" name="PlaceHolder 1"/>
          <p:cNvSpPr>
            <a:spLocks noGrp="1"/>
          </p:cNvSpPr>
          <p:nvPr>
            <p:ph type="sldImg"/>
          </p:nvPr>
        </p:nvSpPr>
        <p:spPr>
          <a:xfrm>
            <a:off x="0" y="0"/>
            <a:ext cx="0" cy="0"/>
          </a:xfrm>
          <a:prstGeom prst="rect">
            <a:avLst/>
          </a:prstGeom>
          <a:ln w="0">
            <a:noFill/>
          </a:ln>
        </p:spPr>
      </p:sp>
      <p:sp>
        <p:nvSpPr>
          <p:cNvPr id="191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https://www.nber.org/system/files/working_papers/w15386/w15386.pdf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https://eml.berkeley.edu/~saez/course131/allcott2011.pdf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https://eml.berkeley.edu/~saez/course131/allcott2011.pdf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https://ceepr.mit.edu/wp-content/uploads/2023/02/2009-014.pdf ; https://www.oracle.com/utilities/opower-energy-efficiency/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Home Energy Report "Action Steps" module with SMUD tips (Allcott 2011, Fig. 2) [file note: (p. 1084, embedded image 1089x750)] (c. 2008–2009 report; published 2011). Owner: OPOWER report design for SMUD; reproduced in Allcott 2011, Elsevier. Rights: copyrighted — fair use for commentary, criticism, and research. Found at: https://eml.berkeley.edu/~saez/course131/allcott2011.pdf. File: https://eml.berkeley.edu/~saez/course131/allcott2011.pdf</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[CORRECTED] 2008 onward | Source says: "The SMUD messaging experiment began in April 2008" | https://www.nber.org/system/files/working_papers/w15386/w15386.pdf p. 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"OPOWER had contracts to run programs at 47 utilities in 21 states" | https://eml.berkeley.edu/~saez/course131/allcott2011.pdf p. 1082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PEER COMPARISON | Source says: "Home Energy Report letters (HERs) that compare a household's energy use to that of similar neighbors" | https://eml.berkeley.edu/~saez/course131/allcott2011.pdf p. 1082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mechanism [VERIFIED] Compare with nearby homes | Source says: "A household's comparison group comprises approximately 100 geographically-proximate houses with similar characteristics" | https://eml.berkeley.edu/~saez/course131/allcott2011.pdf p. 1083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Showing households their neighbors’ energy use created a concrete peer comparison for conservation. | Source says: "OPOWER mails Home Energy Report letters (HERs) that compare a household's energy use to that of similar neighbors and provide energy conservation tips." | https://eml.berkeley.edu/~saez/course131/allcott2011.pdf p. 1082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[SOFTENED] Households likely misjudged their use vs. neighbors | Source says: "It seems likely that untreated households believe that they are closer to the social norm than they actually are" | https://eml.berkeley.edu/~saez/course131/allcott2011.pdf p. 1084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Neighbors’ use made saving concrete | Source says: "the social comparisons may facilitate social learning about their privately-optimal level of energy use" | https://eml.berkeley.edu/~saez/course131/allcott2011.pdf p. 1084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[CORRECTED] OPOWER built each report from the home’s own meter reads and mailed it for the utility. | Source says: "Within several days of the meter read, the results are sent electronically to OPOWER, where each household's social comparison is computed. The Home Energy Report is printed by an outside contractor and sent via U.S. Mail." | https://eml.berkeley.edu/~saez/course131/allcott2011.pdf p. 1085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A bar chart compared the home with about 100 similar nearby homes and the most efficient 20%. | Source says: "the graph on the left side of the Social Comparison presents the “descriptive norm” by comparing the household to the mean and 20th percentile of its comparison group" | https://eml.berkeley.edu/~saez/course131/allcott2011.pdf p. 1083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Each report paired comparison with practical ways to save energy. | Source says: "The Report's second key component is the Action Steps Module ... these energy conservation tips include both changes to the household's stock of energy-using durable goods and to the use" | https://eml.berkeley.edu/~saez/course131/allcott2011.pdf p. 1083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Households sent the reports used about 2% less electricity on average. | Source says: "I estimate that the average program reduces energy consumption by 2.0%." | https://eml.berkeley.edu/~saez/course131/allcott2011.pdf p. 1082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Nearly 600,000 households randomly assigned across 17 experiments. | Source says: "With nearly 600,000 households in treatment and control groups, this is one of the largest randomized field experiments in history." | https://eml.berkeley.edu/~saez/course131/allcott2011.pdf p. 1082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[CORRECTED] DATA: Utilities sent each household’s meter reads to OPOWER. | Source says: "Within several days of the meter read, the results are sent electronically to OPOWER" | https://eml.berkeley.edu/~saez/course131/allcott2011.pdf p. 1085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[VERIFIED] COMPARISON: Mailed reports showed the home beside similar nearby homes. | Source says: "compare a household's energy use to that of similar neighbors" | https://eml.berkeley.edu/~saez/course131/allcott2011.pdf p. 1082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[CORRECTED] GUIDANCE: The same report offered tips matched to the home’s past use. | Source says: "These suggestions are targeted to different households based on historical energy use patterns and demographic characteristics." | https://eml.berkeley.edu/~saez/course131/allcott2011.pdf p. 1083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[CORRECTED] FEEDBACK: Reports repeated monthly to quarterly, so households saw their use again. | Source says: "Reports are sent to the Treatment group monthly, bimonthly, or quarterly, depending on the utility." | https://eml.berkeley.edu/~saez/course131/allcott2011.pdf p. 1085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[SOFTENED] Pair the comparison with practical steps; Allcott credits the tips with keeping low users from using more. | Source says: "the potential effect is likely mitigated by the energy conservation tips or other aspects of the injuntive norms that affect all categories equally" | https://eml.berkeley.edu/~saez/course131/allcott2011.pdf p. 1083</a:t>
            </a:r>
            <a:endParaRPr lang="en-US" sz="2000" b="0" u="none" strike="noStrike">
              <a:solidFill>
                <a:srgbClr val="000000"/>
              </a:solidFill>
              <a:effectLst/>
              <a:uFillTx/>
              <a:latin typeface="Arial"/>
            </a:endParaRPr>
          </a:p>
        </p:txBody>
      </p:sp>
      <p:sp>
        <p:nvSpPr>
          <p:cNvPr id="1911" name="PlaceHolder 3"/>
          <p:cNvSpPr>
            <a:spLocks noGrp="1"/>
          </p:cNvSpPr>
          <p:nvPr>
            <p:ph type="sldNum" idx="10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2" name="PlaceHolder 1"/>
          <p:cNvSpPr>
            <a:spLocks noGrp="1"/>
          </p:cNvSpPr>
          <p:nvPr>
            <p:ph type="sldImg"/>
          </p:nvPr>
        </p:nvSpPr>
        <p:spPr>
          <a:xfrm>
            <a:off x="0" y="0"/>
            <a:ext cx="0" cy="0"/>
          </a:xfrm>
          <a:prstGeom prst="rect">
            <a:avLst/>
          </a:prstGeom>
          <a:ln w="0">
            <a:noFill/>
          </a:ln>
        </p:spPr>
      </p:sp>
      <p:sp>
        <p:nvSpPr>
          <p:cNvPr id="191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https://web.archive.org/web/2020/https://www.unicef.org/media/85711/file/Facts_for_Life_EN_010810.pdf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https://global.comminit.com/files/kyunkiprodbook_final.pdf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https://web.archive.org/web/20240102235546/https://digitallibrary.un.org/record/686939/files/E_ICEF_2010_P_L.20-EN.pdf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Viewer-reply postcard from "Savita" (the show's nurse character), with UNICEF and Doordarshan logos; reproduced in the Production Book [file note: (PDF p. 93, embedded image 801x817)] (2008–2011 (postcard); book 2014). Owner: UNICEF India / Doordarshan. Rights: copyrighted (UNICEF) — fair use for commentary, criticism, and research. Found at: https://global.comminit.com/files/kyunkiprodbook_final.pdf. File: https://global.comminit.com/files/kyunkiprodbook_final.pdf</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2008 | Source says: "UNICEF India launched an innovative communication initiative Kyunki... Jeena Issi Ka Naam Hai on World Health Day, 7 April 2008." | https://global.comminit.com/files/kyunkiprodbook_final.pdf PDF p. 7 (printed p. 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India | Source says: "aired Monday-Wednesday on India’s national public broadcaster Doordarshan" | https://global.comminit.com/files/kyunkiprodbook_final.pdf PDF p. 7 (printed p. 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"Using the entertainment-education (E-E) approach, this unique soap opera successfully broadcast over 500 episodes" | https://global.comminit.com/files/kyunkiprodbook_final.pdf PDF p. 7 (printed p. 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mechanism [VERIFIED] Family stories show choices | Source says: "Struggles of mothers and children, of families and individuals were highlighted to communicate the life saving FFL messages." | https://global.comminit.com/files/kyunkiprodbook_final.pdf PDF p. 14 (printed p. 12)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[CORRECTED] A UNICEF-produced TV drama wove maternal and child health practices into village family stories. | Source says: "Created and produced by UNICEF and partly funded by government ministries such as National Rural Health Mission (NRHM) and National Aids Control Organization (NACO)" | https://global.comminit.com/files/kyunkiprodbook_final.pdf PDF p. 8 (printed p. 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Health advice felt separate from family life | Source says: "Kyunki… Jeena was designed to challenge social norms and trigger discussion among people and their communities." | https://global.comminit.com/files/kyunkiprodbook_final.pdf PDF p. 15 (printed p. 13)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Families could see care practices in stories | Source says: "By portraying positive and healthy behaviours, Kyunki... Jeena aimed to increase knowledge and change behaviour." | https://global.comminit.com/files/kyunkiprodbook_final.pdf PDF p. 15 (printed p. 13)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[CORRECTED] UNICEF’s Facts for Life health messages were written into recurring village storylines. | Source says: "Kyunki… Jeena was envisioned to communicate the facts provided by the FFL initiative through stories that reflected the realities of India" | https://global.comminit.com/files/kyunkiprodbook_final.pdf PDF p. 14 (printed p. 12)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Doordarshan aired it in prime time; its primary audience was women aged 15 to 34. | Source says: "Like most soap-operas, Kyunki… Jeena’s primary audience was women in the age group of 15-34 years in the Hindi speaking states." | https://global.comminit.com/files/kyunkiprodbook_final.pdf PDF p. 15 (printed p. 13)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[CORRECTED] Frontline health workers, including nurse Savita, were lead characters viewers discussed. | Source says: "The main protagonists of the show were characterized to represent an ASHA, AWW, ANM, a teacher, a Sarpanch ... Savita the nurse turned out to be the favourite character" | https://global.comminit.com/files/kyunkiprodbook_final.pdf PDF pp. 16, 69 (printed pp. 14, 67)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UNICEF reported 145 million viewers and increased health knowledge among women. | Source says: "the innovative entertainment-education serial “Kyunki ... Jeena Issi ka Naam Hai” ... which has reached 145 million viewers, increasing knowledge among women on safe motherhood and child health, nutrition and hygiene issues." | https://web.archive.org/web/20240102235546/https://digitallibrary.un.org/record/686939/files/E_ICEF_2010_P_L.20-EN.pdf p. 6 (para. 21)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UNICEF-commissioned pre-post surveys vs. non-viewers; not randomized. | Source says: "A pre-post assessment test design was used ... O3: Control group of respondents who are not exposed or could not recall the TV drama" | https://global.comminit.com/files/kyunkiprodbook_final.pdf PDF p. 68 (printed p. 66)</a:t>
            </a:r>
            <a:endParaRPr lang="en-US" sz="2000" b="0" u="none" strike="noStrike">
              <a:solidFill>
                <a:srgbClr val="000000"/>
              </a:solidFill>
              <a:effectLst/>
              <a:uFillTx/>
              <a:latin typeface="Arial"/>
            </a:endParaRPr>
          </a:p>
        </p:txBody>
      </p:sp>
      <p:sp>
        <p:nvSpPr>
          <p:cNvPr id="1914" name="PlaceHolder 3"/>
          <p:cNvSpPr>
            <a:spLocks noGrp="1"/>
          </p:cNvSpPr>
          <p:nvPr>
            <p:ph type="sldNum" idx="10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5" name="PlaceHolder 1"/>
          <p:cNvSpPr>
            <a:spLocks noGrp="1"/>
          </p:cNvSpPr>
          <p:nvPr>
            <p:ph type="sldImg"/>
          </p:nvPr>
        </p:nvSpPr>
        <p:spPr>
          <a:xfrm>
            <a:off x="0" y="0"/>
            <a:ext cx="0" cy="0"/>
          </a:xfrm>
          <a:prstGeom prst="rect">
            <a:avLst/>
          </a:prstGeom>
          <a:ln w="0">
            <a:noFill/>
          </a:ln>
        </p:spPr>
      </p:sp>
      <p:sp>
        <p:nvSpPr>
          <p:cNvPr id="191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https://shuga.tv/</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https://www.povertyactionlab.org/case-study/improving-youth-sexual-health-through-educational-entertainment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https://www.nber.org/system/files/working_papers/w26096/w26096.pdf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https://www.povertyactionlab.org/evaluation/mtv-shuga-changing-social-norms-and-behaviors-entertainment-education-nigeria ; https://www.youtube.com/watch?v=cfgsbAN4J9I</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Shuga Naija S1 Ep. 3 "Testing, Testing" (= MTV Shuga season 3, the evaluated season): Sophie and Ekene waiting at an HIV testing clinic, frame at 1:08 [file note: (frame 00:01:08, 1280x720)] (2013 (uploaded 2013-12-15)). Owner: MTV Staying Alive Foundation (Shuga Global official channel). Rights: copyrighted — fair use for commentary, criticism, and research. Found at: https://www.youtube.com/watch?v=cfgsbAN4J9I. File: https://www.youtube.com/watch?v=cfgsbAN4J9I</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2009 | Source says: "The MTV Staying Alive Foundation ... first premiered the television series Shuga in Kenya in 2009"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Kenya → wider Africa | Source says: "MTV produced three more seasons of Shuga in Nigeria, two in South Africa, and two in Côte d’Ivoire." | https://www.povertyactionlab.org/case-study/improving-youth-sexual-health-through-educational-entertainment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"The series was designed to raise awareness about HIV/AIDS and promote safe behavior among young people in Africa through entertaining drama"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mechanism [VERIFIED] Youth story and identification | Source says: "Researchers suggest that participants’ ability to identify with the characters and engage with the plot could explain why Shuga had a greater impact" | https://www.povertyactionlab.org/case-study/improving-youth-sexual-health-through-educational-entertainment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youth drama portrayed HIV testing, safer sex, and relationships through recognizable characters. | Source says: "The episodes presented stories about the stigma and discrimination associated with the virus, dispelled myths related to HIV transmission, and included messages aiming to promote HIV testing and reduce risky sex."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[CORRECTED] Few young Nigerians had recently tested for HIV | Source says: "12 percent of adults and older adolescents aged 15 to 49 had been tested for HIV in the past year"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Young characters made the choices familiar | Source says: "Researchers suggest that participants’ ability to identify with the characters and engage with the plot could explain why Shuga had a greater impact" | https://www.povertyactionlab.org/case-study/improving-youth-sexual-health-through-educational-entertainment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[CORRECTED] The Nigerian season built HIV testing and stigma into its main characters’ stories. | Source says: "the main female character receives the results of her HIV test and the nurse tells her that she cannot consider herself free from risk until she takes a second test" | https://www.nber.org/system/files/working_papers/w26096/w26096.pdf p. 24 (fn. 19)</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Eight 22-minute episodes starred prominent Nigerian actors and musicians. | Source says: "The series consists of eight 22-minute episodes ... features prominent Nigerian actors and music, making it very appealing for the local public." | https://www.nber.org/system/files/working_papers/w26096/w26096.pdf p. 13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[SOFTENED] After the study, writers were urged to put key messages in main plots, not side plots. | Source says: "writers of future seasons were encouraged to make the educational content central to the main plot" | https://www.povertyactionlab.org/case-study/improving-youth-sexual-health-through-educational-entertainment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Young adults assigned to watch were more likely to get an HIV test; fewer women tested positive for chlamydia. | Source says: "Viewers were also more likely to get tested for HIV and women were less likely to test positive for chlamydia"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80 Nigerian screening sites randomly assigned to Shuga or a non-health drama. | Source says: "Each screening site was randomly assigned to one of three groups"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[VERIFIED] STORY: The Nigerian season used eight short episodes about testing, stigma, and relationships. | Source says: "The MTV Staying Alive Foundation filmed the third season of Shuga in Nigeria in 2013, which featured eight 22-minute episodes. The episodes presented stories about the stigma"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[VERIFIED] CHARACTERS: Choices and consequences unfolded through young people viewers could recognize. | Source says: "It presents young Africans from various socioeconomic strata balancing bright futures with the negative consequences of high-risk behaviors." | https://www.nber.org/system/files/working_papers/w26096/w26096.pdf p. 13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[CORRECTED] TEST: Randomly assigned sites showed Shuga or Gidi Up, a youth drama with no health content. | Source says: "Participants attended two 90-minute weekend screenings of the television show Gidi Up, a show that followed characters of a similar demographic ... but did not contain any educational content."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[SOFTENED] REVISE: Later writers were urged to move health messages from side plots into main plots. | Source says: "writers of future seasons were encouraged to make the educational content central to the main plot" | https://www.povertyactionlab.org/case-study/improving-youth-sexual-health-through-educational-entertainment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[VERIFIED] The desired choice needs to matter to the main story, not just appear in the background. | Source says: "Seeing that educational messages presented in subplots did not affect viewers' behaviors, such as using condoms, writers of future seasons were encouraged to make the educational content central" | https://www.povertyactionlab.org/case-study/improving-youth-sexual-health-through-educational-entertainment</a:t>
            </a:r>
            <a:endParaRPr lang="en-US" sz="2000" b="0" u="none" strike="noStrike">
              <a:solidFill>
                <a:srgbClr val="000000"/>
              </a:solidFill>
              <a:effectLst/>
              <a:uFillTx/>
              <a:latin typeface="Arial"/>
            </a:endParaRPr>
          </a:p>
        </p:txBody>
      </p:sp>
      <p:sp>
        <p:nvSpPr>
          <p:cNvPr id="1917" name="PlaceHolder 3"/>
          <p:cNvSpPr>
            <a:spLocks noGrp="1"/>
          </p:cNvSpPr>
          <p:nvPr>
            <p:ph type="sldNum" idx="10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8" name="PlaceHolder 1"/>
          <p:cNvSpPr>
            <a:spLocks noGrp="1"/>
          </p:cNvSpPr>
          <p:nvPr>
            <p:ph type="sldImg"/>
          </p:nvPr>
        </p:nvSpPr>
        <p:spPr>
          <a:xfrm>
            <a:off x="0" y="0"/>
            <a:ext cx="0" cy="0"/>
          </a:xfrm>
          <a:prstGeom prst="rect">
            <a:avLst/>
          </a:prstGeom>
          <a:ln w="0">
            <a:noFill/>
          </a:ln>
        </p:spPr>
      </p:sp>
      <p:sp>
        <p:nvSpPr>
          <p:cNvPr id="191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https://shuga.tv/</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https://www.povertyactionlab.org/case-study/improving-youth-sexual-health-through-educational-entertainment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https://www.nber.org/system/files/working_papers/w26096/w26096.pdf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https://www.povertyactionlab.org/evaluation/mtv-shuga-changing-social-norms-and-behaviors-entertainment-education-nigeria ; https://www.youtube.com/watch?v=cfgsbAN4J9I</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End card of the same episode: "please visit www.shuga.tv / In Nigeria, please call the NACA helpline, on 6222", with funder logos [file note: (frame 00:21:54, 1280x720)] (2013). Owner: MTV Staying Alive Foundation. Rights: copyrighted — fair use for commentary, criticism, and research. Found at: https://www.youtube.com/watch?v=cfgsbAN4J9I. File: https://www.youtube.com/watch?v=cfgsbAN4J9I</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2009 | Source says: "The MTV Staying Alive Foundation ... first premiered the television series Shuga in Kenya in 2009"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Kenya → wider Africa | Source says: "MTV produced three more seasons of Shuga in Nigeria, two in South Africa, and two in Côte d’Ivoire." | https://www.povertyactionlab.org/case-study/improving-youth-sexual-health-through-educational-entertainment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"The series was designed to raise awareness about HIV/AIDS and promote safe behavior among young people in Africa through entertaining drama"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mechanism [VERIFIED] Youth story and identification | Source says: "Researchers suggest that participants’ ability to identify with the characters and engage with the plot could explain why Shuga had a greater impact" | https://www.povertyactionlab.org/case-study/improving-youth-sexual-health-through-educational-entertainment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youth drama portrayed HIV testing, safer sex, and relationships through recognizable characters. | Source says: "The episodes presented stories about the stigma and discrimination associated with the virus, dispelled myths related to HIV transmission, and included messages aiming to promote HIV testing and reduce risky sex."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[CORRECTED] Few young Nigerians had recently tested for HIV | Source says: "12 percent of adults and older adolescents aged 15 to 49 had been tested for HIV in the past year"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Young characters made the choices familiar | Source says: "Researchers suggest that participants’ ability to identify with the characters and engage with the plot could explain why Shuga had a greater impact" | https://www.povertyactionlab.org/case-study/improving-youth-sexual-health-through-educational-entertainment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[CORRECTED] The Nigerian season built HIV testing and stigma into its main characters’ stories. | Source says: "the main female character receives the results of her HIV test and the nurse tells her that she cannot consider herself free from risk until she takes a second test" | https://www.nber.org/system/files/working_papers/w26096/w26096.pdf p. 24 (fn. 19)</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Eight 22-minute episodes starred prominent Nigerian actors and musicians. | Source says: "The series consists of eight 22-minute episodes ... features prominent Nigerian actors and music, making it very appealing for the local public." | https://www.nber.org/system/files/working_papers/w26096/w26096.pdf p. 13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[SOFTENED] After the study, writers were urged to put key messages in main plots, not side plots. | Source says: "writers of future seasons were encouraged to make the educational content central to the main plot" | https://www.povertyactionlab.org/case-study/improving-youth-sexual-health-through-educational-entertainment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[VERIFIED] Young adults assigned to watch were more likely to get an HIV test; fewer women tested positive for chlamydia. | Source says: "Viewers were also more likely to get tested for HIV and women were less likely to test positive for chlamydia"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80 Nigerian screening sites randomly assigned to Shuga or a non-health drama. | Source says: "Each screening site was randomly assigned to one of three groups"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[VERIFIED] STORY: The Nigerian season used eight short episodes about testing, stigma, and relationships. | Source says: "The MTV Staying Alive Foundation filmed the third season of Shuga in Nigeria in 2013, which featured eight 22-minute episodes. The episodes presented stories about the stigma"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[VERIFIED] CHARACTERS: Choices and consequences unfolded through young people viewers could recognize. | Source says: "It presents young Africans from various socioeconomic strata balancing bright futures with the negative consequences of high-risk behaviors." | https://www.nber.org/system/files/working_papers/w26096/w26096.pdf p. 13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[CORRECTED] TEST: Randomly assigned sites showed Shuga or Gidi Up, a youth drama with no health content. | Source says: "Participants attended two 90-minute weekend screenings of the television show Gidi Up, a show that followed characters of a similar demographic ... but did not contain any educational content." | https://www.povertyactionlab.org/evaluation/mtv-shuga-changing-social-norms-and-behaviors-entertainment-education-nigeria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[SOFTENED] REVISE: Later writers were urged to move health messages from side plots into main plots. | Source says: "writers of future seasons were encouraged to make the educational content central to the main plot" | https://www.povertyactionlab.org/case-study/improving-youth-sexual-health-through-educational-entertainment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[VERIFIED] The desired choice needs to matter to the main story, not just appear in the background. | Source says: "Seeing that educational messages presented in subplots did not affect viewers' behaviors, such as using condoms, writers of future seasons were encouraged to make the educational content central" | https://www.povertyactionlab.org/case-study/improving-youth-sexual-health-through-educational-entertainment</a:t>
            </a:r>
            <a:endParaRPr lang="en-US" sz="2000" b="0" u="none" strike="noStrike">
              <a:solidFill>
                <a:srgbClr val="000000"/>
              </a:solidFill>
              <a:effectLst/>
              <a:uFillTx/>
              <a:latin typeface="Arial"/>
            </a:endParaRPr>
          </a:p>
        </p:txBody>
      </p:sp>
      <p:sp>
        <p:nvSpPr>
          <p:cNvPr id="1920" name="PlaceHolder 3"/>
          <p:cNvSpPr>
            <a:spLocks noGrp="1"/>
          </p:cNvSpPr>
          <p:nvPr>
            <p:ph type="sldNum" idx="10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1" name="PlaceHolder 1"/>
          <p:cNvSpPr>
            <a:spLocks noGrp="1"/>
          </p:cNvSpPr>
          <p:nvPr>
            <p:ph type="sldImg"/>
          </p:nvPr>
        </p:nvSpPr>
        <p:spPr>
          <a:xfrm>
            <a:off x="0" y="0"/>
            <a:ext cx="0" cy="0"/>
          </a:xfrm>
          <a:prstGeom prst="rect">
            <a:avLst/>
          </a:prstGeom>
          <a:ln w="0">
            <a:noFill/>
          </a:ln>
        </p:spPr>
      </p:sp>
      <p:sp>
        <p:nvSpPr>
          <p:cNvPr id="192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https://www.populationmedia.org/projects/east-los-high</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https://utminers.utep.edu/asinghal/Reports/east%20los%20high%20transmedia%20edutainment%20to%20promote%20the%20sexual%20and%20reproductive.pdf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https://utminers.utep.edu/asinghal/Reports/east%20los%20high%20transmedia%20edutainment%20to%20promote%20the%20sexual%20and%20reproductive.pdf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https://pmc.ncbi.nlm.nih.gov/articles/PMC4880269/</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East Los High website, season 1: extended-scene video beside StayTeen.org "Need help finding a health center?" zip-code widget and resource links (AJPH Fig. 1, part b) [file note: (p. 1004, embedded image 720x576)] (2013 (site); published 2016). Owner: Wise Entertainment / Population Media Center site; figure in Wang &amp; Singhal, AJPH 2016. Rights: copyrighted — fair use for commentary, criticism, and research. Found at: https://utminers.utep.edu/asinghal/Reports/east%20los%20high%20transmedia%20edutainment%20to%20promote%20the%20sexual%20and%20reproductive.pdf. File: https://utminers.utep.edu/asinghal/Reports/east%20los%20high%20transmedia%20edutainment%20to%20promote%20the%20sexual%20and%20reproductive.pdf</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2013 | Source says: "We employed online analytics tracking (2013–2014), an online viewer survey (2013) ... for season 1 program evaluation." | https://utminers.utep.edu/asinghal/Reports/east%20los%20high%20transmedia%20edutainment%20to%20promote%20the%20sexual%20and%20reproductive.pdf p. 1002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"East Los High is a transmedia edutainment program aimed at young Latina/o Americans." | https://utminers.utep.edu/asinghal/Reports/east%20los%20high%20transmedia%20edutainment%20to%20promote%20the%20sexual%20and%20reproductive.pdf p. 1002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"It embeds educational messages in entertainment narratives across digital platforms to promote sexual and reproductive health." | https://utminers.utep.edu/asinghal/Reports/east%20los%20high%20transmedia%20edutainment%20to%20promote%20the%20sexual%20and%20reproductive.pdf p. 1002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mechanism [VERIFIED] Culturally specific drama | Source says: "Culturally sensitive transmedia edutainment programs are a promising health promotion strategy for minority populations" | https://utminers.utep.edu/asinghal/Reports/east%20los%20high%20transmedia%20edutainment%20to%20promote%20the%20sexual%20and%20reproductive.pdf p. 1002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teen drama integrated reproductive health choices into a story aimed at Latino youth. | Source says: "East Los High is a transmedia edutainment program aimed at young Latina/o Americans. It embeds educational messages in entertainment narratives" | https://utminers.utep.edu/asinghal/Reports/east%20los%20high%20transmedia%20edutainment%20to%20promote%20the%20sexual%20and%20reproductive.pdf p. 1002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[SOFTENED] Few sexual-health programs spoke to Latino teens | Source says: "Current interventions are targeted predominantly at African Americans and tied largely to school-based" | https://utminers.utep.edu/asinghal/Reports/east%20los%20high%20transmedia%20edutainment%20to%20promote%20the%20sexual%20and%20reproductive.pdf p. 1002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Teens could follow a character to real help | Source says: "From there, viewers could visit the East Los High resources page, use widgets to find local health clinics" | https://utminers.utep.edu/asinghal/Reports/east%20los%20high%20transmedia%20edutainment%20to%20promote%20the%20sexual%20and%20reproductive.pdf p. 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A 24-episode Hulu drama built a continuing teen story. | Source says: "East Los High, season 1 was a 24-episode original drama series on Hulu" | https://utminers.utep.edu/asinghal/Reports/east%20los%20high%20transmedia%20edutainment%20to%20promote%20the%20sexual%20and%20reproductive.pdf pp. 1002–1003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Character vlogs, extended scenes, and social media posts continued the plot online. | Source says: "Viewers could watch, for instance, an extended scene ... They could also access Ceci’s vlogs ... These transmedia extensions of East Los High were promoted on popular social networking sites" | https://utminers.utep.edu/asinghal/Reports/east%20los%20high%20transmedia%20edutainment%20to%20promote%20the%20sexual%20and%20reproductive.pdf p. 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The show site linked viewers to clinic-finding and other health resources. | Source says: "viewers could visit the East Los High resources page, use widgets to find local health clinics, and click on external links for additional information" | https://utminers.utep.edu/asinghal/Reports/east%20los%20high%20transmedia%20edutainment%20to%20promote%20the%20sexual%20and%20reproductive.pdf p. 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In a small lab test, the version with online extras raised condom knowledge most. Behavior change was not shown. | Source says: "one revealing result regarded knowledge of correct condom use: transmedia yielded significantly better outcomes than did other conditions over time" | https://utminers.utep.edu/asinghal/Reports/east%20los%20high%20transmedia%20edutainment%20to%20promote%20the%20sexual%20and%20reproductive.pdf p. 1008</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136 young Latinas randomly assigned to five formats; two-week follow-up. | Source says: "Of the 309, 136 completed the study. We randomly assigned them to 1 of 5 conditions." | https://utminers.utep.edu/asinghal/Reports/east%20los%20high%20transmedia%20edutainment%20to%20promote%20the%20sexual%20and%20reproductive.pdf p. 1005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[VERIFIED] STORY: A 24-episode Hulu season made teen health part of a continuing drama. | Source says: "East Los High, season 1 was a 24-episode original drama series on Hulu" | https://utminers.utep.edu/asinghal/Reports/east%20los%20high%20transmedia%20edutainment%20to%20promote%20the%20sexual%20and%20reproductive.pdf pp. 1002–1003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[VERIFIED] FOLLOW: Episode endings directed viewers to the show website. | Source says: "At the end of each episode, viewers were nudged to the East Los High Web site (eastloshigh.com)" | https://utminers.utep.edu/asinghal/Reports/east%20los%20high%20transmedia%20edutainment%20to%20promote%20the%20sexual%20and%20reproductive.pdf p. 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[CORRECTED] EXTEND: Character vlogs and extended scenes continued the fictional world online. | Source says: "Viewers could access 6 of Ceci’s vlogs, which were linked to different episodes as the major storyline unfolded in the online drama." | https://utminers.utep.edu/asinghal/Reports/east%20los%20high%20transmedia%20edutainment%20to%20promote%20the%20sexual%20and%20reproductive.pdf p. 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[VERIFIED] ACT: The site linked viewers to information and tools for finding health services. | Source says: "viewers could visit the East Los High resources page, use widgets to find local health clinics, and click on external links" | https://utminers.utep.edu/asinghal/Reports/east%20los%20high%20transmedia%20edutainment%20to%20promote%20the%20sexual%20and%20reproductive.pdf p. 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[SOFTENED] A companion site can route interest in a character to real clinic-finding tools. | Source says: "Planned Parenthood reported that during season 1, 22% of their total widget visits (n = 26 414) were accessed through the East Los High Web site." | https://utminers.utep.edu/asinghal/Reports/east%20los%20high%20transmedia%20edutainment%20to%20promote%20the%20sexual%20and%20reproductive.pdf p. 1005</a:t>
            </a:r>
            <a:endParaRPr lang="en-US" sz="2000" b="0" u="none" strike="noStrike">
              <a:solidFill>
                <a:srgbClr val="000000"/>
              </a:solidFill>
              <a:effectLst/>
              <a:uFillTx/>
              <a:latin typeface="Arial"/>
            </a:endParaRPr>
          </a:p>
        </p:txBody>
      </p:sp>
      <p:sp>
        <p:nvSpPr>
          <p:cNvPr id="1923" name="PlaceHolder 3"/>
          <p:cNvSpPr>
            <a:spLocks noGrp="1"/>
          </p:cNvSpPr>
          <p:nvPr>
            <p:ph type="sldNum" idx="11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4" name="PlaceHolder 1"/>
          <p:cNvSpPr>
            <a:spLocks noGrp="1"/>
          </p:cNvSpPr>
          <p:nvPr>
            <p:ph type="sldImg"/>
          </p:nvPr>
        </p:nvSpPr>
        <p:spPr>
          <a:xfrm>
            <a:off x="0" y="0"/>
            <a:ext cx="0" cy="0"/>
          </a:xfrm>
          <a:prstGeom prst="rect">
            <a:avLst/>
          </a:prstGeom>
          <a:ln w="0">
            <a:noFill/>
          </a:ln>
        </p:spPr>
      </p:sp>
      <p:sp>
        <p:nvSpPr>
          <p:cNvPr id="192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https://www.populationmedia.org/projects/east-los-high</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https://utminers.utep.edu/asinghal/Reports/east%20los%20high%20transmedia%20edutainment%20to%20promote%20the%20sexual%20and%20reproductive.pdf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https://utminers.utep.edu/asinghal/Reports/east%20los%20high%20transmedia%20edutainment%20to%20promote%20the%20sexual%20and%20reproductive.pdf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https://pmc.ncbi.nlm.nih.gov/articles/PMC4880269/</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East Los High website home page, season 1 ("Watch the whole scandalous series for free", Planned Parenthood: The Check) (AJPH Fig. 1, part a) [file note: (p. 1004, embedded image 636x576)] (2013). Owner: Wise Entertainment / Population Media Center; figure in AJPH 2016. Rights: copyrighted — fair use for commentary, criticism, and research. Found at: https://utminers.utep.edu/asinghal/Reports/east%20los%20high%20transmedia%20edutainment%20to%20promote%20the%20sexual%20and%20reproductive.pdf. File: https://utminers.utep.edu/asinghal/Reports/east%20los%20high%20transmedia%20edutainment%20to%20promote%20the%20sexual%20and%20reproductive.pdf</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2013 | Source says: "We employed online analytics tracking (2013–2014), an online viewer survey (2013) ... for season 1 program evaluation." | https://utminers.utep.edu/asinghal/Reports/east%20los%20high%20transmedia%20edutainment%20to%20promote%20the%20sexual%20and%20reproductive.pdf p. 1002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United States | Source says: "East Los High is a transmedia edutainment program aimed at young Latina/o Americans." | https://utminers.utep.edu/asinghal/Reports/east%20los%20high%20transmedia%20edutainment%20to%20promote%20the%20sexual%20and%20reproductive.pdf p. 1002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"It embeds educational messages in entertainment narratives across digital platforms to promote sexual and reproductive health." | https://utminers.utep.edu/asinghal/Reports/east%20los%20high%20transmedia%20edutainment%20to%20promote%20the%20sexual%20and%20reproductive.pdf p. 1002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mechanism [VERIFIED] Culturally specific drama | Source says: "Culturally sensitive transmedia edutainment programs are a promising health promotion strategy for minority populations" | https://utminers.utep.edu/asinghal/Reports/east%20los%20high%20transmedia%20edutainment%20to%20promote%20the%20sexual%20and%20reproductive.pdf p. 1002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teen drama integrated reproductive health choices into a story aimed at Latino youth. | Source says: "East Los High is a transmedia edutainment program aimed at young Latina/o Americans. It embeds educational messages in entertainment narratives" | https://utminers.utep.edu/asinghal/Reports/east%20los%20high%20transmedia%20edutainment%20to%20promote%20the%20sexual%20and%20reproductive.pdf p. 1002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[SOFTENED] Few sexual-health programs spoke to Latino teens | Source says: "Current interventions are targeted predominantly at African Americans and tied largely to school-based" | https://utminers.utep.edu/asinghal/Reports/east%20los%20high%20transmedia%20edutainment%20to%20promote%20the%20sexual%20and%20reproductive.pdf p. 1002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Teens could follow a character to real help | Source says: "From there, viewers could visit the East Los High resources page, use widgets to find local health clinics" | https://utminers.utep.edu/asinghal/Reports/east%20los%20high%20transmedia%20edutainment%20to%20promote%20the%20sexual%20and%20reproductive.pdf p. 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A 24-episode Hulu drama built a continuing teen story. | Source says: "East Los High, season 1 was a 24-episode original drama series on Hulu" | https://utminers.utep.edu/asinghal/Reports/east%20los%20high%20transmedia%20edutainment%20to%20promote%20the%20sexual%20and%20reproductive.pdf pp. 1002–1003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Character vlogs, extended scenes, and social media posts continued the plot online. | Source says: "Viewers could watch, for instance, an extended scene ... They could also access Ceci’s vlogs ... These transmedia extensions of East Los High were promoted on popular social networking sites" | https://utminers.utep.edu/asinghal/Reports/east%20los%20high%20transmedia%20edutainment%20to%20promote%20the%20sexual%20and%20reproductive.pdf p. 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The show site linked viewers to clinic-finding and other health resources. | Source says: "viewers could visit the East Los High resources page, use widgets to find local health clinics, and click on external links for additional information" | https://utminers.utep.edu/asinghal/Reports/east%20los%20high%20transmedia%20edutainment%20to%20promote%20the%20sexual%20and%20reproductive.pdf p. 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In a small lab test, the version with online extras raised condom knowledge most. Behavior change was not shown. | Source says: "one revealing result regarded knowledge of correct condom use: transmedia yielded significantly better outcomes than did other conditions over time" | https://utminers.utep.edu/asinghal/Reports/east%20los%20high%20transmedia%20edutainment%20to%20promote%20the%20sexual%20and%20reproductive.pdf p. 1008</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136 young Latinas randomly assigned to five formats; two-week follow-up. | Source says: "Of the 309, 136 completed the study. We randomly assigned them to 1 of 5 conditions." | https://utminers.utep.edu/asinghal/Reports/east%20los%20high%20transmedia%20edutainment%20to%20promote%20the%20sexual%20and%20reproductive.pdf p. 1005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deepDive.chain[0] [VERIFIED] STORY: A 24-episode Hulu season made teen health part of a continuing drama. | Source says: "East Los High, season 1 was a 24-episode original drama series on Hulu" | https://utminers.utep.edu/asinghal/Reports/east%20los%20high%20transmedia%20edutainment%20to%20promote%20the%20sexual%20and%20reproductive.pdf pp. 1002–1003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deepDive.chain[1] [VERIFIED] FOLLOW: Episode endings directed viewers to the show website. | Source says: "At the end of each episode, viewers were nudged to the East Los High Web site (eastloshigh.com)" | https://utminers.utep.edu/asinghal/Reports/east%20los%20high%20transmedia%20edutainment%20to%20promote%20the%20sexual%20and%20reproductive.pdf p. 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deepDive.chain[2] [CORRECTED] EXTEND: Character vlogs and extended scenes continued the fictional world online. | Source says: "Viewers could access 6 of Ceci’s vlogs, which were linked to different episodes as the major storyline unfolded in the online drama." | https://utminers.utep.edu/asinghal/Reports/east%20los%20high%20transmedia%20edutainment%20to%20promote%20the%20sexual%20and%20reproductive.pdf p. 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deepDive.chain[3] [VERIFIED] ACT: The site linked viewers to information and tools for finding health services. | Source says: "viewers could visit the East Los High resources page, use widgets to find local health clinics, and click on external links" | https://utminers.utep.edu/asinghal/Reports/east%20los%20high%20transmedia%20edutainment%20to%20promote%20the%20sexual%20and%20reproductive.pdf p. 1003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deepDive.lesson [SOFTENED] A companion site can route interest in a character to real clinic-finding tools. | Source says: "Planned Parenthood reported that during season 1, 22% of their total widget visits (n = 26 414) were accessed through the East Los High Web site." | https://utminers.utep.edu/asinghal/Reports/east%20los%20high%20transmedia%20edutainment%20to%20promote%20the%20sexual%20and%20reproductive.pdf p. 1005</a:t>
            </a:r>
            <a:endParaRPr lang="en-US" sz="2000" b="0" u="none" strike="noStrike">
              <a:solidFill>
                <a:srgbClr val="000000"/>
              </a:solidFill>
              <a:effectLst/>
              <a:uFillTx/>
              <a:latin typeface="Arial"/>
            </a:endParaRPr>
          </a:p>
        </p:txBody>
      </p:sp>
      <p:sp>
        <p:nvSpPr>
          <p:cNvPr id="1926" name="PlaceHolder 3"/>
          <p:cNvSpPr>
            <a:spLocks noGrp="1"/>
          </p:cNvSpPr>
          <p:nvPr>
            <p:ph type="sldNum" idx="11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7" name="PlaceHolder 1"/>
          <p:cNvSpPr>
            <a:spLocks noGrp="1"/>
          </p:cNvSpPr>
          <p:nvPr>
            <p:ph type="sldImg"/>
          </p:nvPr>
        </p:nvSpPr>
        <p:spPr>
          <a:xfrm>
            <a:off x="0" y="0"/>
            <a:ext cx="0" cy="0"/>
          </a:xfrm>
          <a:prstGeom prst="rect">
            <a:avLst/>
          </a:prstGeom>
          <a:ln w="0">
            <a:noFill/>
          </a:ln>
        </p:spPr>
      </p:sp>
      <p:sp>
        <p:nvSpPr>
          <p:cNvPr id="192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https://www.populationfoundation.in/projects/mkbksh/</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https://www.buffalo.edu/content/dam/cas/communication/files/Wang/WangSinghal2018_MKBKSH_JMD.pdf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https://mkbksh.in/wp-content/uploads/2025/05/86e11a7c-6681-4e9a-ae0f-a1c7870fa591.pdf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https://mkbksh.in/evaluation-report/ ; https://www.youtube.com/watch?v=-Yaq_dW0Xdc</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Season 1, Episode 1: Dr. Sneha Mathur (Meinal Vaishnav) with a nurse at her city hospital, before returning to the village; frame at 6:24 [file note: (frame 00:06:24, 1920x1080)] (2014). Owner: Population Foundation of India (official MKBKSH YouTube channel). Rights: copyrighted — fair use for commentary, criticism, and research. Found at: https://www.youtube.com/watch?v=-Yaq_dW0Xdc. File: https://www.youtube.com/watch?v=-Yaq_dW0Xdc</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2014 | Source says: "MKBKSH is an ongoing entertainment-education (EE) initiative launched in India on March 8, 2014 (International Women’s Day) by the Population Foundation of India" | https://www.buffalo.edu/content/dam/cas/communication/files/Wang/WangSinghal2018_MKBKSH_JMD.pdf p. 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India | Source says: "broadcast on India’ national network Doordarshan (DD-1)" | https://www.buffalo.edu/content/dam/cas/communication/files/Wang/WangSinghal2018_MKBKSH_JMD.pdf p. 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"a long-running melodramatic television and radio serial in India" | https://www.buffalo.edu/content/dam/cas/communication/files/Wang/WangSinghal2018_MKBKSH_JMD.pdf p. 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mechanism [CORRECTED] One story on TV, radio, and phone | Source says: "An adapted version of MKBKSH was broadcast as a radio drama serial on 216 All India Radio stations" | https://www.buffalo.edu/content/dam/cas/communication/files/Wang/WangSinghal2018_MKBKSH_JMD.pdf p. 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TV and radio drama centered a woman doctor challenging expectations about women’s health and their choices. | Source says: "MKBKSH’s protagonist is Sneha Mathur, a young doctor ... a long-running melodramatic television and radio serial in India, that challenges deep-seated, dominant patriarchal norms" | https://www.buffalo.edu/content/dam/cas/communication/files/Wang/WangSinghal2018_MKBKSH_JMD.pdf p. 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Women’s health choices were constrained by expectation | Source says: "challenges deep-seated, dominant patriarchal norms: self-selective abortion, preference for male child, repeated pregnancies, child marriage, domestic violence" | https://www.buffalo.edu/content/dam/cas/communication/files/Wang/WangSinghal2018_MKBKSH_JMD.pdf p. 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A trusted character could challenge them | Source says: "MKBKSH’s narrative thread was carried on the shoulders of the personable Sneha Mathur" | https://www.buffalo.edu/content/dam/cas/communication/files/Wang/WangSinghal2018_MKBKSH_JMD.pdf p. 3</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Dr. Sneha returned to her village as a recurring woman doctor. | Source says: "Sneha Mathur, a young doctor who returns to her home village of Pratappur leaving behind a lucrative medical practice in the city" | https://www.buffalo.edu/content/dam/cas/communication/files/Wang/WangSinghal2018_MKBKSH_JMD.pdf p. 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Doordarshan aired it on TV; an adapted radio version ran on 216 All India Radio stations. | Source says: "An adapted version of MKBKSH was broadcast as a radio drama serial on 216 All India Radio stations ... also made available through Mobile Vaani networks and community radio stations" | https://www.buffalo.edu/content/dam/cas/communication/files/Wang/WangSinghal2018_MKBKSH_JMD.pdf p. 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[CORRECTED] A toll-free missed-call line let viewers hear content and record their own responses. | Source says: "A toll-free number was advertised during the MKBKSH broadcast that audience members could give a ‘missed’ call to receive a free callback ... Callers could provide feedback by pressing numeric keys and recording voice messages." | https://www.buffalo.edu/content/dam/cas/communication/files/Wang/WangSinghal2018_MKBKSH_JMD.pdf p. 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Seasons 1–2 drew 1.7 million calls. In a 2019 village study, viewers’ toilet ownership rose 16 points; non-viewers’ 3.5, not significantly. | Source says: "significant increase of 16.0 per cent in toilet ownership among the viewers (71.8 per cent at T1, 87.8 per cent at both T2 and T3 ...) but no significant change in toilet ownership among the non-viewers (61.5 per cent at T1, 62.4 per cent at T2, and 65.0 per cent at T3 ... p = .853)" | https://mkbksh.in/wp-content/uploads/2025/05/86e11a7c-6681-4e9a-ae0f-a1c7870fa591.pdf p. 8</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13 viewer vs. 10 non-viewer villages, not randomized; baselines differed. | Source says: "13 representative villages were identified in Kanpur Dehat district to establish the viewer group and 10 villages for the non-viewer group" | https://mkbksh.in/wp-content/uploads/2025/05/86e11a7c-6681-4e9a-ae0f-a1c7870fa591.pdf p. 5</a:t>
            </a:r>
            <a:endParaRPr lang="en-US" sz="2000" b="0" u="none" strike="noStrike">
              <a:solidFill>
                <a:srgbClr val="000000"/>
              </a:solidFill>
              <a:effectLst/>
              <a:uFillTx/>
              <a:latin typeface="Arial"/>
            </a:endParaRPr>
          </a:p>
        </p:txBody>
      </p:sp>
      <p:sp>
        <p:nvSpPr>
          <p:cNvPr id="1929" name="PlaceHolder 3"/>
          <p:cNvSpPr>
            <a:spLocks noGrp="1"/>
          </p:cNvSpPr>
          <p:nvPr>
            <p:ph type="sldNum" idx="11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0" name="PlaceHolder 1"/>
          <p:cNvSpPr>
            <a:spLocks noGrp="1"/>
          </p:cNvSpPr>
          <p:nvPr>
            <p:ph type="sldImg"/>
          </p:nvPr>
        </p:nvSpPr>
        <p:spPr>
          <a:xfrm>
            <a:off x="0" y="0"/>
            <a:ext cx="0" cy="0"/>
          </a:xfrm>
          <a:prstGeom prst="rect">
            <a:avLst/>
          </a:prstGeom>
          <a:ln w="0">
            <a:noFill/>
          </a:ln>
        </p:spPr>
      </p:sp>
      <p:sp>
        <p:nvSpPr>
          <p:cNvPr id="193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https://www.unicef.org/mozambique/comunicados-de-imprensa/ouro-negro-ao-vivo-promove-os-direitos-das-crian%C3%A7as-e-adolescentes-em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https://shortyawards.com/12th/using-storytelling-to-spark-social-change-in-mozambique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https://library.oapen.org/rest/bitstreams/49d1e49d-fc71-4f28-9fe8-5b8604a5040d/retrieve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https://link.springer.com/chapter/10.1007/978-3-030-63614-2_11 ; https://soundcloud.com/mediaimpact/sets/ouro-negro-season-1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Ouro Negro series logo/cover art (radio-set wordmark) used on PCI Media's 'Ouro Negro Season 1' episode playlist (c. 2016 (playlist created 2016-03-08)). Owner: PCI Media Impact / UNICEF Mozambique / Rádio Moçambique. Rights: Copyrighted — fair use for commentary, criticism, and research. Found at: https://soundcloud.com/mediaimpact/sets/ouro-negro-season-1. File: https://i1.sndcdn.com/artworks-000150121797-ho0ls1-original.jpg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2015 | Source says: "No ar desde o dia 7 de Julho de 2015, Ouro Negro tem produzido 254 episódios" | https://www.unicef.org/mozambique/comunicados-de-imprensa/ouro-negro-ao-vivo-promove-os-direitos-das-crian%C3%A7as-e-adolescentes-em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Mozambique | Source says: "Ouro Negro (Black Gold) is a radio program in Mozambique that began broadcasting across the country in 2015" | https://library.oapen.org/rest/bitstreams/49d1e49d-fc71-4f28-9fe8-5b8604a5040d/retrieve p. 182 (PDF p. 196)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"Ouro Negro é a mais popular radionovela de longa duração em Moçambique." | https://www.unicef.org/mozambique/comunicados-de-imprensa/ouro-negro-ao-vivo-promove-os-direitos-das-crian%C3%A7as-e-adolescentes-em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[CORRECTED] A long-running radio serial, with call-in shows and theater, took on child marriage, health, and nutrition. | Source says: "temáticas ... saúde, prevenção do HIV, educação, nutrição, casamento prematuro, água e saneamento, entre outros." | https://www.unicef.org/mozambique/comunicados-de-imprensa/ouro-negro-ao-vivo-promove-os-direitos-das-crian%C3%A7as-e-adolescentes-em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Child marriage could go undiscussed | Source says: "live, weekly call-in show ... to reach and hear from rural, often illiterate Mozambicans who have very limited access to information in their own languages." | https://shortyawards.com/12th/using-storytelling-to-spark-social-change-in-mozambique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Listeners could question it together | Source says: "The program is interactive, featuring real-life stories of positive deviance, giving participants the opportunity to become role models in their communities." | https://shortyawards.com/12th/using-storytelling-to-spark-social-change-in-mozambique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A continuing national radio drama created characters and repeated exposure. | Source says: "New episodes are broadcast nationally twice a week in Portuguese ... The creative team designed the characters to be similar to members of the audience" | https://library.oapen.org/rest/bitstreams/49d1e49d-fc71-4f28-9fe8-5b8604a5040d/retrieve p. 182 (PDF p. 196)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Live local-language call-in shows invited questions and public conversation. | Source says: "36 stations co-produce Ouro Negro au Vivo (Ouro Negro Live), a live, weekly call-in show in 21 local Mozambican languages." | https://shortyawards.com/12th/using-storytelling-to-spark-social-change-in-mozambique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[CORRECTED] Community theater in local languages took the stories to live audiences. | Source says: "teatro comunitário em línguas moçambicanas (Ouro Negro em Palco)" | https://www.unicef.org/mozambique/comunicados-de-imprensa/ouro-negro-ao-vivo-promove-os-direitos-das-crian%C3%A7as-e-adolescentes-em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After one year, only 206 of 1,910 panel respondents had listened, limiting what the study could show. | Source says: "only 206 of 1910 participants at endline listened to Ouro Negro ... What we found after one year of broadcast, however, were low levels of exposure and engagement." | https://library.oapen.org/rest/bitstreams/49d1e49d-fc71-4f28-9fe8-5b8604a5040d/retrieve pp. 183–184 (PDF pp. 197–198)</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Pre/post panel survey of 1,910 women plus focus groups (first year). | Source says: "a population-based, longitudinal, single pre-test, single post-test panel design, and a focus group arm ... 1910 women aged 15–34" | https://library.oapen.org/rest/bitstreams/49d1e49d-fc71-4f28-9fe8-5b8604a5040d/retrieve pp. 182–183 (PDF pp. 196–197)</a:t>
            </a:r>
            <a:endParaRPr lang="en-US" sz="2000" b="0" u="none" strike="noStrike">
              <a:solidFill>
                <a:srgbClr val="000000"/>
              </a:solidFill>
              <a:effectLst/>
              <a:uFillTx/>
              <a:latin typeface="Arial"/>
            </a:endParaRPr>
          </a:p>
        </p:txBody>
      </p:sp>
      <p:sp>
        <p:nvSpPr>
          <p:cNvPr id="1932" name="PlaceHolder 3"/>
          <p:cNvSpPr>
            <a:spLocks noGrp="1"/>
          </p:cNvSpPr>
          <p:nvPr>
            <p:ph type="sldNum" idx="113"/>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3" name="PlaceHolder 1"/>
          <p:cNvSpPr>
            <a:spLocks noGrp="1"/>
          </p:cNvSpPr>
          <p:nvPr>
            <p:ph type="sldImg"/>
          </p:nvPr>
        </p:nvSpPr>
        <p:spPr>
          <a:xfrm>
            <a:off x="0" y="0"/>
            <a:ext cx="0" cy="0"/>
          </a:xfrm>
          <a:prstGeom prst="rect">
            <a:avLst/>
          </a:prstGeom>
          <a:ln w="0">
            <a:noFill/>
          </a:ln>
        </p:spPr>
      </p:sp>
      <p:sp>
        <p:nvSpPr>
          <p:cNvPr id="193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https://www.sportengland.org/funds-and-campaigns/this-girl-can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https://www.sportengland.org/media/14076/20150112-tgc-new-campaign-to-give-women-more-confidence-to-exercise.pdf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https://assets.publishing.service.gov.uk/media/5a7f5142ed915d74e6229bab/20160707__HC_419_Sport_England_ARA_2015-16_Web_Optimised.pdf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https://www.youtube.com/watch?v=jsP0W7-tEOc</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Frame from the original 60/90-sec 'This Girl Can' TV ad showing the 'Sweating like a pig' (feeling like a fox) line [file note: (frame at 0:33; max 854x374)] (January 2015 (upload 2015-01-23)). Owner: Sport England (uploaded by The National Lottery, campaign funder). Rights: Copyrighted — fair use for commentary, criticism, and research. Found at: https://www.youtube.com/watch?v=jsP0W7-tEOc. File: https://www.youtube.com/watch?v=jsP0W7-tEOc</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2015 | Source says: "Launched in January 2015, This Girl Can is our nationwide campaign to get women and girls moving, regardless of shape, size and ability." | https://www.sportengland.org/funds-and-campaigns/this-girl-can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England | Source says: "This represents 2.8 million women in England" | https://assets.publishing.service.gov.uk/media/5a7f5142ed915d74e6229bab/20160707__HC_419_Sport_England_ARA_2015-16_Web_Optimised.pdf p. 25 (PDF p. 29)</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PUBLIC CAMPAIGN | Source says: "A bold new campaign set to tackle head on the barriers that stop millions of women being more active has been launched today" | https://www.sportengland.org/media/14076/20150112-tgc-new-campaign-to-give-women-more-confidence-to-exercise.pdf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Portrayed ordinary women exercising to reduce fear of judgment and broaden the image of who belongs in sport. | Source says: "the first of its kind to feature women of all shapes, sizes and sporting abilities that sweat and jiggle as they exercise." | https://www.sportengland.org/media/14076/20150112-tgc-new-campaign-to-give-women-more-confidence-to-exercise.pdf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Fear of judgment held women back from activity | Source says: "a fear of judgement - on appearance, ability or how they chose to spend time on themselves - puts women of all ages off exercising." | https://www.sportengland.org/media/14076/20150112-tgc-new-campaign-to-give-women-more-confidence-to-exercise.pdf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Women could move without looking a certain way | Source says: "The campaign celebrates active women who are doing their thing no matter how they look, how well they do it or how sweaty they get." | https://www.sportengland.org/funds-and-campaigns/this-girl-can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Research identified fear of judgment as the key barrier. | Source says: "Fear of judgement is the primary barrier for women." | https://www.sportengland.org/media/14076/20150112-tgc-new-campaign-to-give-women-more-confidence-to-exercise.pdf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Ads showed real women sweating and moving at different ability levels. | Source says: "This Girl Can celebrates real women and the reality of exercise for most: cellulite, sweat and jiggling." | https://assets.publishing.service.gov.uk/media/5a7f5142ed915d74e6229bab/20160707__HC_419_Sport_England_ARA_2015-16_Web_Optimised.pdf p. 24 (PDF p. 28)</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TV, cinema, outdoor ads, and social sharing made those images public. | Source says: "This Girl Can will use prime time TV advertising, billboards and cinema and shopping centre screens ... and use social media to start a debate" | https://www.sportengland.org/media/14076/20150112-tgc-new-campaign-to-give-women-more-confidence-to-exercise.pdf p. 1</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2.8 million women aged 14–40 who recognized the campaign said they did more activity as a result. | Source says: "2.8 MILLION 14–40-YEAR-OLD WOMEN WHO RECOGNISE THE CAMPAIGN SAY THEY HAVE DONE SOME OR MORE ACTIVITY AS A RESULT" | https://assets.publishing.service.gov.uk/media/5a7f5142ed915d74e6229bab/20160707__HC_419_Sport_England_ARA_2015-16_Web_Optimised.pdf p. 24 (PDF p. 28)</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TNS/BMRB survey self-reports scaled to England; no comparison group. | Source says: "Based on a quantitative survey by TNS/BMRB, 41% of 14–40-year-old women who recognise the campaign say they have done some or more activity as a result. This represents 2.8 million women" | https://assets.publishing.service.gov.uk/media/5a7f5142ed915d74e6229bab/20160707__HC_419_Sport_England_ARA_2015-16_Web_Optimised.pdf p. 25 (PDF p. 29)</a:t>
            </a:r>
            <a:endParaRPr lang="en-US" sz="2000" b="0" u="none" strike="noStrike">
              <a:solidFill>
                <a:srgbClr val="000000"/>
              </a:solidFill>
              <a:effectLst/>
              <a:uFillTx/>
              <a:latin typeface="Arial"/>
            </a:endParaRPr>
          </a:p>
        </p:txBody>
      </p:sp>
      <p:sp>
        <p:nvSpPr>
          <p:cNvPr id="1935" name="PlaceHolder 3"/>
          <p:cNvSpPr>
            <a:spLocks noGrp="1"/>
          </p:cNvSpPr>
          <p:nvPr>
            <p:ph type="sldNum" idx="11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6" name="PlaceHolder 1"/>
          <p:cNvSpPr>
            <a:spLocks noGrp="1"/>
          </p:cNvSpPr>
          <p:nvPr>
            <p:ph type="sldImg"/>
          </p:nvPr>
        </p:nvSpPr>
        <p:spPr>
          <a:xfrm>
            <a:off x="0" y="0"/>
            <a:ext cx="0" cy="0"/>
          </a:xfrm>
          <a:prstGeom prst="rect">
            <a:avLst/>
          </a:prstGeom>
          <a:ln w="0">
            <a:noFill/>
          </a:ln>
        </p:spPr>
      </p:sp>
      <p:sp>
        <p:nvSpPr>
          <p:cNvPr id="193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https://www.unicef.org/bangladesh/en/press-releases/adolescent-campaign-launched-positive-social-change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https://www.unicef.org/bangladesh/en/stories/tanzila-back-small-screen-kick-out-gender-inequality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https://www.unicef.org/bangladesh/en/stories/tanzila-back-small-screen-kick-out-gender-inequality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https://library.oapen.org/rest/bitstreams/49d1e49d-fc71-4f28-9fe8-5b8604a5040d/retrieve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Icchedana key art/poster with Bangla title, Tanzila holding a football, and team members (c. 2018–2022 (UNICEF photo ID UN0694922)). Owner: UNICEF / Asiatic MCL. Rights: Copyrighted (© UNICEF/UN0694922/Asiatic MCL) — fair use for commentary, criticism, and research. Found at: https://www.unicef.org/bangladesh/en/stories/tanzila-back-small-screen-kick-out-gender-inequality. File: https://www.unicef.org/bangladesh/sites/unicef.org.bangladesh/files/UN0694922.png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2018 | Source says: "Dhaka, 31 July, 2018 ... have launched a new evidence-based adolescent-focused 26-episode drama series – Icchedana (On the Wings of Wishes)" | https://www.unicef.org/bangladesh/en/press-releases/adolescent-campaign-launched-positive-social-change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Bangladesh | Source says: "portrays the lives of a group of Bangladeshi girls who face and overcome the challenges and risks of adolescence." | https://www.unicef.org/bangladesh/en/press-releases/adolescent-campaign-launched-positive-social-change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"The success of TV show Icchedana, featuring the fictional character Tanzila" | https://www.unicef.org/bangladesh/en/stories/tanzila-back-small-screen-kick-out-gender-inequality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girls’ football story portrayed resisting child marriage, staying in school, and gaining family support. | Source says: "Icchedana showcases how much girls can achieve with the support of their friends, families and communities." | https://www.unicef.org/bangladesh/en/stories/tanzila-back-small-screen-kick-out-gender-inequality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Girls’ sport and ambition faced family limits | Source says: "Tanzila and her friends in an all-girls football team question and overcome practices and harmful beliefs that lead to child marriage" | https://www.unicef.org/bangladesh/en/stories/tanzila-back-small-screen-kick-out-gender-inequality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Friends and families could back girls’ plans | Source says: "football becomes a platform for empowerment and for their families and communities to support positive behaviors." | https://www.unicef.org/bangladesh/en/stories/tanzila-back-small-screen-kick-out-gender-inequality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A 26-episode drama followed Tanzila and an all-girls football team. | Source says: "26-episode drama series – Icchedana ... / Tanzila and her friends in an all-girls football team" | https://www.unicef.org/bangladesh/en/press-releases/adolescent-campaign-launched-positive-social-change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[VERIFIED] Recurring conflicts made child marriage and school decisions concrete. | Source says: "She and her friends deal with mental health, menstrual hygiene ... school drop-out and the ever-looming threat of child marriage." | https://www.unicef.org/bangladesh/en/stories/tanzila-back-small-screen-kick-out-gender-inequality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[CORRECTED] Two ministries, UNICEF, and UNFPA launched it alongside other adolescent media programs. | Source says: "The Ministry of Women and Children Affairs and Ministry of Information with support of UNICEF and UNFPA as well as PCI Media Impact and Asiatic MCL have launched" | https://www.unicef.org/bangladesh/en/press-releases/adolescent-campaign-launched-positive-social-change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A survey after season one found viewers knew more about child marriage's harms; more boys and fathers discussed it. | Source says: "showed higher knowledge of the harmful consequences of child marriage ... also found that more boys and fathers discussed child marriage after watching the TV show." | https://www.unicef.org/bangladesh/en/stories/tanzila-back-small-screen-kick-out-gender-inequality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Pre/post panel survey; a weak baseline limits causal claims. | Source says: "The Icchedana evaluation included a pre and post design ... the baseline data did not ask questions on social norms in the same in-depth manner as the endline." | https://library.oapen.org/rest/bitstreams/49d1e49d-fc71-4f28-9fe8-5b8604a5040d/retrieve pp. 184–185 (PDF pp. 198–199)</a:t>
            </a:r>
            <a:endParaRPr lang="en-US" sz="2000" b="0" u="none" strike="noStrike">
              <a:solidFill>
                <a:srgbClr val="000000"/>
              </a:solidFill>
              <a:effectLst/>
              <a:uFillTx/>
              <a:latin typeface="Arial"/>
            </a:endParaRPr>
          </a:p>
        </p:txBody>
      </p:sp>
      <p:sp>
        <p:nvSpPr>
          <p:cNvPr id="1938" name="PlaceHolder 3"/>
          <p:cNvSpPr>
            <a:spLocks noGrp="1"/>
          </p:cNvSpPr>
          <p:nvPr>
            <p:ph type="sldNum" idx="11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9" name="PlaceHolder 1"/>
          <p:cNvSpPr>
            <a:spLocks noGrp="1"/>
          </p:cNvSpPr>
          <p:nvPr>
            <p:ph type="sldImg"/>
          </p:nvPr>
        </p:nvSpPr>
        <p:spPr>
          <a:xfrm>
            <a:off x="0" y="0"/>
            <a:ext cx="0" cy="0"/>
          </a:xfrm>
          <a:prstGeom prst="rect">
            <a:avLst/>
          </a:prstGeom>
          <a:ln w="0">
            <a:noFill/>
          </a:ln>
        </p:spPr>
      </p:sp>
      <p:sp>
        <p:nvSpPr>
          <p:cNvPr id="194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https://www.populationmedia.org/projects/vencer-el-miedo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https://pmc.ncbi.nlm.nih.gov/articles/PMC9757626/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https://doi.org/10.1186/s12889-022-14853-8</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Vencer el Miedo production still: four lead women characters (family) in front of a pink house (2019–2020). Owner: Televisa / Population Media Center. Rights: Copyrighted — fair use for commentary, criticism, and research. Found at: https://www.populationmedia.org/projects/vencer-el-miedo. File: https://e1.nmcdn.io/pmc2026/wp-content/uploads/1970/01/Project_VEM_Masthead.jpg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2020 | Source says: "OTF aired January 20 through March 22, 2020, on Grupo Televisa's Canal de las Estrellas" | https://pmc.ncbi.nlm.nih.gov/articles/PMC9757626/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Mexico | Source says: "reaching on average 3.5 million nightly viewers" | https://pmc.ncbi.nlm.nih.gov/articles/PMC9757626/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"a 47-episode telenovela that incorporates transitional characters in tailored storylines." | https://pmc.ncbi.nlm.nih.gov/articles/PMC9757626/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TV drama showed families talking about birth control and adolescent sexual health. | Source says: "These characters were designed to model behaviors for parents and adolescents to address unplanned pregnancies among youth in Mexico." | https://pmc.ncbi.nlm.nih.gov/articles/PMC9757626/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Parents and teens avoided sexual-health talks | Source says: "her father, Lorenzo, does not know how to talk to her about SRH issues." | https://pmc.ncbi.nlm.nih.gov/articles/PMC9757626/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They could speak and seek advice | Source says: "Ultimately, with Lorenzo's support, Areli goes to a clinic to get information about contraceptives." | https://pmc.ncbi.nlm.nih.gov/articles/PMC9757626/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[VERIFIED] A 47-episode drama showed teens and parents reconsidering choices. | Source says: "a transitional character ... ultimately enacts a desired behavior ... but only after wavering between decisions to enact or forgo the desired behavior." | https://pmc.ncbi.nlm.nih.gov/articles/PMC9757626/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[CORRECTED] A technical advisory group checked the scripts for medical accuracy. | Source says: "A technical advisory group was also established to check the accuracy of medical and reproductive health information in the scripts" | https://pmc.ncbi.nlm.nih.gov/articles/PMC9757626/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A cast message after each episode gave a counseling hotline number. | Source says: "At the conclusion of each episode, a 20-second epilogue was delivered by cast members with a message about SRH followed by the OrientaSex hotline telephone number." | https://pmc.ncbi.nlm.nih.gov/articles/PMC9757626/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Teen viewers more often reported non-condom and dual contraception; parent viewers talked more with teens about sex. | Source says: "adolescent viewers were more likely ... to use contraception other than condoms (p = .027) and dual contraception (p = .042) ... parent viewers were more likely to have talked with adolescent children about sexual relations" | https://pmc.ncbi.nlm.nih.gov/articles/PMC9757626/</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Cross-sectional survey of viewers vs. nonviewers; cannot show causation. | Source says: "The surveys were cross-sectional, which inhibits our ability to infer a causal relationship between intended outcomes and exposure to OTF." | https://pmc.ncbi.nlm.nih.gov/articles/PMC9757626/</a:t>
            </a:r>
            <a:endParaRPr lang="en-US" sz="2000" b="0" u="none" strike="noStrike">
              <a:solidFill>
                <a:srgbClr val="000000"/>
              </a:solidFill>
              <a:effectLst/>
              <a:uFillTx/>
              <a:latin typeface="Arial"/>
            </a:endParaRPr>
          </a:p>
        </p:txBody>
      </p:sp>
      <p:sp>
        <p:nvSpPr>
          <p:cNvPr id="1941" name="PlaceHolder 3"/>
          <p:cNvSpPr>
            <a:spLocks noGrp="1"/>
          </p:cNvSpPr>
          <p:nvPr>
            <p:ph type="sldNum" idx="11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2" name="PlaceHolder 1"/>
          <p:cNvSpPr>
            <a:spLocks noGrp="1"/>
          </p:cNvSpPr>
          <p:nvPr>
            <p:ph type="sldImg"/>
          </p:nvPr>
        </p:nvSpPr>
        <p:spPr>
          <a:xfrm>
            <a:off x="0" y="0"/>
            <a:ext cx="0" cy="0"/>
          </a:xfrm>
          <a:prstGeom prst="rect">
            <a:avLst/>
          </a:prstGeom>
          <a:ln w="0">
            <a:noFill/>
          </a:ln>
        </p:spPr>
      </p:sp>
      <p:sp>
        <p:nvSpPr>
          <p:cNvPr id="194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Campaign source: https://www.unicef.org/nepal/stories/rope-guna-fal-informative-and-enjoyable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Execution source: https://www.populationmedia.org/newsroom/new-data-in-nepal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Outcome source: https://e1.nmcdn.io/assets/pmc/wp-content/uploads/2024/04/PMC-NPL-RGF-Final-Assessment-Report_April-2023-2.pdf</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Other sources: https://www.populationmedia.org/the-latest/broadcast-to-begin-in-nepal-a-new-project-with-unicef-and-the-kendeda-fund</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PMC-supported season aired in 2021–2022; the series began earlier.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Image: Rope Guna Fal voice actors recording at microphones with scripts (file 'RoGF-studio-web.jpg') (c. 2021–2022). Owner: Population Media Center. Rights: Copyrighted — fair use for commentary, criticism, and research. Found at: https://www.populationmedia.org/newsroom/new-data-in-nepal. File: https://www.populationmedia.org/wp-content/uploads/imported-files/RoGF-studio-web.jpg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Fact-check ledger (checked 2026-09-25; each claim with its supporting passage):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year [VERIFIED] 2021–22 | Source says: "The 104-episode RSD was broadcast throughout Nepal (with a focus on Karnali, Lumbini, and Sudur Paschim provinces) from September 2021 to September 2022." | https://e1.nmcdn.io/assets/pmc/wp-content/uploads/2024/04/PMC-NPL-RGF-Final-Assessment-Report_April-2023-2.pdf p. 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place [VERIFIED] Nepal | Source says: "broadcast nationally across Nepal from September 2021 to September 2022" | https://www.populationmedia.org/newsroom/new-data-in-nepal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type [VERIFIED] STORY | Source says: "Rope Guna Fal (“You Reap What You Sow”) was a 104-episode radio drama" | https://www.populationmedia.org/newsroom/new-data-in-nepal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one [VERIFIED] A radio drama addressed child marriage and parenting expectations. | Source says: "Rope Guna Fal tackled social, behavioral, and normative change in three broad themes: Parenting Education, Child Marriage, Adolescent Sexual and Reproductive Health" | https://e1.nmcdn.io/assets/pmc/wp-content/uploads/2024/04/PMC-NPL-RGF-Final-Assessment-Report_April-2023-2.pdf p. 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note [VERIFIED] The PMC-supported season aired in 2021–2022; the series began earlier. | Source says: "Deepak Regmi has been listening into the radio drama Rope Guna Fal since it first came out in November of 2019 ... The series entered its second season in September 2021, this time with ... the Population Media Center" | https://www.unicef.org/nepal/stories/rope-guna-fal-informative-and-enjoyable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shift[0] [VERIFIED] Child marriage felt like a family default | Source says: "These are beliefs woven into family structures, religious traditions, and community identity. They resist change precisely because they feel like truths rather than choices." | https://www.populationmedia.org/newsroom/new-data-in-nepal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shift[1] [VERIFIED] Families could question and stop it | Source says: "an estimated 54,000 people intending to stop child marriage in their family and community." | https://www.populationmedia.org/newsroom/new-data-in-nepal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steps[0] [CORRECTED] PMC-trained local writers built characters who change across 104 radio episodes. | Source says: "PMC again selecting and training writers, facilitating storylines, mentoring the production team" | https://www.populationmedia.org/newsroom/new-data-in-nepal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steps[1] [REMOVED] Radio Nepal, 100+ local stations, and an offline phone line carried episodes. | Source says: "Rope Guna Fal is aired every Monday and Thursday through Radio Nepal and over 100 local radio stations." | https://www.unicef.org/nepal/stories/rope-guna-fal-informative-and-enjoyable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steps[2] [VERIFIED] The national series ran for a year, with attention to three target provinces. | Source says: "broadcast throughout Nepal (with a focus on Karnali, Lumbini, and Sudur Paschim provinces) from September 2021 to September 2022." | https://e1.nmcdn.io/assets/pmc/wp-content/uploads/2024/04/PMC-NPL-RGF-Final-Assessment-Report_April-2023-2.pdf p. 2</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finding [CORRECTED] Listeners had about 3.8 times the odds of nonlisteners of reporting action against child marriage. | Source says: "Listeners were nearly 4 times more likely than non-listeners to report that they have taken actions to discourage child marriage (aOR = 3.82, 95% CI [2.07, 7.06])." | https://e1.nmcdn.io/assets/pmc/wp-content/uploads/2024/04/PMC-NPL-RGF-Final-Assessment-Report_April-2023-2.pdf p. 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basis [CORRECTED] Cross-sectional survey; only 44 of 2,083 respondents were listeners. | Source says: "Listeners (n=44) Non-Listeners (n=2,039)" | https://e1.nmcdn.io/assets/pmc/wp-content/uploads/2024/04/PMC-NPL-RGF-Final-Assessment-Report_April-2023-2.pdf p. 17</a:t>
            </a:r>
            <a:endParaRPr lang="en-US" sz="2000" b="0" u="none" strike="noStrike">
              <a:solidFill>
                <a:srgbClr val="000000"/>
              </a:solidFill>
              <a:effectLst/>
              <a:uFillTx/>
              <a:latin typeface="Arial"/>
            </a:endParaRPr>
          </a:p>
        </p:txBody>
      </p:sp>
      <p:sp>
        <p:nvSpPr>
          <p:cNvPr id="1944" name="PlaceHolder 3"/>
          <p:cNvSpPr>
            <a:spLocks noGrp="1"/>
          </p:cNvSpPr>
          <p:nvPr>
            <p:ph type="sldNum" idx="11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5" name="PlaceHolder 1"/>
          <p:cNvSpPr>
            <a:spLocks noGrp="1"/>
          </p:cNvSpPr>
          <p:nvPr>
            <p:ph type="sldImg"/>
          </p:nvPr>
        </p:nvSpPr>
        <p:spPr>
          <a:xfrm>
            <a:off x="0" y="0"/>
            <a:ext cx="0" cy="0"/>
          </a:xfrm>
          <a:prstGeom prst="rect">
            <a:avLst/>
          </a:prstGeom>
          <a:ln w="0">
            <a:noFill/>
          </a:ln>
        </p:spPr>
      </p:sp>
      <p:sp>
        <p:nvSpPr>
          <p:cNvPr id="194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947" name="PlaceHolder 3"/>
          <p:cNvSpPr>
            <a:spLocks noGrp="1"/>
          </p:cNvSpPr>
          <p:nvPr>
            <p:ph type="sldNum" idx="11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8" name="PlaceHolder 1"/>
          <p:cNvSpPr>
            <a:spLocks noGrp="1"/>
          </p:cNvSpPr>
          <p:nvPr>
            <p:ph type="sldImg"/>
          </p:nvPr>
        </p:nvSpPr>
        <p:spPr>
          <a:xfrm>
            <a:off x="0" y="0"/>
            <a:ext cx="0" cy="0"/>
          </a:xfrm>
          <a:prstGeom prst="rect">
            <a:avLst/>
          </a:prstGeom>
          <a:ln w="0">
            <a:noFill/>
          </a:ln>
        </p:spPr>
      </p:sp>
      <p:sp>
        <p:nvSpPr>
          <p:cNvPr id="194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950" name="PlaceHolder 3"/>
          <p:cNvSpPr>
            <a:spLocks noGrp="1"/>
          </p:cNvSpPr>
          <p:nvPr>
            <p:ph type="sldNum" idx="11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1" name="PlaceHolder 1"/>
          <p:cNvSpPr>
            <a:spLocks noGrp="1"/>
          </p:cNvSpPr>
          <p:nvPr>
            <p:ph type="sldImg"/>
          </p:nvPr>
        </p:nvSpPr>
        <p:spPr>
          <a:xfrm>
            <a:off x="0" y="0"/>
            <a:ext cx="0" cy="0"/>
          </a:xfrm>
          <a:prstGeom prst="rect">
            <a:avLst/>
          </a:prstGeom>
          <a:ln w="0">
            <a:noFill/>
          </a:ln>
        </p:spPr>
      </p:sp>
      <p:sp>
        <p:nvSpPr>
          <p:cNvPr id="195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953" name="PlaceHolder 3"/>
          <p:cNvSpPr>
            <a:spLocks noGrp="1"/>
          </p:cNvSpPr>
          <p:nvPr>
            <p:ph type="sldNum" idx="12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4" name="PlaceHolder 1"/>
          <p:cNvSpPr>
            <a:spLocks noGrp="1"/>
          </p:cNvSpPr>
          <p:nvPr>
            <p:ph type="sldImg"/>
          </p:nvPr>
        </p:nvSpPr>
        <p:spPr>
          <a:xfrm>
            <a:off x="0" y="0"/>
            <a:ext cx="0" cy="0"/>
          </a:xfrm>
          <a:prstGeom prst="rect">
            <a:avLst/>
          </a:prstGeom>
          <a:ln w="0">
            <a:noFill/>
          </a:ln>
        </p:spPr>
      </p:sp>
      <p:sp>
        <p:nvSpPr>
          <p:cNvPr id="195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956" name="PlaceHolder 3"/>
          <p:cNvSpPr>
            <a:spLocks noGrp="1"/>
          </p:cNvSpPr>
          <p:nvPr>
            <p:ph type="sldNum" idx="12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7" name="PlaceHolder 1"/>
          <p:cNvSpPr>
            <a:spLocks noGrp="1"/>
          </p:cNvSpPr>
          <p:nvPr>
            <p:ph type="sldImg"/>
          </p:nvPr>
        </p:nvSpPr>
        <p:spPr>
          <a:xfrm>
            <a:off x="0" y="0"/>
            <a:ext cx="0" cy="0"/>
          </a:xfrm>
          <a:prstGeom prst="rect">
            <a:avLst/>
          </a:prstGeom>
          <a:ln w="0">
            <a:noFill/>
          </a:ln>
        </p:spPr>
      </p:sp>
      <p:sp>
        <p:nvSpPr>
          <p:cNvPr id="195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959" name="PlaceHolder 3"/>
          <p:cNvSpPr>
            <a:spLocks noGrp="1"/>
          </p:cNvSpPr>
          <p:nvPr>
            <p:ph type="sldNum" idx="12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0" name="PlaceHolder 1"/>
          <p:cNvSpPr>
            <a:spLocks noGrp="1"/>
          </p:cNvSpPr>
          <p:nvPr>
            <p:ph type="sldImg"/>
          </p:nvPr>
        </p:nvSpPr>
        <p:spPr>
          <a:xfrm>
            <a:off x="0" y="0"/>
            <a:ext cx="0" cy="0"/>
          </a:xfrm>
          <a:prstGeom prst="rect">
            <a:avLst/>
          </a:prstGeom>
          <a:ln w="0">
            <a:noFill/>
          </a:ln>
        </p:spPr>
      </p:sp>
      <p:sp>
        <p:nvSpPr>
          <p:cNvPr id="196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962" name="PlaceHolder 3"/>
          <p:cNvSpPr>
            <a:spLocks noGrp="1"/>
          </p:cNvSpPr>
          <p:nvPr>
            <p:ph type="sldNum" idx="123"/>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3" name="PlaceHolder 1"/>
          <p:cNvSpPr>
            <a:spLocks noGrp="1"/>
          </p:cNvSpPr>
          <p:nvPr>
            <p:ph type="sldImg"/>
          </p:nvPr>
        </p:nvSpPr>
        <p:spPr>
          <a:xfrm>
            <a:off x="0" y="0"/>
            <a:ext cx="0" cy="0"/>
          </a:xfrm>
          <a:prstGeom prst="rect">
            <a:avLst/>
          </a:prstGeom>
          <a:ln w="0">
            <a:noFill/>
          </a:ln>
        </p:spPr>
      </p:sp>
      <p:sp>
        <p:nvSpPr>
          <p:cNvPr id="196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965" name="PlaceHolder 3"/>
          <p:cNvSpPr>
            <a:spLocks noGrp="1"/>
          </p:cNvSpPr>
          <p:nvPr>
            <p:ph type="sldNum" idx="12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6" name="PlaceHolder 1"/>
          <p:cNvSpPr>
            <a:spLocks noGrp="1"/>
          </p:cNvSpPr>
          <p:nvPr>
            <p:ph type="sldImg"/>
          </p:nvPr>
        </p:nvSpPr>
        <p:spPr>
          <a:xfrm>
            <a:off x="0" y="0"/>
            <a:ext cx="0" cy="0"/>
          </a:xfrm>
          <a:prstGeom prst="rect">
            <a:avLst/>
          </a:prstGeom>
          <a:ln w="0">
            <a:noFill/>
          </a:ln>
        </p:spPr>
      </p:sp>
      <p:sp>
        <p:nvSpPr>
          <p:cNvPr id="196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968" name="PlaceHolder 3"/>
          <p:cNvSpPr>
            <a:spLocks noGrp="1"/>
          </p:cNvSpPr>
          <p:nvPr>
            <p:ph type="sldNum" idx="12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9" name="PlaceHolder 1"/>
          <p:cNvSpPr>
            <a:spLocks noGrp="1"/>
          </p:cNvSpPr>
          <p:nvPr>
            <p:ph type="sldImg"/>
          </p:nvPr>
        </p:nvSpPr>
        <p:spPr>
          <a:xfrm>
            <a:off x="0" y="0"/>
            <a:ext cx="0" cy="0"/>
          </a:xfrm>
          <a:prstGeom prst="rect">
            <a:avLst/>
          </a:prstGeom>
          <a:ln w="0">
            <a:noFill/>
          </a:ln>
        </p:spPr>
      </p:sp>
      <p:sp>
        <p:nvSpPr>
          <p:cNvPr id="197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971" name="PlaceHolder 3"/>
          <p:cNvSpPr>
            <a:spLocks noGrp="1"/>
          </p:cNvSpPr>
          <p:nvPr>
            <p:ph type="sldNum" idx="12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2" name="PlaceHolder 1"/>
          <p:cNvSpPr>
            <a:spLocks noGrp="1"/>
          </p:cNvSpPr>
          <p:nvPr>
            <p:ph type="sldImg"/>
          </p:nvPr>
        </p:nvSpPr>
        <p:spPr>
          <a:xfrm>
            <a:off x="0" y="0"/>
            <a:ext cx="0" cy="0"/>
          </a:xfrm>
          <a:prstGeom prst="rect">
            <a:avLst/>
          </a:prstGeom>
          <a:ln w="0">
            <a:noFill/>
          </a:ln>
        </p:spPr>
      </p:sp>
      <p:sp>
        <p:nvSpPr>
          <p:cNvPr id="197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974" name="PlaceHolder 3"/>
          <p:cNvSpPr>
            <a:spLocks noGrp="1"/>
          </p:cNvSpPr>
          <p:nvPr>
            <p:ph type="sldNum" idx="12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5" name="PlaceHolder 1"/>
          <p:cNvSpPr>
            <a:spLocks noGrp="1"/>
          </p:cNvSpPr>
          <p:nvPr>
            <p:ph type="sldImg"/>
          </p:nvPr>
        </p:nvSpPr>
        <p:spPr>
          <a:xfrm>
            <a:off x="0" y="0"/>
            <a:ext cx="0" cy="0"/>
          </a:xfrm>
          <a:prstGeom prst="rect">
            <a:avLst/>
          </a:prstGeom>
          <a:ln w="0">
            <a:noFill/>
          </a:ln>
        </p:spPr>
      </p:sp>
      <p:sp>
        <p:nvSpPr>
          <p:cNvPr id="197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977" name="PlaceHolder 3"/>
          <p:cNvSpPr>
            <a:spLocks noGrp="1"/>
          </p:cNvSpPr>
          <p:nvPr>
            <p:ph type="sldNum" idx="12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8" name="PlaceHolder 1"/>
          <p:cNvSpPr>
            <a:spLocks noGrp="1"/>
          </p:cNvSpPr>
          <p:nvPr>
            <p:ph type="sldImg"/>
          </p:nvPr>
        </p:nvSpPr>
        <p:spPr>
          <a:xfrm>
            <a:off x="0" y="0"/>
            <a:ext cx="0" cy="0"/>
          </a:xfrm>
          <a:prstGeom prst="rect">
            <a:avLst/>
          </a:prstGeom>
          <a:ln w="0">
            <a:noFill/>
          </a:ln>
        </p:spPr>
      </p:sp>
      <p:sp>
        <p:nvSpPr>
          <p:cNvPr id="197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980" name="PlaceHolder 3"/>
          <p:cNvSpPr>
            <a:spLocks noGrp="1"/>
          </p:cNvSpPr>
          <p:nvPr>
            <p:ph type="sldNum" idx="12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1" name="PlaceHolder 1"/>
          <p:cNvSpPr>
            <a:spLocks noGrp="1"/>
          </p:cNvSpPr>
          <p:nvPr>
            <p:ph type="sldImg"/>
          </p:nvPr>
        </p:nvSpPr>
        <p:spPr>
          <a:xfrm>
            <a:off x="0" y="0"/>
            <a:ext cx="0" cy="0"/>
          </a:xfrm>
          <a:prstGeom prst="rect">
            <a:avLst/>
          </a:prstGeom>
          <a:ln w="0">
            <a:noFill/>
          </a:ln>
        </p:spPr>
      </p:sp>
      <p:sp>
        <p:nvSpPr>
          <p:cNvPr id="198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Arial"/>
            </a:endParaRPr>
          </a:p>
        </p:txBody>
      </p:sp>
      <p:sp>
        <p:nvSpPr>
          <p:cNvPr id="1983" name="PlaceHolder 3"/>
          <p:cNvSpPr>
            <a:spLocks noGrp="1"/>
          </p:cNvSpPr>
          <p:nvPr>
            <p:ph type="sldNum" idx="13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1523880" y="1122480"/>
            <a:ext cx="9143640" cy="2387160"/>
          </a:xfrm>
          <a:prstGeom prst="rect">
            <a:avLst/>
          </a:prstGeom>
          <a:noFill/>
          <a:ln w="0">
            <a:noFill/>
          </a:ln>
        </p:spPr>
        <p:txBody>
          <a:bodyPr lIns="0" tIns="0" rIns="0" bIns="0" anchor="ctr">
            <a:spAutoFit/>
          </a:bodyPr>
          <a:p>
            <a:pPr indent="0" algn="l">
              <a:buNone/>
            </a:pPr>
            <a:endParaRPr lang="en-US" sz="1800" b="0" u="none" strike="noStrike">
              <a:solidFill>
                <a:schemeClr val="dk1"/>
              </a:solidFill>
              <a:effectLst/>
              <a:uFillTx/>
              <a:latin typeface="Calibri"/>
            </a:endParaRPr>
          </a:p>
        </p:txBody>
      </p:sp>
      <p:sp>
        <p:nvSpPr>
          <p:cNvPr id="8" name="PlaceHolder 2"/>
          <p:cNvSpPr>
            <a:spLocks noGrp="1"/>
          </p:cNvSpPr>
          <p:nvPr>
            <p:ph type="subTitle"/>
          </p:nvPr>
        </p:nvSpPr>
        <p:spPr>
          <a:xfrm>
            <a:off x="1523880" y="3602160"/>
            <a:ext cx="9143640" cy="165528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3404850-42AF-4074-96AE-C19402981610}"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0000" tIns="45000" rIns="90000" bIns="45000" anchor="b">
            <a:noAutofit/>
          </a:bodyPr>
          <a:p>
            <a:pPr indent="0" algn="l">
              <a:buNone/>
            </a:pPr>
            <a:endParaRPr lang="en-US" sz="6000" b="0" u="none" strike="noStrike">
              <a:solidFill>
                <a:schemeClr val="dk1"/>
              </a:solidFill>
              <a:effectLst/>
              <a:uFillTx/>
              <a:latin typeface="Calibri Light"/>
            </a:endParaRPr>
          </a:p>
        </p:txBody>
      </p:sp>
      <p:sp>
        <p:nvSpPr>
          <p:cNvPr id="3" name="PlaceHolder 2"/>
          <p:cNvSpPr>
            <a:spLocks noGrp="1"/>
          </p:cNvSpPr>
          <p:nvPr>
            <p:ph type="dt" idx="1"/>
          </p:nvPr>
        </p:nvSpPr>
        <p:spPr>
          <a:xfrm>
            <a:off x="0" y="0"/>
            <a:ext cx="0" cy="0"/>
          </a:xfrm>
          <a:prstGeom prst="rect">
            <a:avLst/>
          </a:prstGeom>
          <a:noFill/>
          <a:ln w="0">
            <a:noFill/>
          </a:ln>
        </p:spPr>
        <p:txBody>
          <a:bodyPr lIns="90000" tIns="-45000" rIns="90000" bIns="-4500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 name="PlaceHolder 3"/>
          <p:cNvSpPr>
            <a:spLocks noGrp="1"/>
          </p:cNvSpPr>
          <p:nvPr>
            <p:ph type="ftr" idx="2"/>
          </p:nvPr>
        </p:nvSpPr>
        <p:spPr>
          <a:xfrm>
            <a:off x="0" y="0"/>
            <a:ext cx="0" cy="0"/>
          </a:xfrm>
          <a:prstGeom prst="rect">
            <a:avLst/>
          </a:prstGeom>
          <a:noFill/>
          <a:ln w="0">
            <a:noFill/>
          </a:ln>
        </p:spPr>
        <p:txBody>
          <a:bodyPr lIns="90000" tIns="-45000" rIns="90000" bIns="-4500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Calibri"/>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Calibri"/>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Calibri"/>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Calibri"/>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chemeClr val="dk1"/>
              </a:solidFill>
              <a:effectLst/>
              <a:uFillTx/>
              <a:latin typeface="Calibri"/>
            </a:endParaRP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endParaRPr lang="en-US" sz="2000" b="0" u="none" strike="noStrike">
              <a:solidFill>
                <a:schemeClr val="dk1"/>
              </a:solidFill>
              <a:effectLst/>
              <a:uFillTx/>
              <a:latin typeface="Calibri"/>
            </a:endParaRP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endParaRPr lang="en-US" sz="1800" b="0" u="none" strike="noStrike">
              <a:solidFill>
                <a:schemeClr val="dk1"/>
              </a:solidFill>
              <a:effectLst/>
              <a:uFillTx/>
              <a:latin typeface="Calibri"/>
            </a:endParaRP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chemeClr val="dk1"/>
              </a:solidFill>
              <a:effectLst/>
              <a:uFillTx/>
              <a:latin typeface="Calibri"/>
            </a:endParaRP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1.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slideLayout" Target="../slideLayouts/slideLayout1.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1.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25.jpeg"/><Relationship Id="rId2" Type="http://schemas.openxmlformats.org/officeDocument/2006/relationships/slideLayout" Target="../slideLayouts/slideLayout1.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26.jpeg"/><Relationship Id="rId2" Type="http://schemas.openxmlformats.org/officeDocument/2006/relationships/slideLayout" Target="../slideLayouts/slideLayout1.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slideLayout" Target="../slideLayouts/slideLayout1.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29.jpeg"/><Relationship Id="rId2" Type="http://schemas.openxmlformats.org/officeDocument/2006/relationships/slideLayout" Target="../slideLayouts/slideLayout1.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slideLayout" Target="../slideLayouts/slideLayout1.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32.jpeg"/><Relationship Id="rId2" Type="http://schemas.openxmlformats.org/officeDocument/2006/relationships/slideLayout" Target="../slideLayouts/slideLayout1.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33.jpeg"/><Relationship Id="rId2" Type="http://schemas.openxmlformats.org/officeDocument/2006/relationships/slideLayout" Target="../slideLayouts/slideLayout1.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34.jpeg"/><Relationship Id="rId2" Type="http://schemas.openxmlformats.org/officeDocument/2006/relationships/slideLayout" Target="../slideLayouts/slideLayout1.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35.jpeg"/><Relationship Id="rId2" Type="http://schemas.openxmlformats.org/officeDocument/2006/relationships/slideLayout" Target="../slideLayouts/slideLayout1.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36.jpeg"/><Relationship Id="rId2" Type="http://schemas.openxmlformats.org/officeDocument/2006/relationships/slideLayout" Target="../slideLayouts/slideLayout1.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37.jpeg"/><Relationship Id="rId2" Type="http://schemas.openxmlformats.org/officeDocument/2006/relationships/slideLayout" Target="../slideLayouts/slideLayout1.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38.jpeg"/><Relationship Id="rId2" Type="http://schemas.openxmlformats.org/officeDocument/2006/relationships/slideLayout" Target="../slideLayouts/slideLayout1.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39.jpeg"/><Relationship Id="rId2" Type="http://schemas.openxmlformats.org/officeDocument/2006/relationships/slideLayout" Target="../slideLayouts/slideLayout1.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40.jpeg"/><Relationship Id="rId2" Type="http://schemas.openxmlformats.org/officeDocument/2006/relationships/slideLayout" Target="../slideLayouts/slideLayout1.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42.jpeg"/><Relationship Id="rId2" Type="http://schemas.openxmlformats.org/officeDocument/2006/relationships/slideLayout" Target="../slideLayouts/slideLayout1.xml"/><Relationship Id="rId3"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hyperlink" Target="https://www.historians.org/perspectives-article/creating-circumstances-edward-bernays-psychoanalysis-and-the-making-of-american-consumer-culture-march-2017/" TargetMode="External"/><Relationship Id="rId2" Type="http://schemas.openxmlformats.org/officeDocument/2006/relationships/hyperlink" Target="https://archive.org/details/per_new-york-times-magazine_the-new-york-times_1929-04-01_78_26000" TargetMode="External"/><Relationship Id="rId3" Type="http://schemas.openxmlformats.org/officeDocument/2006/relationships/hyperlink" Target="https://cancercontrol.cancer.gov/sites/default/files/2020-06/m19_complete_accessible_0.pdf" TargetMode="External"/><Relationship Id="rId4" Type="http://schemas.openxmlformats.org/officeDocument/2006/relationships/hyperlink" Target="https://www.nytimes.com/1929/04/01/archives/easter-sun-finds-the-past-in-shadow-at-modern-parade-lone-prancing.html" TargetMode="External"/><Relationship Id="rId5" Type="http://schemas.openxmlformats.org/officeDocument/2006/relationships/hyperlink" Target="https://archive.org/download/per_new-york-times-magazine_the-new-york-times_1929-04-01_78_26000/per_new-york-times-magazine_the-new-york-times_1929-04-01_78_26000_djvu.txt" TargetMode="External"/><Relationship Id="rId6" Type="http://schemas.openxmlformats.org/officeDocument/2006/relationships/hyperlink" Target="https://pubmed.ncbi.nlm.nih.gov/8868552/" TargetMode="External"/><Relationship Id="rId7" Type="http://schemas.openxmlformats.org/officeDocument/2006/relationships/hyperlink" Target="https://www.adcouncil.org/about-us/our-history" TargetMode="External"/><Relationship Id="rId8" Type="http://schemas.openxmlformats.org/officeDocument/2006/relationships/hyperlink" Target="https://catalog.archives.gov/id/513683" TargetMode="External"/><Relationship Id="rId9" Type="http://schemas.openxmlformats.org/officeDocument/2006/relationships/hyperlink" Target="https://www.nps.gov/media/video/view.htm?id=349BCEFF-3140-438D-BF03-89C92B4A77B3" TargetMode="External"/><Relationship Id="rId10" Type="http://schemas.openxmlformats.org/officeDocument/2006/relationships/hyperlink" Target="https://aef.com/classroom-resources/social-responsibility/ad-council-campaigns-made-difference/women-war-jobs-rosie-riveter/" TargetMode="External"/><Relationship Id="rId11" Type="http://schemas.openxmlformats.org/officeDocument/2006/relationships/hyperlink" Target="https://home.nps.gov/articles/000/childcare-on-the-world-war-ii-home-front.htm" TargetMode="External"/><Relationship Id="rId12" Type="http://schemas.openxmlformats.org/officeDocument/2006/relationships/hyperlink" Target="https://smokeybear.com/en/smokeys-history/about-the-campaign" TargetMode="External"/><Relationship Id="rId13" Type="http://schemas.openxmlformats.org/officeDocument/2006/relationships/hyperlink" Target="https://catalog.archives.gov/id/515437" TargetMode="External"/><Relationship Id="rId14" Type="http://schemas.openxmlformats.org/officeDocument/2006/relationships/hyperlink" Target="https://www.adcouncil.org/about-us/our-history" TargetMode="External"/><Relationship Id="rId15" Type="http://schemas.openxmlformats.org/officeDocument/2006/relationships/hyperlink" Target="https://www.adcouncil.org/about-us/our-history" TargetMode="External"/><Relationship Id="rId16" Type="http://schemas.openxmlformats.org/officeDocument/2006/relationships/hyperlink" Target="https://www.youtube.com/watch?v=MPePAA-V4ZI" TargetMode="External"/><Relationship Id="rId17" Type="http://schemas.openxmlformats.org/officeDocument/2006/relationships/hyperlink" Target="https://www.zocalopublicsquare.org/crying-indian-ad-fooled-environmental-movement/" TargetMode="External"/><Relationship Id="rId18" Type="http://schemas.openxmlformats.org/officeDocument/2006/relationships/hyperlink" Target="https://www.cnn.com/2023/02/28/us/crying-indian-ad-campaign-cec/index.html" TargetMode="External"/><Relationship Id="rId19" Type="http://schemas.openxmlformats.org/officeDocument/2006/relationships/hyperlink" Target="https://files.eric.ed.gov/fulltext/ED445370.pdf" TargetMode="External"/><Relationship Id="rId20" Type="http://schemas.openxmlformats.org/officeDocument/2006/relationships/hyperlink" Target="https://www.unfpa.org/news/serial-melodrama-selling-soap-social-change" TargetMode="External"/><Relationship Id="rId21" Type="http://schemas.openxmlformats.org/officeDocument/2006/relationships/hyperlink" Target="https://files.eric.ed.gov/fulltext/ED445370.pdf" TargetMode="External"/><Relationship Id="rId22" Type="http://schemas.openxmlformats.org/officeDocument/2006/relationships/hyperlink" Target="https://www.itu.int/hub/2020/04/how-can-television-viewing-help-to-advance-the-sdgs/" TargetMode="External"/><Relationship Id="rId23" Type="http://schemas.openxmlformats.org/officeDocument/2006/relationships/hyperlink" Target="https://mahb.stanford.edu/blog/tv-birth-control/" TargetMode="External"/><Relationship Id="rId24" Type="http://schemas.openxmlformats.org/officeDocument/2006/relationships/hyperlink" Target="https://es.wikipedia.org/wiki/Acomp&#225;&#241;ame_(telenovela)" TargetMode="External"/><Relationship Id="rId25" Type="http://schemas.openxmlformats.org/officeDocument/2006/relationships/hyperlink" Target="https://www.youtube.com/watch?v=_zJJziQgeKo" TargetMode="External"/><Relationship Id="rId26" Type="http://schemas.openxmlformats.org/officeDocument/2006/relationships/slideLayout" Target="../slideLayouts/slideLayout1.xml"/><Relationship Id="rId27"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hyperlink" Target="https://www.adcouncil.org/our-causes/buzzed-driving-prevention" TargetMode="External"/><Relationship Id="rId2" Type="http://schemas.openxmlformats.org/officeDocument/2006/relationships/hyperlink" Target="https://aef.com/classroom-resources/social-responsibility/ad-council-campaigns-made-difference/drunk-driving-prevention/" TargetMode="External"/><Relationship Id="rId3" Type="http://schemas.openxmlformats.org/officeDocument/2006/relationships/hyperlink" Target="https://www.prnewswire.com/news-releases/smokey-bear-and-friends-dont-let-friends-drive-drunk-inducted-into-advertising-week-walk-of-fame-277793801.html" TargetMode="External"/><Relationship Id="rId4" Type="http://schemas.openxmlformats.org/officeDocument/2006/relationships/hyperlink" Target="https://www.adcouncil.org/about-us/our-history" TargetMode="External"/><Relationship Id="rId5" Type="http://schemas.openxmlformats.org/officeDocument/2006/relationships/hyperlink" Target="https://www.youtube.com/watch?v=BPnqSmxh-60" TargetMode="External"/><Relationship Id="rId6" Type="http://schemas.openxmlformats.org/officeDocument/2006/relationships/hyperlink" Target="https://files.eric.ed.gov/fulltext/ED445370.pdf" TargetMode="External"/><Relationship Id="rId7" Type="http://schemas.openxmlformats.org/officeDocument/2006/relationships/hyperlink" Target="https://www.youtube.com/watch?v=Sxn-lSJiW7o" TargetMode="External"/><Relationship Id="rId8" Type="http://schemas.openxmlformats.org/officeDocument/2006/relationships/hyperlink" Target="https://pubmed.ncbi.nlm.nih.gov/12319295/" TargetMode="External"/><Relationship Id="rId9" Type="http://schemas.openxmlformats.org/officeDocument/2006/relationships/hyperlink" Target="https://pubmed.ncbi.nlm.nih.gov/12283722/" TargetMode="External"/><Relationship Id="rId10" Type="http://schemas.openxmlformats.org/officeDocument/2006/relationships/hyperlink" Target="https://www.adcouncil.org/about-us/our-history" TargetMode="External"/><Relationship Id="rId11" Type="http://schemas.openxmlformats.org/officeDocument/2006/relationships/hyperlink" Target="https://www.youtube.com/watch?v=1_8hkdZkF7Q" TargetMode="External"/><Relationship Id="rId12" Type="http://schemas.openxmlformats.org/officeDocument/2006/relationships/hyperlink" Target="https://www.nhtsa.gov/book/countermeasures-that-work/seat-belts-and-child-restraints" TargetMode="External"/><Relationship Id="rId13" Type="http://schemas.openxmlformats.org/officeDocument/2006/relationships/hyperlink" Target="https://web.archive.org/web/20250302174026/https://americanhistory.si.edu/explore/stories/vince-and-larry-dummies-crash-smithsonian" TargetMode="External"/><Relationship Id="rId14" Type="http://schemas.openxmlformats.org/officeDocument/2006/relationships/hyperlink" Target="https://americanhistory.si.edu/explore/stories/vince-and-larry-dummies-crash-smithsonian" TargetMode="External"/><Relationship Id="rId15" Type="http://schemas.openxmlformats.org/officeDocument/2006/relationships/hyperlink" Target="https://www.txdot.gov/about/newsroom/statewide/txdot-salutes-40-years-of-dont-mess-with-texas.html" TargetMode="External"/><Relationship Id="rId16" Type="http://schemas.openxmlformats.org/officeDocument/2006/relationships/hyperlink" Target="https://www.youtube.com/watch?v=KISppQMhOuI" TargetMode="External"/><Relationship Id="rId17" Type="http://schemas.openxmlformats.org/officeDocument/2006/relationships/hyperlink" Target="https://ftp.txdot.gov/pub/txdot-info/trv/travel-industry/dmwt_2013_attitudes_behaviors_executive.pdf" TargetMode="External"/><Relationship Id="rId18" Type="http://schemas.openxmlformats.org/officeDocument/2006/relationships/hyperlink" Target="https://www.dontmesswithtexas.org/" TargetMode="External"/><Relationship Id="rId19" Type="http://schemas.openxmlformats.org/officeDocument/2006/relationships/hyperlink" Target="https://hsph.harvard.edu/research/health-communication/harvard-alcohol-project-designated-driver/" TargetMode="External"/><Relationship Id="rId20" Type="http://schemas.openxmlformats.org/officeDocument/2006/relationships/hyperlink" Target="https://www.thecrimson.com/article/1991/12/6/harvard-alcohol-project-helps-bush-tape/" TargetMode="External"/><Relationship Id="rId21" Type="http://schemas.openxmlformats.org/officeDocument/2006/relationships/hyperlink" Target="https://guides.library.harvard.edu/CHC/designateddriver" TargetMode="External"/><Relationship Id="rId22" Type="http://schemas.openxmlformats.org/officeDocument/2006/relationships/hyperlink" Target="https://pubmed.ncbi.nlm.nih.gov/7917447/" TargetMode="External"/><Relationship Id="rId23" Type="http://schemas.openxmlformats.org/officeDocument/2006/relationships/hyperlink" Target="https://www.youtube.com/watch?v=p85zXhD3F5c" TargetMode="External"/><Relationship Id="rId24" Type="http://schemas.openxmlformats.org/officeDocument/2006/relationships/hyperlink" Target="https://www.thecrimson.com/article/1993/3/25/harvard-group-works-with-90210-producers/" TargetMode="External"/><Relationship Id="rId25" Type="http://schemas.openxmlformats.org/officeDocument/2006/relationships/hyperlink" Target="https://en.wikipedia.org/wiki/List_of_Blossom_episodes" TargetMode="External"/><Relationship Id="rId26" Type="http://schemas.openxmlformats.org/officeDocument/2006/relationships/hyperlink" Target="https://en.wikipedia.org/wiki/Beverly_Hills,_90210_season_3" TargetMode="External"/><Relationship Id="rId27" Type="http://schemas.openxmlformats.org/officeDocument/2006/relationships/hyperlink" Target="https://www.youtube.com/watch?v=HOArW-Yqzj4" TargetMode="External"/><Relationship Id="rId28" Type="http://schemas.openxmlformats.org/officeDocument/2006/relationships/slideLayout" Target="../slideLayouts/slideLayout1.xml"/><Relationship Id="rId29"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hyperlink" Target="https://www.unicef.org/bangladesh/en/meena-and-unicef" TargetMode="External"/><Relationship Id="rId2" Type="http://schemas.openxmlformats.org/officeDocument/2006/relationships/hyperlink" Target="https://www.unicef.org/pakistan/reports/meenas-adventures" TargetMode="External"/><Relationship Id="rId3" Type="http://schemas.openxmlformats.org/officeDocument/2006/relationships/hyperlink" Target="https://www.unicef.org/pakistan/media/3471/file/Count%20your%20chickens.pdf" TargetMode="External"/><Relationship Id="rId4" Type="http://schemas.openxmlformats.org/officeDocument/2006/relationships/hyperlink" Target="https://www.unfpa.org/news/serial-melodrama-selling-soap-social-change" TargetMode="External"/><Relationship Id="rId5" Type="http://schemas.openxmlformats.org/officeDocument/2006/relationships/hyperlink" Target="https://gap.hks.harvard.edu/effects-entertainment-education-radio-soap-opera-family-planning-behavior-tanzania" TargetMode="External"/><Relationship Id="rId6" Type="http://schemas.openxmlformats.org/officeDocument/2006/relationships/hyperlink" Target="https://pubmed.ncbi.nlm.nih.gov/10546311/" TargetMode="External"/><Relationship Id="rId7" Type="http://schemas.openxmlformats.org/officeDocument/2006/relationships/hyperlink" Target="https://www.ebi.ac.uk/europepmc/webservices/rest/search?query=EXT_ID:10546311%20AND%20SRC:MED&amp;resultType=core&amp;format=json" TargetMode="External"/><Relationship Id="rId8" Type="http://schemas.openxmlformats.org/officeDocument/2006/relationships/hyperlink" Target="https://pubmed.ncbi.nlm.nih.gov/11010359/" TargetMode="External"/><Relationship Id="rId9" Type="http://schemas.openxmlformats.org/officeDocument/2006/relationships/hyperlink" Target="https://www.jstor.org/stable/172196" TargetMode="External"/><Relationship Id="rId10" Type="http://schemas.openxmlformats.org/officeDocument/2006/relationships/hyperlink" Target="https://www.clickitorticket.org/Pages/history.aspx" TargetMode="External"/><Relationship Id="rId11" Type="http://schemas.openxmlformats.org/officeDocument/2006/relationships/hyperlink" Target="https://www.iihs.org/research-areas/bibliography/ref/997" TargetMode="External"/><Relationship Id="rId12" Type="http://schemas.openxmlformats.org/officeDocument/2006/relationships/hyperlink" Target="https://web.archive.org/web/20170519013040/https://www.nhtsa.gov/sites/nhtsa.dot.gov/files/811779.pdf" TargetMode="External"/><Relationship Id="rId13" Type="http://schemas.openxmlformats.org/officeDocument/2006/relationships/hyperlink" Target="https://ncvisionzero.org/wp-content/uploads/2016/08/ciot-history.pdf" TargetMode="External"/><Relationship Id="rId14" Type="http://schemas.openxmlformats.org/officeDocument/2006/relationships/hyperlink" Target="https://pubmed.ncbi.nlm.nih.gov/15178237/" TargetMode="External"/><Relationship Id="rId15" Type="http://schemas.openxmlformats.org/officeDocument/2006/relationships/hyperlink" Target="https://www.youtube.com/watch?v=fC9r5dtUxWE" TargetMode="External"/><Relationship Id="rId16" Type="http://schemas.openxmlformats.org/officeDocument/2006/relationships/hyperlink" Target="https://web.archive.org/web/2020/https://www.nhtsa.gov/sites/nhtsa.gov/files/811232.pdf" TargetMode="External"/><Relationship Id="rId17" Type="http://schemas.openxmlformats.org/officeDocument/2006/relationships/hyperlink" Target="https://hsph.harvard.edu/research/health-communication/squash-it-campaign/" TargetMode="External"/><Relationship Id="rId18" Type="http://schemas.openxmlformats.org/officeDocument/2006/relationships/hyperlink" Target="https://guides.library.harvard.edu/CHC/initiatives" TargetMode="External"/><Relationship Id="rId19" Type="http://schemas.openxmlformats.org/officeDocument/2006/relationships/hyperlink" Target="https://www.soulcity.org.za/about/history/blocks/one" TargetMode="External"/><Relationship Id="rId20" Type="http://schemas.openxmlformats.org/officeDocument/2006/relationships/hyperlink" Target="https://web.archive.org/web/2020/https://www.endvawnow.org/uploads/browser/files/Soul%20City%204%20Impact%20Evaluation%20VAW%20Vol%20II.pdf" TargetMode="External"/><Relationship Id="rId21" Type="http://schemas.openxmlformats.org/officeDocument/2006/relationships/hyperlink" Target="https://web.archive.org/web/2020/https://www.endvawnow.org/uploads/browser/files/Soul%20City%204%20Impact%20Evaluation%20VAW%20Vol%20I.pdf" TargetMode="External"/><Relationship Id="rId22" Type="http://schemas.openxmlformats.org/officeDocument/2006/relationships/hyperlink" Target="https://pubmed.ncbi.nlm.nih.gov/16006028/" TargetMode="External"/><Relationship Id="rId23" Type="http://schemas.openxmlformats.org/officeDocument/2006/relationships/hyperlink" Target="https://www.fastcompany.com/1682147/neal-baer-empowering-health-and-society-through-storytelling" TargetMode="External"/><Relationship Id="rId24" Type="http://schemas.openxmlformats.org/officeDocument/2006/relationships/hyperlink" Target="https://web.archive.org/web/2022/https://www.fastcompany.com/1682147/neal-baer-empowering-health-and-society-through-storytelling)" TargetMode="External"/><Relationship Id="rId25" Type="http://schemas.openxmlformats.org/officeDocument/2006/relationships/hyperlink" Target="https://pubmed.ncbi.nlm.nih.gov/10964636/" TargetMode="External"/><Relationship Id="rId26" Type="http://schemas.openxmlformats.org/officeDocument/2006/relationships/hyperlink" Target="https://pure.johnshopkins.edu/en/publications/using-entertainment-television-to-build-a-context-for-prevention--4/" TargetMode="External"/><Relationship Id="rId27" Type="http://schemas.openxmlformats.org/officeDocument/2006/relationships/slideLayout" Target="../slideLayouts/slideLayout1.xml"/><Relationship Id="rId28"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hyperlink" Target="https://tostan.org/path-public-declaration/" TargetMode="External"/><Relationship Id="rId2" Type="http://schemas.openxmlformats.org/officeDocument/2006/relationships/hyperlink" Target="https://tostan.org/february-14-1998-first-inter-village-public-declaration/" TargetMode="External"/><Relationship Id="rId3" Type="http://schemas.openxmlformats.org/officeDocument/2006/relationships/hyperlink" Target="https://www.excisionparlonsen.org/wp-content/uploads/2022/06/Evluation-a-long-terme-du-programme-de-Tostan-au-Senegal.pdf" TargetMode="External"/><Relationship Id="rId4" Type="http://schemas.openxmlformats.org/officeDocument/2006/relationships/hyperlink" Target="https://tostan.org/unicef-case-study-outlines-success-tostan-approach-accelerating-abandonment-female-genital/" TargetMode="External"/><Relationship Id="rId5" Type="http://schemas.openxmlformats.org/officeDocument/2006/relationships/hyperlink" Target="https://tostan.org/back-where-it-began-public-declaration-mbour-senegal/" TargetMode="External"/><Relationship Id="rId6" Type="http://schemas.openxmlformats.org/officeDocument/2006/relationships/hyperlink" Target="https://data.unicef.org/wp-content/uploads/2015/12/fgmc_tostan_eng_96.pdf" TargetMode="External"/><Relationship Id="rId7" Type="http://schemas.openxmlformats.org/officeDocument/2006/relationships/hyperlink" Target="https://commons.wikimedia.org/wiki/File:Village_gathering_(8592452962).jpg" TargetMode="External"/><Relationship Id="rId8" Type="http://schemas.openxmlformats.org/officeDocument/2006/relationships/hyperlink" Target="https://www.kff.org/bet-rap-it-up-psas/" TargetMode="External"/><Relationship Id="rId9" Type="http://schemas.openxmlformats.org/officeDocument/2006/relationships/hyperlink" Target="https://www.youtube.com/watch?v=5mvFp4grit0" TargetMode="External"/><Relationship Id="rId10" Type="http://schemas.openxmlformats.org/officeDocument/2006/relationships/hyperlink" Target="https://www.kff.org/wp-content/uploads/2013/01/7515.pdf" TargetMode="External"/><Relationship Id="rId11" Type="http://schemas.openxmlformats.org/officeDocument/2006/relationships/hyperlink" Target="https://truthinitiative.org/who-we-are/our-history" TargetMode="External"/><Relationship Id="rId12" Type="http://schemas.openxmlformats.org/officeDocument/2006/relationships/hyperlink" Target="https://www.thensmc.com/resources/showcase/truth&#174;" TargetMode="External"/><Relationship Id="rId13" Type="http://schemas.openxmlformats.org/officeDocument/2006/relationships/hyperlink" Target="https://crimesolutions.ojp.gov/ratedprograms/truthr-campaign" TargetMode="External"/><Relationship Id="rId14" Type="http://schemas.openxmlformats.org/officeDocument/2006/relationships/hyperlink" Target="https://pubmed.ncbi.nlm.nih.gov/15727971/" TargetMode="External"/><Relationship Id="rId15" Type="http://schemas.openxmlformats.org/officeDocument/2006/relationships/hyperlink" Target="https://doi.org/10.2105/AJPH.2004.049692" TargetMode="External"/><Relationship Id="rId16" Type="http://schemas.openxmlformats.org/officeDocument/2006/relationships/hyperlink" Target="https://www.youtube.com/watch?v=C5JkH01ArIc" TargetMode="External"/><Relationship Id="rId17" Type="http://schemas.openxmlformats.org/officeDocument/2006/relationships/hyperlink" Target="https://web.archive.org/web/20060721034053/http://www.puntos.org.ni/sstv/sexto-sentido.php" TargetMode="External"/><Relationship Id="rId18" Type="http://schemas.openxmlformats.org/officeDocument/2006/relationships/hyperlink" Target="https://web.archive.org/web/20170407202041/http://www.endvawnow.org/uploads/browser/files/sexto_sentido_impact_evaluation_english.pdf" TargetMode="External"/><Relationship Id="rId19" Type="http://schemas.openxmlformats.org/officeDocument/2006/relationships/hyperlink" Target="https://knowledgecommons.popcouncil.org/departments_sbsr-hiv/33/" TargetMode="External"/><Relationship Id="rId20" Type="http://schemas.openxmlformats.org/officeDocument/2006/relationships/hyperlink" Target="https://pmc.ncbi.nlm.nih.gov/articles/PMC7025324/" TargetMode="External"/><Relationship Id="rId21" Type="http://schemas.openxmlformats.org/officeDocument/2006/relationships/hyperlink" Target="https://www.culanth.org/fieldsights/spectacles-of-sexuality-televisionary-activism-in-nicaragua" TargetMode="External"/><Relationship Id="rId22" Type="http://schemas.openxmlformats.org/officeDocument/2006/relationships/hyperlink" Target="https://web.archive.org/web/2007/http://www.puntos.org.ni/novela/" TargetMode="External"/><Relationship Id="rId23" Type="http://schemas.openxmlformats.org/officeDocument/2006/relationships/hyperlink" Target="https://www.cdc.gov/pcd/issues/2004/jul/04_0043.htm" TargetMode="External"/><Relationship Id="rId24" Type="http://schemas.openxmlformats.org/officeDocument/2006/relationships/hyperlink" Target="https://web.archive.org/web/20090122164030/http://www.cdc.gov/youthcampaign/advertising/african_american/PDF/hiphopscotch.pdf" TargetMode="External"/><Relationship Id="rId25" Type="http://schemas.openxmlformats.org/officeDocument/2006/relationships/hyperlink" Target="https://pubmed.ncbi.nlm.nih.gov/16061581/" TargetMode="External"/><Relationship Id="rId26" Type="http://schemas.openxmlformats.org/officeDocument/2006/relationships/hyperlink" Target="https://www.ebi.ac.uk/europepmc/webservices/rest/PMC1253475/fullTextXML" TargetMode="External"/><Relationship Id="rId27" Type="http://schemas.openxmlformats.org/officeDocument/2006/relationships/hyperlink" Target="https://archive.cdc.gov/www_cdc_gov/media/pressrel/r040217.htm" TargetMode="External"/><Relationship Id="rId28" Type="http://schemas.openxmlformats.org/officeDocument/2006/relationships/hyperlink" Target="https://web.archive.org/web/2009/http://www.cdc.gov/youthcampaign/advertising/" TargetMode="External"/><Relationship Id="rId29" Type="http://schemas.openxmlformats.org/officeDocument/2006/relationships/slideLayout" Target="../slideLayouts/slideLayout1.xml"/><Relationship Id="rId30"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hyperlink" Target="https://www.kff.org/past-campaigns/" TargetMode="External"/><Relationship Id="rId2" Type="http://schemas.openxmlformats.org/officeDocument/2006/relationships/hyperlink" Target="https://www.kff.org/viacom-know-psas/" TargetMode="External"/><Relationship Id="rId3" Type="http://schemas.openxmlformats.org/officeDocument/2006/relationships/hyperlink" Target="https://www.kff.org/wp-content/uploads/2013/01/7515.pdf" TargetMode="External"/><Relationship Id="rId4" Type="http://schemas.openxmlformats.org/officeDocument/2006/relationships/hyperlink" Target="https://web.archive.org/web/20040705083544/http://www.kff.org:80/entpartnerships/viacom.cfm" TargetMode="External"/><Relationship Id="rId5" Type="http://schemas.openxmlformats.org/officeDocument/2006/relationships/hyperlink" Target="https://web.archive.org/web/20060921152026/http://www.kff.org/entpartnerships/viacom/" TargetMode="External"/><Relationship Id="rId6" Type="http://schemas.openxmlformats.org/officeDocument/2006/relationships/hyperlink" Target="https://www.advocate.com/news/2003/01/07/viacom-kaiser-launch-global-quotknow-hivaidsquot-campaign-7380" TargetMode="External"/><Relationship Id="rId7" Type="http://schemas.openxmlformats.org/officeDocument/2006/relationships/hyperlink" Target="https://raisingvoices.org/women/sasa-approach/" TargetMode="External"/><Relationship Id="rId8" Type="http://schemas.openxmlformats.org/officeDocument/2006/relationships/hyperlink" Target="https://pmc.ncbi.nlm.nih.gov/articles/PMC4165071/" TargetMode="External"/><Relationship Id="rId9" Type="http://schemas.openxmlformats.org/officeDocument/2006/relationships/hyperlink" Target="https://bmcmedicine.biomedcentral.com/articles/10.1186/s12916-014-0122-5" TargetMode="External"/><Relationship Id="rId10" Type="http://schemas.openxmlformats.org/officeDocument/2006/relationships/hyperlink" Target="https://raisingvoices.org/resources/sasa-activist-kit-awareness-phase/" TargetMode="External"/><Relationship Id="rId11" Type="http://schemas.openxmlformats.org/officeDocument/2006/relationships/hyperlink" Target="https://raisingvoices.org/resources/sasa-activist-kit-action-phase/" TargetMode="External"/><Relationship Id="rId12" Type="http://schemas.openxmlformats.org/officeDocument/2006/relationships/hyperlink" Target="https://pmc.ncbi.nlm.nih.gov/articles/PMC4243194/" TargetMode="External"/><Relationship Id="rId13" Type="http://schemas.openxmlformats.org/officeDocument/2006/relationships/hyperlink" Target="https://www.nber.org/system/files/working_papers/w15386/w15386.pdf" TargetMode="External"/><Relationship Id="rId14" Type="http://schemas.openxmlformats.org/officeDocument/2006/relationships/hyperlink" Target="https://eml.berkeley.edu/~saez/course131/allcott2011.pdf" TargetMode="External"/><Relationship Id="rId15" Type="http://schemas.openxmlformats.org/officeDocument/2006/relationships/hyperlink" Target="https://ceepr.mit.edu/wp-content/uploads/2023/02/2009-014.pdf" TargetMode="External"/><Relationship Id="rId16" Type="http://schemas.openxmlformats.org/officeDocument/2006/relationships/hyperlink" Target="https://www.oracle.com/utilities/opower-energy-efficiency/" TargetMode="External"/><Relationship Id="rId17" Type="http://schemas.openxmlformats.org/officeDocument/2006/relationships/hyperlink" Target="https://web.archive.org/web/2020/https://www.unicef.org/media/85711/file/Facts_for_Life_EN_010810.pdf" TargetMode="External"/><Relationship Id="rId18" Type="http://schemas.openxmlformats.org/officeDocument/2006/relationships/hyperlink" Target="https://global.comminit.com/files/kyunkiprodbook_final.pdf" TargetMode="External"/><Relationship Id="rId19" Type="http://schemas.openxmlformats.org/officeDocument/2006/relationships/hyperlink" Target="https://web.archive.org/web/20240102235546/https://digitallibrary.un.org/record/686939/files/E_ICEF_2010_P_L.20-EN.pdf" TargetMode="External"/><Relationship Id="rId20" Type="http://schemas.openxmlformats.org/officeDocument/2006/relationships/hyperlink" Target="https://shuga.tv/" TargetMode="External"/><Relationship Id="rId21" Type="http://schemas.openxmlformats.org/officeDocument/2006/relationships/hyperlink" Target="https://www.povertyactionlab.org/case-study/improving-youth-sexual-health-through-educational-entertainment" TargetMode="External"/><Relationship Id="rId22" Type="http://schemas.openxmlformats.org/officeDocument/2006/relationships/hyperlink" Target="https://www.nber.org/system/files/working_papers/w26096/w26096.pdf" TargetMode="External"/><Relationship Id="rId23" Type="http://schemas.openxmlformats.org/officeDocument/2006/relationships/hyperlink" Target="https://www.povertyactionlab.org/evaluation/mtv-shuga-changing-social-norms-and-behaviors-entertainment-education-nigeria" TargetMode="External"/><Relationship Id="rId24" Type="http://schemas.openxmlformats.org/officeDocument/2006/relationships/hyperlink" Target="https://www.youtube.com/watch?v=cfgsbAN4J9I" TargetMode="External"/><Relationship Id="rId25" Type="http://schemas.openxmlformats.org/officeDocument/2006/relationships/hyperlink" Target="https://www.populationmedia.org/projects/east-los-high" TargetMode="External"/><Relationship Id="rId26" Type="http://schemas.openxmlformats.org/officeDocument/2006/relationships/hyperlink" Target="https://utminers.utep.edu/asinghal/Reports/east%20los%20high%20transmedia%20edutainment%20to%20promote%20the%20sexual%20and%20reproductive.pdf" TargetMode="External"/><Relationship Id="rId27" Type="http://schemas.openxmlformats.org/officeDocument/2006/relationships/hyperlink" Target="https://pmc.ncbi.nlm.nih.gov/articles/PMC4880269/" TargetMode="External"/><Relationship Id="rId28" Type="http://schemas.openxmlformats.org/officeDocument/2006/relationships/slideLayout" Target="../slideLayouts/slideLayout1.xml"/><Relationship Id="rId29"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hyperlink" Target="https://www.populationfoundation.in/projects/mkbksh/" TargetMode="External"/><Relationship Id="rId2" Type="http://schemas.openxmlformats.org/officeDocument/2006/relationships/hyperlink" Target="https://www.buffalo.edu/content/dam/cas/communication/files/Wang/WangSinghal2018_MKBKSH_JMD.pdf" TargetMode="External"/><Relationship Id="rId3" Type="http://schemas.openxmlformats.org/officeDocument/2006/relationships/hyperlink" Target="https://mkbksh.in/wp-content/uploads/2025/05/86e11a7c-6681-4e9a-ae0f-a1c7870fa591.pdf" TargetMode="External"/><Relationship Id="rId4" Type="http://schemas.openxmlformats.org/officeDocument/2006/relationships/hyperlink" Target="https://mkbksh.in/evaluation-report/" TargetMode="External"/><Relationship Id="rId5" Type="http://schemas.openxmlformats.org/officeDocument/2006/relationships/hyperlink" Target="https://www.youtube.com/watch?v=-Yaq_dW0Xdc" TargetMode="External"/><Relationship Id="rId6" Type="http://schemas.openxmlformats.org/officeDocument/2006/relationships/hyperlink" Target="https://www.unicef.org/mozambique/comunicados-de-imprensa/ouro-negro-ao-vivo-promove-os-direitos-das-crian&#231;as-e-adolescentes-em" TargetMode="External"/><Relationship Id="rId7" Type="http://schemas.openxmlformats.org/officeDocument/2006/relationships/hyperlink" Target="https://shortyawards.com/12th/using-storytelling-to-spark-social-change-in-mozambique" TargetMode="External"/><Relationship Id="rId8" Type="http://schemas.openxmlformats.org/officeDocument/2006/relationships/hyperlink" Target="https://library.oapen.org/rest/bitstreams/49d1e49d-fc71-4f28-9fe8-5b8604a5040d/retrieve" TargetMode="External"/><Relationship Id="rId9" Type="http://schemas.openxmlformats.org/officeDocument/2006/relationships/hyperlink" Target="https://link.springer.com/chapter/10.1007/978-3-030-63614-2_11" TargetMode="External"/><Relationship Id="rId10" Type="http://schemas.openxmlformats.org/officeDocument/2006/relationships/hyperlink" Target="https://soundcloud.com/mediaimpact/sets/ouro-negro-season-1" TargetMode="External"/><Relationship Id="rId11" Type="http://schemas.openxmlformats.org/officeDocument/2006/relationships/hyperlink" Target="https://www.sportengland.org/funds-and-campaigns/this-girl-can" TargetMode="External"/><Relationship Id="rId12" Type="http://schemas.openxmlformats.org/officeDocument/2006/relationships/hyperlink" Target="https://www.sportengland.org/media/14076/20150112-tgc-new-campaign-to-give-women-more-confidence-to-exercise.pdf" TargetMode="External"/><Relationship Id="rId13" Type="http://schemas.openxmlformats.org/officeDocument/2006/relationships/hyperlink" Target="https://assets.publishing.service.gov.uk/media/5a7f5142ed915d74e6229bab/20160707__HC_419_Sport_England_ARA_2015-16_Web_Optimised.pdf" TargetMode="External"/><Relationship Id="rId14" Type="http://schemas.openxmlformats.org/officeDocument/2006/relationships/hyperlink" Target="https://www.youtube.com/watch?v=jsP0W7-tEOc" TargetMode="External"/><Relationship Id="rId15" Type="http://schemas.openxmlformats.org/officeDocument/2006/relationships/hyperlink" Target="https://www.unicef.org/bangladesh/en/press-releases/adolescent-campaign-launched-positive-social-change" TargetMode="External"/><Relationship Id="rId16" Type="http://schemas.openxmlformats.org/officeDocument/2006/relationships/hyperlink" Target="https://www.unicef.org/bangladesh/en/stories/tanzila-back-small-screen-kick-out-gender-inequality" TargetMode="External"/><Relationship Id="rId17" Type="http://schemas.openxmlformats.org/officeDocument/2006/relationships/hyperlink" Target="https://library.oapen.org/rest/bitstreams/49d1e49d-fc71-4f28-9fe8-5b8604a5040d/retrieve" TargetMode="External"/><Relationship Id="rId18" Type="http://schemas.openxmlformats.org/officeDocument/2006/relationships/hyperlink" Target="https://www.populationmedia.org/projects/vencer-el-miedo" TargetMode="External"/><Relationship Id="rId19" Type="http://schemas.openxmlformats.org/officeDocument/2006/relationships/hyperlink" Target="https://pmc.ncbi.nlm.nih.gov/articles/PMC9757626/" TargetMode="External"/><Relationship Id="rId20" Type="http://schemas.openxmlformats.org/officeDocument/2006/relationships/hyperlink" Target="https://doi.org/10.1186/s12889-022-14853-8" TargetMode="External"/><Relationship Id="rId21" Type="http://schemas.openxmlformats.org/officeDocument/2006/relationships/hyperlink" Target="https://www.unicef.org/nepal/stories/rope-guna-fal-informative-and-enjoyable" TargetMode="External"/><Relationship Id="rId22" Type="http://schemas.openxmlformats.org/officeDocument/2006/relationships/hyperlink" Target="https://www.populationmedia.org/newsroom/new-data-in-nepal" TargetMode="External"/><Relationship Id="rId23" Type="http://schemas.openxmlformats.org/officeDocument/2006/relationships/hyperlink" Target="https://e1.nmcdn.io/assets/pmc/wp-content/uploads/2024/04/PMC-NPL-RGF-Final-Assessment-Report_April-2023-2.pdf" TargetMode="External"/><Relationship Id="rId24" Type="http://schemas.openxmlformats.org/officeDocument/2006/relationships/hyperlink" Target="https://www.populationmedia.org/the-latest/broadcast-to-begin-in-nepal-a-new-project-with-unicef-and-the-kendeda-fund" TargetMode="External"/><Relationship Id="rId25" Type="http://schemas.openxmlformats.org/officeDocument/2006/relationships/hyperlink" Target="https://hsph.harvard.edu/research/health-communication/harvard-alcohol-project-designated-driver/" TargetMode="External"/><Relationship Id="rId26" Type="http://schemas.openxmlformats.org/officeDocument/2006/relationships/slideLayout" Target="../slideLayouts/slideLayout1.xml"/><Relationship Id="rId27"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hyperlink" Target="https://hsph.harvard.edu/wp-content/uploads/2024/11/D.D._Cheers-SamRebecca.jpg" TargetMode="External"/><Relationship Id="rId2" Type="http://schemas.openxmlformats.org/officeDocument/2006/relationships/hyperlink" Target="https://archive.org/download/per_new-york-times-magazine_the-new-york-times_1929-04-01_78_26000/page/n0_w2000.jpg" TargetMode="External"/><Relationship Id="rId3" Type="http://schemas.openxmlformats.org/officeDocument/2006/relationships/hyperlink" Target="https://commons.wikimedia.org/wiki/Special:FilePath/%22Do_The_Job_He_Left_Behind%22_-_NARA_-_513683.jpg" TargetMode="External"/><Relationship Id="rId4" Type="http://schemas.openxmlformats.org/officeDocument/2006/relationships/hyperlink" Target="https://commons.wikimedia.org/wiki/Special:FilePath/SMOKEY_SAYS_-_CARE_WILL_PREVENT_9_OUT_OF_10_FOREST_FIRES%5E_-_NARA_-_515437.jpg" TargetMode="External"/><Relationship Id="rId5" Type="http://schemas.openxmlformats.org/officeDocument/2006/relationships/hyperlink" Target="https://www.youtube.com/watch?v=MPePAA-V4ZI" TargetMode="External"/><Relationship Id="rId6" Type="http://schemas.openxmlformats.org/officeDocument/2006/relationships/hyperlink" Target="https://www.youtube.com/watch?v=MPePAA-V4ZI" TargetMode="External"/><Relationship Id="rId7" Type="http://schemas.openxmlformats.org/officeDocument/2006/relationships/hyperlink" Target="https://www.youtube.com/watch?v=_zJJziQgeKo&amp;t=18" TargetMode="External"/><Relationship Id="rId8" Type="http://schemas.openxmlformats.org/officeDocument/2006/relationships/slideLayout" Target="../slideLayouts/slideLayout1.xml"/><Relationship Id="rId9"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hyperlink" Target="https://www.youtube.com/watch?v=BPnqSmxh-60&amp;t=24" TargetMode="External"/><Relationship Id="rId2" Type="http://schemas.openxmlformats.org/officeDocument/2006/relationships/hyperlink" Target="https://www.youtube.com/watch?v=Sxn-lSJiW7o&amp;t=300" TargetMode="External"/><Relationship Id="rId3" Type="http://schemas.openxmlformats.org/officeDocument/2006/relationships/hyperlink" Target="https://www.youtube.com/watch?v=1_8hkdZkF7Q&amp;t=23" TargetMode="External"/><Relationship Id="rId4" Type="http://schemas.openxmlformats.org/officeDocument/2006/relationships/hyperlink" Target="https://www.youtube.com/watch?v=KISppQMhOuI&amp;t=28" TargetMode="External"/><Relationship Id="rId5" Type="http://schemas.openxmlformats.org/officeDocument/2006/relationships/hyperlink" Target="https://hsph.harvard.edu/wp-content/uploads/2024/11/D.D._Cheers-SamRebecca.jpg" TargetMode="External"/><Relationship Id="rId6" Type="http://schemas.openxmlformats.org/officeDocument/2006/relationships/hyperlink" Target="https://www.youtube.com/watch?v=p85zXhD3F5c" TargetMode="External"/><Relationship Id="rId7" Type="http://schemas.openxmlformats.org/officeDocument/2006/relationships/hyperlink" Target="https://i.ytimg.com/vi/HOArW-Yqzj4/hqdefault.jpg" TargetMode="External"/><Relationship Id="rId8" Type="http://schemas.openxmlformats.org/officeDocument/2006/relationships/hyperlink" Target="https://www.unicef.org/pakistan/media/3471/file/Count%20your%20chickens.pdf" TargetMode="External"/><Relationship Id="rId9" Type="http://schemas.openxmlformats.org/officeDocument/2006/relationships/slideLayout" Target="../slideLayouts/slideLayout1.xml"/><Relationship Id="rId10"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hyperlink" Target="https://www.jstor.org/stable/172196" TargetMode="External"/><Relationship Id="rId2" Type="http://schemas.openxmlformats.org/officeDocument/2006/relationships/hyperlink" Target="https://www.youtube.com/watch?v=fC9r5dtUxWE" TargetMode="External"/><Relationship Id="rId3" Type="http://schemas.openxmlformats.org/officeDocument/2006/relationships/hyperlink" Target="https://www.youtube.com/watch?v=fC9r5dtUxWE" TargetMode="External"/><Relationship Id="rId4" Type="http://schemas.openxmlformats.org/officeDocument/2006/relationships/hyperlink" Target="https://cdn1.sph.harvard.edu/wp-content/uploads/sites/78/2020/07/CropScale916xSQ-IT-FORUM-3_FullStageWithSign.jpg" TargetMode="External"/><Relationship Id="rId5" Type="http://schemas.openxmlformats.org/officeDocument/2006/relationships/hyperlink" Target="https://web.archive.org/web/2020/https://www.endvawnow.org/uploads/browser/files/Soul%20City%204%20Impact%20Evaluation%20VAW%20Vol%20II.pdf" TargetMode="External"/><Relationship Id="rId6" Type="http://schemas.openxmlformats.org/officeDocument/2006/relationships/hyperlink" Target="http://3.bp.blogspot.com/-MpBbiI4D2Kg/TdaHo3UyXxI/AAAAAAAAAcI/SLyZlwyKn7s/s1600/5x7+Cropped+CIMG6226+Mbour+Declaration.JPG" TargetMode="External"/><Relationship Id="rId7" Type="http://schemas.openxmlformats.org/officeDocument/2006/relationships/hyperlink" Target="https://commons.wikimedia.org/wiki/Special:FilePath/Village_gathering_(8592452962).jpg" TargetMode="External"/><Relationship Id="rId8" Type="http://schemas.openxmlformats.org/officeDocument/2006/relationships/slideLayout" Target="../slideLayouts/slideLayout1.xml"/><Relationship Id="rId9"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hyperlink" Target="https://www.youtube.com/watch?v=5mvFp4grit0" TargetMode="External"/><Relationship Id="rId2" Type="http://schemas.openxmlformats.org/officeDocument/2006/relationships/hyperlink" Target="https://www.youtube.com/watch?v=C5JkH01ArIc" TargetMode="External"/><Relationship Id="rId3" Type="http://schemas.openxmlformats.org/officeDocument/2006/relationships/hyperlink" Target="https://web.archive.org/web/20070819104829id_/http://www.puntos.org.ni/novela/images/sexto_line-up.tif" TargetMode="External"/><Relationship Id="rId4" Type="http://schemas.openxmlformats.org/officeDocument/2006/relationships/hyperlink" Target="https://web.archive.org/web/20090122164030id_/http://www.cdc.gov/youthcampaign/advertising/african_american/PDF/hiphopscotch.pdf" TargetMode="External"/><Relationship Id="rId5" Type="http://schemas.openxmlformats.org/officeDocument/2006/relationships/hyperlink" Target="https://web.archive.org/web/20120801180854id_/http://www.kff.org/entpartnerships/loader.cfm?url=/commonspot/security/getfile.cfm&amp;PageID=14847" TargetMode="External"/><Relationship Id="rId6" Type="http://schemas.openxmlformats.org/officeDocument/2006/relationships/hyperlink" Target="https://raisingvoices.org/wp-content/uploads/2022/01/2.-SASA_Awareness.zip" TargetMode="External"/><Relationship Id="rId7" Type="http://schemas.openxmlformats.org/officeDocument/2006/relationships/hyperlink" Target="https://raisingvoices.org/wp-content/uploads/2022/01/4.-SASA_Action.zip" TargetMode="External"/><Relationship Id="rId8" Type="http://schemas.openxmlformats.org/officeDocument/2006/relationships/hyperlink" Target="https://eml.berkeley.edu/~saez/course131/allcott2011.pdf" TargetMode="External"/><Relationship Id="rId9" Type="http://schemas.openxmlformats.org/officeDocument/2006/relationships/slideLayout" Target="../slideLayouts/slideLayout1.xml"/><Relationship Id="rId10"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hyperlink" Target="https://eml.berkeley.edu/~saez/course131/allcott2011.pdf" TargetMode="External"/><Relationship Id="rId2" Type="http://schemas.openxmlformats.org/officeDocument/2006/relationships/hyperlink" Target="https://global.comminit.com/files/kyunkiprodbook_final.pdf" TargetMode="External"/><Relationship Id="rId3" Type="http://schemas.openxmlformats.org/officeDocument/2006/relationships/hyperlink" Target="https://www.youtube.com/watch?v=cfgsbAN4J9I" TargetMode="External"/><Relationship Id="rId4" Type="http://schemas.openxmlformats.org/officeDocument/2006/relationships/hyperlink" Target="https://www.youtube.com/watch?v=cfgsbAN4J9I" TargetMode="External"/><Relationship Id="rId5" Type="http://schemas.openxmlformats.org/officeDocument/2006/relationships/hyperlink" Target="https://utminers.utep.edu/asinghal/Reports/east%20los%20high%20transmedia%20edutainment%20to%20promote%20the%20sexual%20and%20reproductive.pdf" TargetMode="External"/><Relationship Id="rId6" Type="http://schemas.openxmlformats.org/officeDocument/2006/relationships/hyperlink" Target="https://utminers.utep.edu/asinghal/Reports/east%20los%20high%20transmedia%20edutainment%20to%20promote%20the%20sexual%20and%20reproductive.pdf" TargetMode="External"/><Relationship Id="rId7" Type="http://schemas.openxmlformats.org/officeDocument/2006/relationships/hyperlink" Target="https://www.youtube.com/watch?v=-Yaq_dW0Xdc" TargetMode="External"/><Relationship Id="rId8" Type="http://schemas.openxmlformats.org/officeDocument/2006/relationships/hyperlink" Target="https://i1.sndcdn.com/artworks-000150121797-ho0ls1-original.jpg" TargetMode="External"/><Relationship Id="rId9" Type="http://schemas.openxmlformats.org/officeDocument/2006/relationships/slideLayout" Target="../slideLayouts/slideLayout1.xml"/><Relationship Id="rId10"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hyperlink" Target="https://www.youtube.com/watch?v=jsP0W7-tEOc" TargetMode="External"/><Relationship Id="rId2" Type="http://schemas.openxmlformats.org/officeDocument/2006/relationships/hyperlink" Target="https://www.unicef.org/bangladesh/sites/unicef.org.bangladesh/files/UN0694922.png" TargetMode="External"/><Relationship Id="rId3" Type="http://schemas.openxmlformats.org/officeDocument/2006/relationships/hyperlink" Target="https://e1.nmcdn.io/pmc2026/wp-content/uploads/1970/01/Project_VEM_Masthead.jpg" TargetMode="External"/><Relationship Id="rId4" Type="http://schemas.openxmlformats.org/officeDocument/2006/relationships/hyperlink" Target="https://www.populationmedia.org/wp-content/uploads/imported-files/RoGF-studio-web.jpg" TargetMode="External"/><Relationship Id="rId5" Type="http://schemas.openxmlformats.org/officeDocument/2006/relationships/slideLayout" Target="../slideLayouts/slideLayout1.xml"/><Relationship Id="rId6" Type="http://schemas.openxmlformats.org/officeDocument/2006/relationships/notesSlide" Target="../notesSlides/notesSlide6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5" name="PlaceHolder 1"/>
          <p:cNvSpPr>
            <a:spLocks noGrp="1"/>
          </p:cNvSpPr>
          <p:nvPr>
            <p:ph type="sldNum" idx="7"/>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6"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 name=""/>
          <p:cNvSpPr/>
          <p:nvPr/>
        </p:nvSpPr>
        <p:spPr>
          <a:xfrm>
            <a:off x="666720" y="657360"/>
            <a:ext cx="619092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A HISTORY OF CAMPAIGNS THAT SHIFTED BEHAVIOR</a:t>
            </a:r>
            <a:endParaRPr lang="en-US" sz="1350" b="0" u="none" strike="noStrike">
              <a:solidFill>
                <a:srgbClr val="000000"/>
              </a:solidFill>
              <a:effectLst/>
              <a:uFillTx/>
              <a:latin typeface="Arial"/>
            </a:endParaRPr>
          </a:p>
        </p:txBody>
      </p:sp>
      <p:sp>
        <p:nvSpPr>
          <p:cNvPr id="18" name=""/>
          <p:cNvSpPr/>
          <p:nvPr/>
        </p:nvSpPr>
        <p:spPr>
          <a:xfrm>
            <a:off x="666720" y="1457280"/>
            <a:ext cx="6190920" cy="19522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4650" b="1" u="none" strike="noStrike">
                <a:solidFill>
                  <a:srgbClr val="17232B"/>
                </a:solidFill>
                <a:effectLst/>
                <a:uFillTx/>
                <a:latin typeface="Calibri"/>
                <a:ea typeface="Calibri"/>
              </a:rPr>
              <a:t>Making a new behavior feel normal</a:t>
            </a:r>
            <a:endParaRPr lang="en-US" sz="4650" b="0" u="none" strike="noStrike">
              <a:solidFill>
                <a:srgbClr val="000000"/>
              </a:solidFill>
              <a:effectLst/>
              <a:uFillTx/>
              <a:latin typeface="Arial"/>
            </a:endParaRPr>
          </a:p>
        </p:txBody>
      </p:sp>
      <p:sp>
        <p:nvSpPr>
          <p:cNvPr id="19" name=""/>
          <p:cNvSpPr/>
          <p:nvPr/>
        </p:nvSpPr>
        <p:spPr>
          <a:xfrm>
            <a:off x="704880" y="3666960"/>
            <a:ext cx="5905080" cy="999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2020" b="0" u="none" strike="noStrike">
                <a:solidFill>
                  <a:srgbClr val="607079"/>
                </a:solidFill>
                <a:effectLst/>
                <a:uFillTx/>
                <a:latin typeface="Calibri"/>
                <a:ea typeface="Calibri"/>
              </a:rPr>
              <a:t>How 35 campaigns were built: the message, the delivery, the next step, and the evidence.</a:t>
            </a:r>
            <a:endParaRPr lang="en-US" sz="2020" b="0" u="none" strike="noStrike">
              <a:solidFill>
                <a:srgbClr val="000000"/>
              </a:solidFill>
              <a:effectLst/>
              <a:uFillTx/>
              <a:latin typeface="Arial"/>
            </a:endParaRPr>
          </a:p>
        </p:txBody>
      </p:sp>
      <p:sp>
        <p:nvSpPr>
          <p:cNvPr id="20" name=""/>
          <p:cNvSpPr/>
          <p:nvPr/>
        </p:nvSpPr>
        <p:spPr>
          <a:xfrm>
            <a:off x="666720" y="5248440"/>
            <a:ext cx="5905080" cy="18720"/>
          </a:xfrm>
          <a:prstGeom prst="rect">
            <a:avLst/>
          </a:prstGeom>
          <a:solidFill>
            <a:srgbClr val="D9DEDC"/>
          </a:solidFill>
          <a:ln w="0">
            <a:solidFill>
              <a:srgbClr val="D9DEDC"/>
            </a:solidFill>
          </a:ln>
        </p:spPr>
        <p:style>
          <a:lnRef idx="0"/>
          <a:fillRef idx="0"/>
          <a:effectRef idx="0"/>
          <a:fontRef idx="minor"/>
        </p:style>
        <p:txBody>
          <a:bodyPr lIns="90000" tIns="-25920" rIns="90000" bIns="-25920" anchor="t">
            <a:noAutofit/>
          </a:bodyPr>
          <a:p>
            <a:endParaRPr lang="en-US" sz="1800" b="0" u="none" strike="noStrike">
              <a:solidFill>
                <a:srgbClr val="000000"/>
              </a:solidFill>
              <a:effectLst/>
              <a:uFillTx/>
              <a:latin typeface="Arial"/>
            </a:endParaRPr>
          </a:p>
        </p:txBody>
      </p:sp>
      <p:sp>
        <p:nvSpPr>
          <p:cNvPr id="21" name=""/>
          <p:cNvSpPr/>
          <p:nvPr/>
        </p:nvSpPr>
        <p:spPr>
          <a:xfrm>
            <a:off x="666720" y="5514840"/>
            <a:ext cx="3428640" cy="428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70" b="1" u="none" strike="noStrike">
                <a:solidFill>
                  <a:srgbClr val="17232B"/>
                </a:solidFill>
                <a:effectLst/>
                <a:uFillTx/>
                <a:latin typeface="Calibri"/>
                <a:ea typeface="Calibri"/>
              </a:rPr>
              <a:t>1929 — 2022</a:t>
            </a:r>
            <a:endParaRPr lang="en-US" sz="1870" b="0" u="none" strike="noStrike">
              <a:solidFill>
                <a:srgbClr val="000000"/>
              </a:solidFill>
              <a:effectLst/>
              <a:uFillTx/>
              <a:latin typeface="Arial"/>
            </a:endParaRPr>
          </a:p>
        </p:txBody>
      </p:sp>
      <p:sp>
        <p:nvSpPr>
          <p:cNvPr id="22" name=""/>
          <p:cNvSpPr/>
          <p:nvPr/>
        </p:nvSpPr>
        <p:spPr>
          <a:xfrm>
            <a:off x="7115040" y="942840"/>
            <a:ext cx="4400280" cy="5238360"/>
          </a:xfrm>
          <a:prstGeom prst="roundRect">
            <a:avLst>
              <a:gd name="adj" fmla="val 1732"/>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 name=""/>
          <p:cNvSpPr/>
          <p:nvPr/>
        </p:nvSpPr>
        <p:spPr>
          <a:xfrm>
            <a:off x="7296120" y="1133640"/>
            <a:ext cx="4038120" cy="4362120"/>
          </a:xfrm>
          <a:prstGeom prst="roundRect">
            <a:avLst>
              <a:gd name="adj" fmla="val 1887"/>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4" name=""/>
          <p:cNvPicPr/>
          <p:nvPr/>
        </p:nvPicPr>
        <p:blipFill>
          <a:blip r:embed="rId1"/>
          <a:stretch/>
        </p:blipFill>
        <p:spPr>
          <a:xfrm>
            <a:off x="7746120" y="1209600"/>
            <a:ext cx="3138120" cy="4209840"/>
          </a:xfrm>
          <a:prstGeom prst="rect">
            <a:avLst/>
          </a:prstGeom>
          <a:noFill/>
          <a:ln w="0">
            <a:noFill/>
          </a:ln>
        </p:spPr>
      </p:pic>
      <p:sp>
        <p:nvSpPr>
          <p:cNvPr id="25" name=""/>
          <p:cNvSpPr/>
          <p:nvPr/>
        </p:nvSpPr>
        <p:spPr>
          <a:xfrm>
            <a:off x="7324560" y="5619600"/>
            <a:ext cx="3962160" cy="3805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“Life of the Party” poster on the Cheers set, c. 1989 — Harvard Chan CHC</a:t>
            </a:r>
            <a:endParaRPr lang="en-US" sz="113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26" name="PlaceHolder 1"/>
          <p:cNvSpPr>
            <a:spLocks noGrp="1"/>
          </p:cNvSpPr>
          <p:nvPr>
            <p:ph type="sldNum" idx="8"/>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27"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 name=""/>
          <p:cNvSpPr/>
          <p:nvPr/>
        </p:nvSpPr>
        <p:spPr>
          <a:xfrm>
            <a:off x="666720" y="657360"/>
            <a:ext cx="104770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THE REFERENCE CASE · 1988</a:t>
            </a:r>
            <a:endParaRPr lang="en-US" sz="1350" b="0" u="none" strike="noStrike">
              <a:solidFill>
                <a:srgbClr val="000000"/>
              </a:solidFill>
              <a:effectLst/>
              <a:uFillTx/>
              <a:latin typeface="Arial"/>
            </a:endParaRPr>
          </a:p>
        </p:txBody>
      </p:sp>
      <p:sp>
        <p:nvSpPr>
          <p:cNvPr id="29"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02</a:t>
            </a:r>
            <a:endParaRPr lang="en-US" sz="980" b="0" u="none" strike="noStrike">
              <a:solidFill>
                <a:srgbClr val="000000"/>
              </a:solidFill>
              <a:effectLst/>
              <a:uFillTx/>
              <a:latin typeface="Arial"/>
            </a:endParaRPr>
          </a:p>
        </p:txBody>
      </p:sp>
      <p:sp>
        <p:nvSpPr>
          <p:cNvPr id="30" name=""/>
          <p:cNvSpPr/>
          <p:nvPr/>
        </p:nvSpPr>
        <p:spPr>
          <a:xfrm>
            <a:off x="666720" y="1809720"/>
            <a:ext cx="10286640" cy="23810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4200" b="1" u="none" strike="noStrike">
                <a:solidFill>
                  <a:srgbClr val="17232B"/>
                </a:solidFill>
                <a:effectLst/>
                <a:uFillTx/>
                <a:latin typeface="Calibri"/>
                <a:ea typeface="Calibri"/>
              </a:rPr>
              <a:t>One person stays sober and drives.</a:t>
            </a:r>
            <a:endParaRPr lang="en-US" sz="4200" b="0" u="none" strike="noStrike">
              <a:solidFill>
                <a:srgbClr val="000000"/>
              </a:solidFill>
              <a:effectLst/>
              <a:uFillTx/>
              <a:latin typeface="Arial"/>
            </a:endParaRPr>
          </a:p>
          <a:p>
            <a:pPr defTabSz="914400">
              <a:lnSpc>
                <a:spcPct val="100000"/>
              </a:lnSpc>
              <a:tabLst>
                <a:tab pos="0" algn="l"/>
              </a:tabLst>
            </a:pPr>
            <a:endParaRPr lang="en-US" sz="1800" b="0" u="none" strike="noStrike">
              <a:solidFill>
                <a:srgbClr val="000000"/>
              </a:solidFill>
              <a:effectLst/>
              <a:uFillTx/>
              <a:latin typeface="Arial"/>
            </a:endParaRPr>
          </a:p>
          <a:p>
            <a:pPr defTabSz="914400">
              <a:lnSpc>
                <a:spcPct val="100000"/>
              </a:lnSpc>
              <a:tabLst>
                <a:tab pos="0" algn="l"/>
              </a:tabLst>
            </a:pPr>
            <a:r>
              <a:rPr lang="en-US" sz="4200" b="1" u="none" strike="noStrike">
                <a:solidFill>
                  <a:srgbClr val="17232B"/>
                </a:solidFill>
                <a:effectLst/>
                <a:uFillTx/>
                <a:latin typeface="Calibri"/>
                <a:ea typeface="Calibri"/>
              </a:rPr>
              <a:t>By 1991, 37% of Americans said they had been a designated driver.</a:t>
            </a:r>
            <a:endParaRPr lang="en-US" sz="4200" b="0" u="none" strike="noStrike">
              <a:solidFill>
                <a:srgbClr val="000000"/>
              </a:solidFill>
              <a:effectLst/>
              <a:uFillTx/>
              <a:latin typeface="Arial"/>
            </a:endParaRPr>
          </a:p>
        </p:txBody>
      </p:sp>
      <p:sp>
        <p:nvSpPr>
          <p:cNvPr id="31" name=""/>
          <p:cNvSpPr/>
          <p:nvPr/>
        </p:nvSpPr>
        <p:spPr>
          <a:xfrm>
            <a:off x="666720" y="4572000"/>
            <a:ext cx="1142640" cy="28080"/>
          </a:xfrm>
          <a:prstGeom prst="rect">
            <a:avLst/>
          </a:prstGeom>
          <a:solidFill>
            <a:srgbClr val="B75D3C"/>
          </a:solidFill>
          <a:ln w="0">
            <a:solidFill>
              <a:srgbClr val="B75D3C"/>
            </a:solidFill>
          </a:ln>
        </p:spPr>
        <p:style>
          <a:lnRef idx="0"/>
          <a:fillRef idx="0"/>
          <a:effectRef idx="0"/>
          <a:fontRef idx="minor"/>
        </p:style>
        <p:txBody>
          <a:bodyPr lIns="90000" tIns="-16560" rIns="90000" bIns="-16560" anchor="t">
            <a:noAutofit/>
          </a:bodyPr>
          <a:p>
            <a:endParaRPr lang="en-US" sz="1800" b="0" u="none" strike="noStrike">
              <a:solidFill>
                <a:srgbClr val="FFFFFF"/>
              </a:solidFill>
              <a:effectLst/>
              <a:uFillTx/>
              <a:latin typeface="Arial"/>
            </a:endParaRPr>
          </a:p>
        </p:txBody>
      </p:sp>
      <p:sp>
        <p:nvSpPr>
          <p:cNvPr id="32" name=""/>
          <p:cNvSpPr/>
          <p:nvPr/>
        </p:nvSpPr>
        <p:spPr>
          <a:xfrm>
            <a:off x="666720" y="4809960"/>
            <a:ext cx="10096200" cy="1142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2100" b="0" u="none" strike="noStrike">
                <a:solidFill>
                  <a:srgbClr val="607079"/>
                </a:solidFill>
                <a:effectLst/>
                <a:uFillTx/>
                <a:latin typeface="Calibri"/>
                <a:ea typeface="Calibri"/>
              </a:rPr>
              <a:t>Harvard got the “designated driver” written into prime-time TV.</a:t>
            </a:r>
            <a:endParaRPr lang="en-US"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33" name="PlaceHolder 1"/>
          <p:cNvSpPr>
            <a:spLocks noGrp="1"/>
          </p:cNvSpPr>
          <p:nvPr>
            <p:ph type="sldNum" idx="9"/>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34"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 name=""/>
          <p:cNvSpPr/>
          <p:nvPr/>
        </p:nvSpPr>
        <p:spPr>
          <a:xfrm>
            <a:off x="666720" y="657360"/>
            <a:ext cx="104770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WHAT THIS IS</a:t>
            </a:r>
            <a:endParaRPr lang="en-US" sz="1350" b="0" u="none" strike="noStrike">
              <a:solidFill>
                <a:srgbClr val="000000"/>
              </a:solidFill>
              <a:effectLst/>
              <a:uFillTx/>
              <a:latin typeface="Arial"/>
            </a:endParaRPr>
          </a:p>
        </p:txBody>
      </p:sp>
      <p:sp>
        <p:nvSpPr>
          <p:cNvPr id="36"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03</a:t>
            </a:r>
            <a:endParaRPr lang="en-US" sz="980" b="0" u="none" strike="noStrike">
              <a:solidFill>
                <a:srgbClr val="000000"/>
              </a:solidFill>
              <a:effectLst/>
              <a:uFillTx/>
              <a:latin typeface="Arial"/>
            </a:endParaRPr>
          </a:p>
        </p:txBody>
      </p:sp>
      <p:sp>
        <p:nvSpPr>
          <p:cNvPr id="37" name=""/>
          <p:cNvSpPr/>
          <p:nvPr/>
        </p:nvSpPr>
        <p:spPr>
          <a:xfrm>
            <a:off x="666720" y="1085760"/>
            <a:ext cx="10286640" cy="1428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4200" b="1" u="none" strike="noStrike">
                <a:solidFill>
                  <a:srgbClr val="17232B"/>
                </a:solidFill>
                <a:effectLst/>
                <a:uFillTx/>
                <a:latin typeface="Calibri"/>
                <a:ea typeface="Calibri"/>
              </a:rPr>
              <a:t>35 deliberate attempts to make a new behavior feel normal.</a:t>
            </a:r>
            <a:endParaRPr lang="en-US" sz="4200" b="0" u="none" strike="noStrike">
              <a:solidFill>
                <a:srgbClr val="000000"/>
              </a:solidFill>
              <a:effectLst/>
              <a:uFillTx/>
              <a:latin typeface="Arial"/>
            </a:endParaRPr>
          </a:p>
        </p:txBody>
      </p:sp>
      <p:sp>
        <p:nvSpPr>
          <p:cNvPr id="38" name=""/>
          <p:cNvSpPr/>
          <p:nvPr/>
        </p:nvSpPr>
        <p:spPr>
          <a:xfrm>
            <a:off x="666720" y="2600280"/>
            <a:ext cx="2542680" cy="3238200"/>
          </a:xfrm>
          <a:prstGeom prst="roundRect">
            <a:avLst>
              <a:gd name="adj" fmla="val 299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 name=""/>
          <p:cNvSpPr/>
          <p:nvPr/>
        </p:nvSpPr>
        <p:spPr>
          <a:xfrm>
            <a:off x="666720" y="2600280"/>
            <a:ext cx="2542680" cy="75960"/>
          </a:xfrm>
          <a:prstGeom prst="rect">
            <a:avLst/>
          </a:prstGeom>
          <a:solidFill>
            <a:srgbClr val="235C77"/>
          </a:solidFill>
          <a:ln w="0">
            <a:solidFill>
              <a:srgbClr val="235C77"/>
            </a:solid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40" name=""/>
          <p:cNvSpPr/>
          <p:nvPr/>
        </p:nvSpPr>
        <p:spPr>
          <a:xfrm>
            <a:off x="895320" y="2933640"/>
            <a:ext cx="2085480" cy="1047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6600" b="1" u="none" strike="noStrike">
                <a:solidFill>
                  <a:srgbClr val="235C77"/>
                </a:solidFill>
                <a:effectLst/>
                <a:uFillTx/>
                <a:latin typeface="Calibri"/>
                <a:ea typeface="Calibri"/>
              </a:rPr>
              <a:t>11</a:t>
            </a:r>
            <a:endParaRPr lang="en-US" sz="6600" b="0" u="none" strike="noStrike">
              <a:solidFill>
                <a:srgbClr val="000000"/>
              </a:solidFill>
              <a:effectLst/>
              <a:uFillTx/>
              <a:latin typeface="Arial"/>
            </a:endParaRPr>
          </a:p>
        </p:txBody>
      </p:sp>
      <p:sp>
        <p:nvSpPr>
          <p:cNvPr id="41" name=""/>
          <p:cNvSpPr/>
          <p:nvPr/>
        </p:nvSpPr>
        <p:spPr>
          <a:xfrm>
            <a:off x="895320" y="4124160"/>
            <a:ext cx="2085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950" b="1" u="none" strike="noStrike">
                <a:solidFill>
                  <a:srgbClr val="17232B"/>
                </a:solidFill>
                <a:effectLst/>
                <a:uFillTx/>
                <a:latin typeface="Calibri"/>
                <a:ea typeface="Calibri"/>
              </a:rPr>
              <a:t>Public campaigns</a:t>
            </a:r>
            <a:endParaRPr lang="en-US" sz="1950" b="0" u="none" strike="noStrike">
              <a:solidFill>
                <a:srgbClr val="000000"/>
              </a:solidFill>
              <a:effectLst/>
              <a:uFillTx/>
              <a:latin typeface="Arial"/>
            </a:endParaRPr>
          </a:p>
        </p:txBody>
      </p:sp>
      <p:sp>
        <p:nvSpPr>
          <p:cNvPr id="42" name=""/>
          <p:cNvSpPr/>
          <p:nvPr/>
        </p:nvSpPr>
        <p:spPr>
          <a:xfrm>
            <a:off x="895320" y="4886280"/>
            <a:ext cx="2085480" cy="856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607079"/>
                </a:solidFill>
                <a:effectLst/>
                <a:uFillTx/>
                <a:latin typeface="Calibri"/>
                <a:ea typeface="Calibri"/>
              </a:rPr>
              <a:t>Smokey Bear, Click It or Ticket, truth</a:t>
            </a:r>
            <a:endParaRPr lang="en-US" sz="1350" b="0" u="none" strike="noStrike">
              <a:solidFill>
                <a:srgbClr val="000000"/>
              </a:solidFill>
              <a:effectLst/>
              <a:uFillTx/>
              <a:latin typeface="Arial"/>
            </a:endParaRPr>
          </a:p>
        </p:txBody>
      </p:sp>
      <p:sp>
        <p:nvSpPr>
          <p:cNvPr id="43" name=""/>
          <p:cNvSpPr/>
          <p:nvPr/>
        </p:nvSpPr>
        <p:spPr>
          <a:xfrm>
            <a:off x="3438360" y="2600280"/>
            <a:ext cx="2542680" cy="3238200"/>
          </a:xfrm>
          <a:prstGeom prst="roundRect">
            <a:avLst>
              <a:gd name="adj" fmla="val 299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 name=""/>
          <p:cNvSpPr/>
          <p:nvPr/>
        </p:nvSpPr>
        <p:spPr>
          <a:xfrm>
            <a:off x="3438360" y="2600280"/>
            <a:ext cx="2542680" cy="75960"/>
          </a:xfrm>
          <a:prstGeom prst="rect">
            <a:avLst/>
          </a:prstGeom>
          <a:solidFill>
            <a:srgbClr val="B75D3C"/>
          </a:solidFill>
          <a:ln w="0">
            <a:solidFill>
              <a:srgbClr val="B75D3C"/>
            </a:solid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45" name=""/>
          <p:cNvSpPr/>
          <p:nvPr/>
        </p:nvSpPr>
        <p:spPr>
          <a:xfrm>
            <a:off x="3666960" y="2933640"/>
            <a:ext cx="2085480" cy="1047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6600" b="1" u="none" strike="noStrike">
                <a:solidFill>
                  <a:srgbClr val="B75D3C"/>
                </a:solidFill>
                <a:effectLst/>
                <a:uFillTx/>
                <a:latin typeface="Calibri"/>
                <a:ea typeface="Calibri"/>
              </a:rPr>
              <a:t>21</a:t>
            </a:r>
            <a:endParaRPr lang="en-US" sz="6600" b="0" u="none" strike="noStrike">
              <a:solidFill>
                <a:srgbClr val="000000"/>
              </a:solidFill>
              <a:effectLst/>
              <a:uFillTx/>
              <a:latin typeface="Arial"/>
            </a:endParaRPr>
          </a:p>
        </p:txBody>
      </p:sp>
      <p:sp>
        <p:nvSpPr>
          <p:cNvPr id="46" name=""/>
          <p:cNvSpPr/>
          <p:nvPr/>
        </p:nvSpPr>
        <p:spPr>
          <a:xfrm>
            <a:off x="3666960" y="4124160"/>
            <a:ext cx="2085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950" b="1" u="none" strike="noStrike">
                <a:solidFill>
                  <a:srgbClr val="17232B"/>
                </a:solidFill>
                <a:effectLst/>
                <a:uFillTx/>
                <a:latin typeface="Calibri"/>
                <a:ea typeface="Calibri"/>
              </a:rPr>
              <a:t>Stories</a:t>
            </a:r>
            <a:endParaRPr lang="en-US" sz="1950" b="0" u="none" strike="noStrike">
              <a:solidFill>
                <a:srgbClr val="000000"/>
              </a:solidFill>
              <a:effectLst/>
              <a:uFillTx/>
              <a:latin typeface="Arial"/>
            </a:endParaRPr>
          </a:p>
        </p:txBody>
      </p:sp>
      <p:sp>
        <p:nvSpPr>
          <p:cNvPr id="47" name=""/>
          <p:cNvSpPr/>
          <p:nvPr/>
        </p:nvSpPr>
        <p:spPr>
          <a:xfrm>
            <a:off x="3666960" y="4886280"/>
            <a:ext cx="2085480" cy="856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607079"/>
                </a:solidFill>
                <a:effectLst/>
                <a:uFillTx/>
                <a:latin typeface="Calibri"/>
                <a:ea typeface="Calibri"/>
              </a:rPr>
              <a:t>Behaviors written into dramas people already followed</a:t>
            </a:r>
            <a:endParaRPr lang="en-US" sz="1350" b="0" u="none" strike="noStrike">
              <a:solidFill>
                <a:srgbClr val="000000"/>
              </a:solidFill>
              <a:effectLst/>
              <a:uFillTx/>
              <a:latin typeface="Arial"/>
            </a:endParaRPr>
          </a:p>
        </p:txBody>
      </p:sp>
      <p:sp>
        <p:nvSpPr>
          <p:cNvPr id="48" name=""/>
          <p:cNvSpPr/>
          <p:nvPr/>
        </p:nvSpPr>
        <p:spPr>
          <a:xfrm>
            <a:off x="6210360" y="2600280"/>
            <a:ext cx="2542680" cy="3238200"/>
          </a:xfrm>
          <a:prstGeom prst="roundRect">
            <a:avLst>
              <a:gd name="adj" fmla="val 299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 name=""/>
          <p:cNvSpPr/>
          <p:nvPr/>
        </p:nvSpPr>
        <p:spPr>
          <a:xfrm>
            <a:off x="6210360" y="2600280"/>
            <a:ext cx="2542680" cy="75960"/>
          </a:xfrm>
          <a:prstGeom prst="rect">
            <a:avLst/>
          </a:prstGeom>
          <a:solidFill>
            <a:srgbClr val="5A6D40"/>
          </a:solidFill>
          <a:ln w="0">
            <a:solidFill>
              <a:srgbClr val="5A6D40"/>
            </a:solid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50" name=""/>
          <p:cNvSpPr/>
          <p:nvPr/>
        </p:nvSpPr>
        <p:spPr>
          <a:xfrm>
            <a:off x="6438960" y="2933640"/>
            <a:ext cx="2085480" cy="1047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6600" b="1" u="none" strike="noStrike">
                <a:solidFill>
                  <a:srgbClr val="5A6D40"/>
                </a:solidFill>
                <a:effectLst/>
                <a:uFillTx/>
                <a:latin typeface="Calibri"/>
                <a:ea typeface="Calibri"/>
              </a:rPr>
              <a:t>2</a:t>
            </a:r>
            <a:endParaRPr lang="en-US" sz="6600" b="0" u="none" strike="noStrike">
              <a:solidFill>
                <a:srgbClr val="000000"/>
              </a:solidFill>
              <a:effectLst/>
              <a:uFillTx/>
              <a:latin typeface="Arial"/>
            </a:endParaRPr>
          </a:p>
        </p:txBody>
      </p:sp>
      <p:sp>
        <p:nvSpPr>
          <p:cNvPr id="51" name=""/>
          <p:cNvSpPr/>
          <p:nvPr/>
        </p:nvSpPr>
        <p:spPr>
          <a:xfrm>
            <a:off x="6438960" y="4124160"/>
            <a:ext cx="2085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950" b="1" u="none" strike="noStrike">
                <a:solidFill>
                  <a:srgbClr val="17232B"/>
                </a:solidFill>
                <a:effectLst/>
                <a:uFillTx/>
                <a:latin typeface="Calibri"/>
                <a:ea typeface="Calibri"/>
              </a:rPr>
              <a:t>Community commitments</a:t>
            </a:r>
            <a:endParaRPr lang="en-US" sz="1950" b="0" u="none" strike="noStrike">
              <a:solidFill>
                <a:srgbClr val="000000"/>
              </a:solidFill>
              <a:effectLst/>
              <a:uFillTx/>
              <a:latin typeface="Arial"/>
            </a:endParaRPr>
          </a:p>
        </p:txBody>
      </p:sp>
      <p:sp>
        <p:nvSpPr>
          <p:cNvPr id="52" name=""/>
          <p:cNvSpPr/>
          <p:nvPr/>
        </p:nvSpPr>
        <p:spPr>
          <a:xfrm>
            <a:off x="6438960" y="4886280"/>
            <a:ext cx="2085480" cy="856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607079"/>
                </a:solidFill>
                <a:effectLst/>
                <a:uFillTx/>
                <a:latin typeface="Calibri"/>
                <a:ea typeface="Calibri"/>
              </a:rPr>
              <a:t>Tostan in Senegal, SASA! in Uganda</a:t>
            </a:r>
            <a:endParaRPr lang="en-US" sz="1350" b="0" u="none" strike="noStrike">
              <a:solidFill>
                <a:srgbClr val="000000"/>
              </a:solidFill>
              <a:effectLst/>
              <a:uFillTx/>
              <a:latin typeface="Arial"/>
            </a:endParaRPr>
          </a:p>
        </p:txBody>
      </p:sp>
      <p:sp>
        <p:nvSpPr>
          <p:cNvPr id="53" name=""/>
          <p:cNvSpPr/>
          <p:nvPr/>
        </p:nvSpPr>
        <p:spPr>
          <a:xfrm>
            <a:off x="8982000" y="2600280"/>
            <a:ext cx="2542680" cy="3238200"/>
          </a:xfrm>
          <a:prstGeom prst="roundRect">
            <a:avLst>
              <a:gd name="adj" fmla="val 299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 name=""/>
          <p:cNvSpPr/>
          <p:nvPr/>
        </p:nvSpPr>
        <p:spPr>
          <a:xfrm>
            <a:off x="8982000" y="2600280"/>
            <a:ext cx="2542680" cy="75960"/>
          </a:xfrm>
          <a:prstGeom prst="rect">
            <a:avLst/>
          </a:prstGeom>
          <a:solidFill>
            <a:srgbClr val="725E8B"/>
          </a:solidFill>
          <a:ln w="0">
            <a:solidFill>
              <a:srgbClr val="725E8B"/>
            </a:solid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55" name=""/>
          <p:cNvSpPr/>
          <p:nvPr/>
        </p:nvSpPr>
        <p:spPr>
          <a:xfrm>
            <a:off x="9210600" y="2933640"/>
            <a:ext cx="2085480" cy="1047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6600" b="1" u="none" strike="noStrike">
                <a:solidFill>
                  <a:srgbClr val="725E8B"/>
                </a:solidFill>
                <a:effectLst/>
                <a:uFillTx/>
                <a:latin typeface="Calibri"/>
                <a:ea typeface="Calibri"/>
              </a:rPr>
              <a:t>1</a:t>
            </a:r>
            <a:endParaRPr lang="en-US" sz="6600" b="0" u="none" strike="noStrike">
              <a:solidFill>
                <a:srgbClr val="000000"/>
              </a:solidFill>
              <a:effectLst/>
              <a:uFillTx/>
              <a:latin typeface="Arial"/>
            </a:endParaRPr>
          </a:p>
        </p:txBody>
      </p:sp>
      <p:sp>
        <p:nvSpPr>
          <p:cNvPr id="56" name=""/>
          <p:cNvSpPr/>
          <p:nvPr/>
        </p:nvSpPr>
        <p:spPr>
          <a:xfrm>
            <a:off x="9210600" y="4124160"/>
            <a:ext cx="2085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950" b="1" u="none" strike="noStrike">
                <a:solidFill>
                  <a:srgbClr val="17232B"/>
                </a:solidFill>
                <a:effectLst/>
                <a:uFillTx/>
                <a:latin typeface="Calibri"/>
                <a:ea typeface="Calibri"/>
              </a:rPr>
              <a:t>Peer comparison</a:t>
            </a:r>
            <a:endParaRPr lang="en-US" sz="1950" b="0" u="none" strike="noStrike">
              <a:solidFill>
                <a:srgbClr val="000000"/>
              </a:solidFill>
              <a:effectLst/>
              <a:uFillTx/>
              <a:latin typeface="Arial"/>
            </a:endParaRPr>
          </a:p>
        </p:txBody>
      </p:sp>
      <p:sp>
        <p:nvSpPr>
          <p:cNvPr id="57" name=""/>
          <p:cNvSpPr/>
          <p:nvPr/>
        </p:nvSpPr>
        <p:spPr>
          <a:xfrm>
            <a:off x="9210600" y="4886280"/>
            <a:ext cx="2085480" cy="856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607079"/>
                </a:solidFill>
                <a:effectLst/>
                <a:uFillTx/>
                <a:latin typeface="Calibri"/>
                <a:ea typeface="Calibri"/>
              </a:rPr>
              <a:t>Opower energy reports</a:t>
            </a:r>
            <a:endParaRPr lang="en-US" sz="1350" b="0" u="none" strike="noStrike">
              <a:solidFill>
                <a:srgbClr val="000000"/>
              </a:solidFill>
              <a:effectLst/>
              <a:uFillTx/>
              <a:latin typeface="Arial"/>
            </a:endParaRPr>
          </a:p>
        </p:txBody>
      </p:sp>
      <p:sp>
        <p:nvSpPr>
          <p:cNvPr id="58" name=""/>
          <p:cNvSpPr/>
          <p:nvPr/>
        </p:nvSpPr>
        <p:spPr>
          <a:xfrm>
            <a:off x="666720" y="6086520"/>
            <a:ext cx="1142640" cy="28080"/>
          </a:xfrm>
          <a:prstGeom prst="rect">
            <a:avLst/>
          </a:prstGeom>
          <a:solidFill>
            <a:srgbClr val="B75D3C"/>
          </a:solidFill>
          <a:ln w="0">
            <a:solidFill>
              <a:srgbClr val="B75D3C"/>
            </a:solidFill>
          </a:ln>
        </p:spPr>
        <p:style>
          <a:lnRef idx="0"/>
          <a:fillRef idx="0"/>
          <a:effectRef idx="0"/>
          <a:fontRef idx="minor"/>
        </p:style>
        <p:txBody>
          <a:bodyPr lIns="90000" tIns="-16560" rIns="90000" bIns="-16560" anchor="t">
            <a:noAutofit/>
          </a:bodyPr>
          <a:p>
            <a:endParaRPr lang="en-US" sz="1800" b="0" u="none" strike="noStrike">
              <a:solidFill>
                <a:srgbClr val="FFFFFF"/>
              </a:solidFill>
              <a:effectLst/>
              <a:uFillTx/>
              <a:latin typeface="Arial"/>
            </a:endParaRPr>
          </a:p>
        </p:txBody>
      </p:sp>
      <p:sp>
        <p:nvSpPr>
          <p:cNvPr id="59" name=""/>
          <p:cNvSpPr/>
          <p:nvPr/>
        </p:nvSpPr>
        <p:spPr>
          <a:xfrm>
            <a:off x="666720" y="6210360"/>
            <a:ext cx="5714640" cy="285480"/>
          </a:xfrm>
          <a:prstGeom prst="rect">
            <a:avLst/>
          </a:prstGeom>
          <a:noFill/>
          <a:ln w="0">
            <a:solidFill>
              <a:srgbClr val="FFFFFF">
                <a:alpha val="0"/>
              </a:srgbClr>
            </a:solidFill>
          </a:ln>
        </p:spPr>
        <p:style>
          <a:lnRef idx="0"/>
          <a:fillRef idx="0"/>
          <a:effectRef idx="0"/>
          <a:fontRef idx="minor"/>
        </p:style>
        <p:txBody>
          <a:bodyPr lIns="0" tIns="0" rIns="0" bIns="0" anchor="t">
            <a:normAutofit fontScale="92500" lnSpcReduction="9999"/>
          </a:bodyPr>
          <a:p>
            <a:pPr defTabSz="914400">
              <a:lnSpc>
                <a:spcPct val="100000"/>
              </a:lnSpc>
              <a:tabLst>
                <a:tab pos="0" algn="l"/>
              </a:tabLst>
            </a:pPr>
            <a:r>
              <a:rPr lang="en-US" sz="2100" b="0" u="none" strike="noStrike">
                <a:solidFill>
                  <a:srgbClr val="607079"/>
                </a:solidFill>
                <a:effectLst/>
                <a:uFillTx/>
                <a:latin typeface="Calibri"/>
                <a:ea typeface="Calibri"/>
              </a:rPr>
              <a:t>1929 to 2022</a:t>
            </a:r>
            <a:endParaRPr lang="en-US"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60" name="PlaceHolder 1"/>
          <p:cNvSpPr>
            <a:spLocks noGrp="1"/>
          </p:cNvSpPr>
          <p:nvPr>
            <p:ph type="sldNum" idx="10"/>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61"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2" name=""/>
          <p:cNvSpPr/>
          <p:nvPr/>
        </p:nvSpPr>
        <p:spPr>
          <a:xfrm>
            <a:off x="666720" y="657360"/>
            <a:ext cx="104770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607079"/>
                </a:solidFill>
                <a:effectLst/>
                <a:uFillTx/>
                <a:latin typeface="Calibri"/>
                <a:ea typeface="Calibri"/>
              </a:rPr>
              <a:t>THE TOPICS</a:t>
            </a:r>
            <a:endParaRPr lang="en-US" sz="1350" b="0" u="none" strike="noStrike">
              <a:solidFill>
                <a:srgbClr val="000000"/>
              </a:solidFill>
              <a:effectLst/>
              <a:uFillTx/>
              <a:latin typeface="Arial"/>
            </a:endParaRPr>
          </a:p>
        </p:txBody>
      </p:sp>
      <p:sp>
        <p:nvSpPr>
          <p:cNvPr id="63"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04</a:t>
            </a:r>
            <a:endParaRPr lang="en-US" sz="980" b="0" u="none" strike="noStrike">
              <a:solidFill>
                <a:srgbClr val="000000"/>
              </a:solidFill>
              <a:effectLst/>
              <a:uFillTx/>
              <a:latin typeface="Arial"/>
            </a:endParaRPr>
          </a:p>
        </p:txBody>
      </p:sp>
      <p:sp>
        <p:nvSpPr>
          <p:cNvPr id="64" name=""/>
          <p:cNvSpPr/>
          <p:nvPr/>
        </p:nvSpPr>
        <p:spPr>
          <a:xfrm>
            <a:off x="666720" y="1143000"/>
            <a:ext cx="104770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300" b="1" u="none" strike="noStrike">
                <a:solidFill>
                  <a:srgbClr val="17232B"/>
                </a:solidFill>
                <a:effectLst/>
                <a:uFillTx/>
                <a:latin typeface="Calibri"/>
                <a:ea typeface="Calibri"/>
              </a:rPr>
              <a:t>What they tried to change</a:t>
            </a:r>
            <a:endParaRPr lang="en-US" sz="3300" b="0" u="none" strike="noStrike">
              <a:solidFill>
                <a:srgbClr val="000000"/>
              </a:solidFill>
              <a:effectLst/>
              <a:uFillTx/>
              <a:latin typeface="Arial"/>
            </a:endParaRPr>
          </a:p>
        </p:txBody>
      </p:sp>
      <p:sp>
        <p:nvSpPr>
          <p:cNvPr id="65" name=""/>
          <p:cNvSpPr/>
          <p:nvPr/>
        </p:nvSpPr>
        <p:spPr>
          <a:xfrm>
            <a:off x="666720" y="2276640"/>
            <a:ext cx="571320" cy="323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607079"/>
                </a:solidFill>
                <a:effectLst/>
                <a:uFillTx/>
                <a:latin typeface="Calibri"/>
                <a:ea typeface="Calibri"/>
              </a:rPr>
              <a:t>01</a:t>
            </a:r>
            <a:endParaRPr lang="en-US" sz="1800" b="0" u="none" strike="noStrike">
              <a:solidFill>
                <a:srgbClr val="000000"/>
              </a:solidFill>
              <a:effectLst/>
              <a:uFillTx/>
              <a:latin typeface="Arial"/>
            </a:endParaRPr>
          </a:p>
        </p:txBody>
      </p:sp>
      <p:sp>
        <p:nvSpPr>
          <p:cNvPr id="66" name=""/>
          <p:cNvSpPr/>
          <p:nvPr/>
        </p:nvSpPr>
        <p:spPr>
          <a:xfrm>
            <a:off x="1333440" y="2238480"/>
            <a:ext cx="9619920" cy="837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2250" b="0" u="none" strike="noStrike">
                <a:solidFill>
                  <a:srgbClr val="17232B"/>
                </a:solidFill>
                <a:effectLst/>
                <a:uFillTx/>
                <a:latin typeface="Calibri"/>
                <a:ea typeface="Calibri"/>
              </a:rPr>
              <a:t>Drunk driving, seat belts, litter</a:t>
            </a:r>
            <a:endParaRPr lang="en-US" sz="2250" b="0" u="none" strike="noStrike">
              <a:solidFill>
                <a:srgbClr val="000000"/>
              </a:solidFill>
              <a:effectLst/>
              <a:uFillTx/>
              <a:latin typeface="Arial"/>
            </a:endParaRPr>
          </a:p>
        </p:txBody>
      </p:sp>
      <p:sp>
        <p:nvSpPr>
          <p:cNvPr id="67" name=""/>
          <p:cNvSpPr/>
          <p:nvPr/>
        </p:nvSpPr>
        <p:spPr>
          <a:xfrm>
            <a:off x="1333440" y="3095640"/>
            <a:ext cx="9619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68" name=""/>
          <p:cNvSpPr/>
          <p:nvPr/>
        </p:nvSpPr>
        <p:spPr>
          <a:xfrm>
            <a:off x="666720" y="3228840"/>
            <a:ext cx="571320" cy="323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607079"/>
                </a:solidFill>
                <a:effectLst/>
                <a:uFillTx/>
                <a:latin typeface="Calibri"/>
                <a:ea typeface="Calibri"/>
              </a:rPr>
              <a:t>02</a:t>
            </a:r>
            <a:endParaRPr lang="en-US" sz="1800" b="0" u="none" strike="noStrike">
              <a:solidFill>
                <a:srgbClr val="000000"/>
              </a:solidFill>
              <a:effectLst/>
              <a:uFillTx/>
              <a:latin typeface="Arial"/>
            </a:endParaRPr>
          </a:p>
        </p:txBody>
      </p:sp>
      <p:sp>
        <p:nvSpPr>
          <p:cNvPr id="69" name=""/>
          <p:cNvSpPr/>
          <p:nvPr/>
        </p:nvSpPr>
        <p:spPr>
          <a:xfrm>
            <a:off x="1333440" y="3191040"/>
            <a:ext cx="9619920" cy="837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2250" b="0" u="none" strike="noStrike">
                <a:solidFill>
                  <a:srgbClr val="17232B"/>
                </a:solidFill>
                <a:effectLst/>
                <a:uFillTx/>
                <a:latin typeface="Calibri"/>
                <a:ea typeface="Calibri"/>
              </a:rPr>
              <a:t>Smoking and exercise</a:t>
            </a:r>
            <a:endParaRPr lang="en-US" sz="2250" b="0" u="none" strike="noStrike">
              <a:solidFill>
                <a:srgbClr val="000000"/>
              </a:solidFill>
              <a:effectLst/>
              <a:uFillTx/>
              <a:latin typeface="Arial"/>
            </a:endParaRPr>
          </a:p>
        </p:txBody>
      </p:sp>
      <p:sp>
        <p:nvSpPr>
          <p:cNvPr id="70" name=""/>
          <p:cNvSpPr/>
          <p:nvPr/>
        </p:nvSpPr>
        <p:spPr>
          <a:xfrm>
            <a:off x="1333440" y="4048200"/>
            <a:ext cx="9619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71" name=""/>
          <p:cNvSpPr/>
          <p:nvPr/>
        </p:nvSpPr>
        <p:spPr>
          <a:xfrm>
            <a:off x="666720" y="4181400"/>
            <a:ext cx="571320" cy="323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607079"/>
                </a:solidFill>
                <a:effectLst/>
                <a:uFillTx/>
                <a:latin typeface="Calibri"/>
                <a:ea typeface="Calibri"/>
              </a:rPr>
              <a:t>03</a:t>
            </a:r>
            <a:endParaRPr lang="en-US" sz="1800" b="0" u="none" strike="noStrike">
              <a:solidFill>
                <a:srgbClr val="000000"/>
              </a:solidFill>
              <a:effectLst/>
              <a:uFillTx/>
              <a:latin typeface="Arial"/>
            </a:endParaRPr>
          </a:p>
        </p:txBody>
      </p:sp>
      <p:sp>
        <p:nvSpPr>
          <p:cNvPr id="72" name=""/>
          <p:cNvSpPr/>
          <p:nvPr/>
        </p:nvSpPr>
        <p:spPr>
          <a:xfrm>
            <a:off x="1333440" y="4143240"/>
            <a:ext cx="9619920" cy="837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2250" b="0" u="none" strike="noStrike">
                <a:solidFill>
                  <a:srgbClr val="17232B"/>
                </a:solidFill>
                <a:effectLst/>
                <a:uFillTx/>
                <a:latin typeface="Calibri"/>
                <a:ea typeface="Calibri"/>
              </a:rPr>
              <a:t>Family planning, HIV, literacy</a:t>
            </a:r>
            <a:endParaRPr lang="en-US" sz="2250" b="0" u="none" strike="noStrike">
              <a:solidFill>
                <a:srgbClr val="000000"/>
              </a:solidFill>
              <a:effectLst/>
              <a:uFillTx/>
              <a:latin typeface="Arial"/>
            </a:endParaRPr>
          </a:p>
        </p:txBody>
      </p:sp>
      <p:sp>
        <p:nvSpPr>
          <p:cNvPr id="73" name=""/>
          <p:cNvSpPr/>
          <p:nvPr/>
        </p:nvSpPr>
        <p:spPr>
          <a:xfrm>
            <a:off x="1333440" y="5000760"/>
            <a:ext cx="9619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74" name=""/>
          <p:cNvSpPr/>
          <p:nvPr/>
        </p:nvSpPr>
        <p:spPr>
          <a:xfrm>
            <a:off x="666720" y="5133960"/>
            <a:ext cx="571320" cy="323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607079"/>
                </a:solidFill>
                <a:effectLst/>
                <a:uFillTx/>
                <a:latin typeface="Calibri"/>
                <a:ea typeface="Calibri"/>
              </a:rPr>
              <a:t>04</a:t>
            </a:r>
            <a:endParaRPr lang="en-US" sz="1800" b="0" u="none" strike="noStrike">
              <a:solidFill>
                <a:srgbClr val="000000"/>
              </a:solidFill>
              <a:effectLst/>
              <a:uFillTx/>
              <a:latin typeface="Arial"/>
            </a:endParaRPr>
          </a:p>
        </p:txBody>
      </p:sp>
      <p:sp>
        <p:nvSpPr>
          <p:cNvPr id="75" name=""/>
          <p:cNvSpPr/>
          <p:nvPr/>
        </p:nvSpPr>
        <p:spPr>
          <a:xfrm>
            <a:off x="1333440" y="5095800"/>
            <a:ext cx="9619920" cy="837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2250" b="0" u="none" strike="noStrike">
                <a:solidFill>
                  <a:srgbClr val="17232B"/>
                </a:solidFill>
                <a:effectLst/>
                <a:uFillTx/>
                <a:latin typeface="Calibri"/>
                <a:ea typeface="Calibri"/>
              </a:rPr>
              <a:t>Child marriage and domestic violence</a:t>
            </a:r>
            <a:endParaRPr lang="en-US" sz="2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76" name="PlaceHolder 1"/>
          <p:cNvSpPr>
            <a:spLocks noGrp="1"/>
          </p:cNvSpPr>
          <p:nvPr>
            <p:ph type="sldNum" idx="11"/>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77" name=""/>
          <p:cNvSpPr/>
          <p:nvPr/>
        </p:nvSpPr>
        <p:spPr>
          <a:xfrm>
            <a:off x="0" y="0"/>
            <a:ext cx="132840" cy="685764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8" name=""/>
          <p:cNvSpPr/>
          <p:nvPr/>
        </p:nvSpPr>
        <p:spPr>
          <a:xfrm>
            <a:off x="666720" y="657360"/>
            <a:ext cx="104770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SIX THEMES</a:t>
            </a:r>
            <a:endParaRPr lang="en-US" sz="1350" b="0" u="none" strike="noStrike">
              <a:solidFill>
                <a:srgbClr val="000000"/>
              </a:solidFill>
              <a:effectLst/>
              <a:uFillTx/>
              <a:latin typeface="Arial"/>
            </a:endParaRPr>
          </a:p>
        </p:txBody>
      </p:sp>
      <p:sp>
        <p:nvSpPr>
          <p:cNvPr id="79"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05</a:t>
            </a:r>
            <a:endParaRPr lang="en-US" sz="980" b="0" u="none" strike="noStrike">
              <a:solidFill>
                <a:srgbClr val="000000"/>
              </a:solidFill>
              <a:effectLst/>
              <a:uFillTx/>
              <a:latin typeface="Arial"/>
            </a:endParaRPr>
          </a:p>
        </p:txBody>
      </p:sp>
      <p:sp>
        <p:nvSpPr>
          <p:cNvPr id="80" name=""/>
          <p:cNvSpPr/>
          <p:nvPr/>
        </p:nvSpPr>
        <p:spPr>
          <a:xfrm>
            <a:off x="666720" y="1000080"/>
            <a:ext cx="10477080" cy="571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000" b="1" u="none" strike="noStrike">
                <a:solidFill>
                  <a:srgbClr val="17232B"/>
                </a:solidFill>
                <a:effectLst/>
                <a:uFillTx/>
                <a:latin typeface="Calibri"/>
                <a:ea typeface="Calibri"/>
              </a:rPr>
              <a:t>What the campaigns that spread had in common</a:t>
            </a:r>
            <a:endParaRPr lang="en-US" sz="3000" b="0" u="none" strike="noStrike">
              <a:solidFill>
                <a:srgbClr val="000000"/>
              </a:solidFill>
              <a:effectLst/>
              <a:uFillTx/>
              <a:latin typeface="Arial"/>
            </a:endParaRPr>
          </a:p>
        </p:txBody>
      </p:sp>
      <p:sp>
        <p:nvSpPr>
          <p:cNvPr id="81" name=""/>
          <p:cNvSpPr/>
          <p:nvPr/>
        </p:nvSpPr>
        <p:spPr>
          <a:xfrm>
            <a:off x="666720" y="1809720"/>
            <a:ext cx="3492000" cy="2166480"/>
          </a:xfrm>
          <a:prstGeom prst="roundRect">
            <a:avLst>
              <a:gd name="adj" fmla="val 351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 name=""/>
          <p:cNvSpPr/>
          <p:nvPr/>
        </p:nvSpPr>
        <p:spPr>
          <a:xfrm>
            <a:off x="666720" y="1809720"/>
            <a:ext cx="56880" cy="216648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3" name=""/>
          <p:cNvSpPr/>
          <p:nvPr/>
        </p:nvSpPr>
        <p:spPr>
          <a:xfrm>
            <a:off x="895320" y="1962000"/>
            <a:ext cx="571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650" b="1" u="none" strike="noStrike">
                <a:solidFill>
                  <a:srgbClr val="235C77"/>
                </a:solidFill>
                <a:effectLst/>
                <a:uFillTx/>
                <a:latin typeface="Calibri"/>
                <a:ea typeface="Calibri"/>
              </a:rPr>
              <a:t>01</a:t>
            </a:r>
            <a:endParaRPr lang="en-US" sz="1650" b="0" u="none" strike="noStrike">
              <a:solidFill>
                <a:srgbClr val="000000"/>
              </a:solidFill>
              <a:effectLst/>
              <a:uFillTx/>
              <a:latin typeface="Arial"/>
            </a:endParaRPr>
          </a:p>
        </p:txBody>
      </p:sp>
      <p:sp>
        <p:nvSpPr>
          <p:cNvPr id="84" name=""/>
          <p:cNvSpPr/>
          <p:nvPr/>
        </p:nvSpPr>
        <p:spPr>
          <a:xfrm>
            <a:off x="895320" y="2266920"/>
            <a:ext cx="3072960" cy="6091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17232B"/>
                </a:solidFill>
                <a:effectLst/>
                <a:uFillTx/>
                <a:latin typeface="Calibri"/>
                <a:ea typeface="Calibri"/>
              </a:rPr>
              <a:t>Ask for one specific action.</a:t>
            </a:r>
            <a:endParaRPr lang="en-US" sz="1800" b="0" u="none" strike="noStrike">
              <a:solidFill>
                <a:srgbClr val="000000"/>
              </a:solidFill>
              <a:effectLst/>
              <a:uFillTx/>
              <a:latin typeface="Arial"/>
            </a:endParaRPr>
          </a:p>
        </p:txBody>
      </p:sp>
      <p:sp>
        <p:nvSpPr>
          <p:cNvPr id="85" name=""/>
          <p:cNvSpPr/>
          <p:nvPr/>
        </p:nvSpPr>
        <p:spPr>
          <a:xfrm>
            <a:off x="895320" y="3062160"/>
            <a:ext cx="3072960" cy="4759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607079"/>
                </a:solidFill>
                <a:effectLst/>
                <a:uFillTx/>
                <a:latin typeface="Calibri"/>
                <a:ea typeface="Calibri"/>
              </a:rPr>
              <a:t>A small, named role people can adopt.</a:t>
            </a:r>
            <a:endParaRPr lang="en-US" sz="1280" b="0" u="none" strike="noStrike">
              <a:solidFill>
                <a:srgbClr val="000000"/>
              </a:solidFill>
              <a:effectLst/>
              <a:uFillTx/>
              <a:latin typeface="Arial"/>
            </a:endParaRPr>
          </a:p>
        </p:txBody>
      </p:sp>
      <p:sp>
        <p:nvSpPr>
          <p:cNvPr id="86" name=""/>
          <p:cNvSpPr/>
          <p:nvPr/>
        </p:nvSpPr>
        <p:spPr>
          <a:xfrm>
            <a:off x="895320" y="3614760"/>
            <a:ext cx="30729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235C77"/>
                </a:solidFill>
                <a:effectLst/>
                <a:uFillTx/>
                <a:latin typeface="Calibri"/>
                <a:ea typeface="Calibri"/>
              </a:rPr>
              <a:t>Designated driver · “Squash it” · Buckle up</a:t>
            </a:r>
            <a:endParaRPr lang="en-US" sz="1050" b="0" u="none" strike="noStrike">
              <a:solidFill>
                <a:srgbClr val="000000"/>
              </a:solidFill>
              <a:effectLst/>
              <a:uFillTx/>
              <a:latin typeface="Arial"/>
            </a:endParaRPr>
          </a:p>
        </p:txBody>
      </p:sp>
      <p:sp>
        <p:nvSpPr>
          <p:cNvPr id="87" name=""/>
          <p:cNvSpPr/>
          <p:nvPr/>
        </p:nvSpPr>
        <p:spPr>
          <a:xfrm>
            <a:off x="4349880" y="1809720"/>
            <a:ext cx="3492000" cy="2166480"/>
          </a:xfrm>
          <a:prstGeom prst="roundRect">
            <a:avLst>
              <a:gd name="adj" fmla="val 351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 name=""/>
          <p:cNvSpPr/>
          <p:nvPr/>
        </p:nvSpPr>
        <p:spPr>
          <a:xfrm>
            <a:off x="4349880" y="1809720"/>
            <a:ext cx="56880" cy="216648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9" name=""/>
          <p:cNvSpPr/>
          <p:nvPr/>
        </p:nvSpPr>
        <p:spPr>
          <a:xfrm>
            <a:off x="4578480" y="1962000"/>
            <a:ext cx="571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650" b="1" u="none" strike="noStrike">
                <a:solidFill>
                  <a:srgbClr val="B75D3C"/>
                </a:solidFill>
                <a:effectLst/>
                <a:uFillTx/>
                <a:latin typeface="Calibri"/>
                <a:ea typeface="Calibri"/>
              </a:rPr>
              <a:t>02</a:t>
            </a:r>
            <a:endParaRPr lang="en-US" sz="1650" b="0" u="none" strike="noStrike">
              <a:solidFill>
                <a:srgbClr val="000000"/>
              </a:solidFill>
              <a:effectLst/>
              <a:uFillTx/>
              <a:latin typeface="Arial"/>
            </a:endParaRPr>
          </a:p>
        </p:txBody>
      </p:sp>
      <p:sp>
        <p:nvSpPr>
          <p:cNvPr id="90" name=""/>
          <p:cNvSpPr/>
          <p:nvPr/>
        </p:nvSpPr>
        <p:spPr>
          <a:xfrm>
            <a:off x="4578480" y="2266920"/>
            <a:ext cx="3072960" cy="6091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17232B"/>
                </a:solidFill>
                <a:effectLst/>
                <a:uFillTx/>
                <a:latin typeface="Calibri"/>
                <a:ea typeface="Calibri"/>
              </a:rPr>
              <a:t>Put it inside stories people already follow.</a:t>
            </a:r>
            <a:endParaRPr lang="en-US" sz="1800" b="0" u="none" strike="noStrike">
              <a:solidFill>
                <a:srgbClr val="000000"/>
              </a:solidFill>
              <a:effectLst/>
              <a:uFillTx/>
              <a:latin typeface="Arial"/>
            </a:endParaRPr>
          </a:p>
        </p:txBody>
      </p:sp>
      <p:sp>
        <p:nvSpPr>
          <p:cNvPr id="91" name=""/>
          <p:cNvSpPr/>
          <p:nvPr/>
        </p:nvSpPr>
        <p:spPr>
          <a:xfrm>
            <a:off x="4578480" y="3062160"/>
            <a:ext cx="3072960" cy="4759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607079"/>
                </a:solidFill>
                <a:effectLst/>
                <a:uFillTx/>
                <a:latin typeface="Calibri"/>
                <a:ea typeface="Calibri"/>
              </a:rPr>
              <a:t>Works when the choice drives the main plot.</a:t>
            </a:r>
            <a:endParaRPr lang="en-US" sz="1280" b="0" u="none" strike="noStrike">
              <a:solidFill>
                <a:srgbClr val="000000"/>
              </a:solidFill>
              <a:effectLst/>
              <a:uFillTx/>
              <a:latin typeface="Arial"/>
            </a:endParaRPr>
          </a:p>
        </p:txBody>
      </p:sp>
      <p:sp>
        <p:nvSpPr>
          <p:cNvPr id="92" name=""/>
          <p:cNvSpPr/>
          <p:nvPr/>
        </p:nvSpPr>
        <p:spPr>
          <a:xfrm>
            <a:off x="4578480" y="3614760"/>
            <a:ext cx="30729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B75D3C"/>
                </a:solidFill>
                <a:effectLst/>
                <a:uFillTx/>
                <a:latin typeface="Calibri"/>
                <a:ea typeface="Calibri"/>
              </a:rPr>
              <a:t>Sabido telenovelas · Soul City · MTV Shuga</a:t>
            </a:r>
            <a:endParaRPr lang="en-US" sz="1050" b="0" u="none" strike="noStrike">
              <a:solidFill>
                <a:srgbClr val="000000"/>
              </a:solidFill>
              <a:effectLst/>
              <a:uFillTx/>
              <a:latin typeface="Arial"/>
            </a:endParaRPr>
          </a:p>
        </p:txBody>
      </p:sp>
      <p:sp>
        <p:nvSpPr>
          <p:cNvPr id="93" name=""/>
          <p:cNvSpPr/>
          <p:nvPr/>
        </p:nvSpPr>
        <p:spPr>
          <a:xfrm>
            <a:off x="8032680" y="1809720"/>
            <a:ext cx="3492000" cy="2166480"/>
          </a:xfrm>
          <a:prstGeom prst="roundRect">
            <a:avLst>
              <a:gd name="adj" fmla="val 351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4" name=""/>
          <p:cNvSpPr/>
          <p:nvPr/>
        </p:nvSpPr>
        <p:spPr>
          <a:xfrm>
            <a:off x="8032680" y="1809720"/>
            <a:ext cx="56880" cy="216648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5" name=""/>
          <p:cNvSpPr/>
          <p:nvPr/>
        </p:nvSpPr>
        <p:spPr>
          <a:xfrm>
            <a:off x="8261280" y="1962000"/>
            <a:ext cx="571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650" b="1" u="none" strike="noStrike">
                <a:solidFill>
                  <a:srgbClr val="235C77"/>
                </a:solidFill>
                <a:effectLst/>
                <a:uFillTx/>
                <a:latin typeface="Calibri"/>
                <a:ea typeface="Calibri"/>
              </a:rPr>
              <a:t>03</a:t>
            </a:r>
            <a:endParaRPr lang="en-US" sz="1650" b="0" u="none" strike="noStrike">
              <a:solidFill>
                <a:srgbClr val="000000"/>
              </a:solidFill>
              <a:effectLst/>
              <a:uFillTx/>
              <a:latin typeface="Arial"/>
            </a:endParaRPr>
          </a:p>
        </p:txBody>
      </p:sp>
      <p:sp>
        <p:nvSpPr>
          <p:cNvPr id="96" name=""/>
          <p:cNvSpPr/>
          <p:nvPr/>
        </p:nvSpPr>
        <p:spPr>
          <a:xfrm>
            <a:off x="8261280" y="2266920"/>
            <a:ext cx="3072960" cy="6091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17232B"/>
                </a:solidFill>
                <a:effectLst/>
                <a:uFillTx/>
                <a:latin typeface="Calibri"/>
                <a:ea typeface="Calibri"/>
              </a:rPr>
              <a:t>Tie it to an identity people want.</a:t>
            </a:r>
            <a:endParaRPr lang="en-US" sz="1800" b="0" u="none" strike="noStrike">
              <a:solidFill>
                <a:srgbClr val="000000"/>
              </a:solidFill>
              <a:effectLst/>
              <a:uFillTx/>
              <a:latin typeface="Arial"/>
            </a:endParaRPr>
          </a:p>
        </p:txBody>
      </p:sp>
      <p:sp>
        <p:nvSpPr>
          <p:cNvPr id="97" name=""/>
          <p:cNvSpPr/>
          <p:nvPr/>
        </p:nvSpPr>
        <p:spPr>
          <a:xfrm>
            <a:off x="8261280" y="3062160"/>
            <a:ext cx="3072960" cy="4759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607079"/>
                </a:solidFill>
                <a:effectLst/>
                <a:uFillTx/>
                <a:latin typeface="Calibri"/>
                <a:ea typeface="Calibri"/>
              </a:rPr>
              <a:t>Patriotism, state pride, independence, friendship.</a:t>
            </a:r>
            <a:endParaRPr lang="en-US" sz="1280" b="0" u="none" strike="noStrike">
              <a:solidFill>
                <a:srgbClr val="000000"/>
              </a:solidFill>
              <a:effectLst/>
              <a:uFillTx/>
              <a:latin typeface="Arial"/>
            </a:endParaRPr>
          </a:p>
        </p:txBody>
      </p:sp>
      <p:sp>
        <p:nvSpPr>
          <p:cNvPr id="98" name=""/>
          <p:cNvSpPr/>
          <p:nvPr/>
        </p:nvSpPr>
        <p:spPr>
          <a:xfrm>
            <a:off x="8261280" y="3614760"/>
            <a:ext cx="30729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235C77"/>
                </a:solidFill>
                <a:effectLst/>
                <a:uFillTx/>
                <a:latin typeface="Calibri"/>
                <a:ea typeface="Calibri"/>
              </a:rPr>
              <a:t>Women in War Jobs · Texas · truth</a:t>
            </a:r>
            <a:endParaRPr lang="en-US" sz="1050" b="0" u="none" strike="noStrike">
              <a:solidFill>
                <a:srgbClr val="000000"/>
              </a:solidFill>
              <a:effectLst/>
              <a:uFillTx/>
              <a:latin typeface="Arial"/>
            </a:endParaRPr>
          </a:p>
        </p:txBody>
      </p:sp>
      <p:sp>
        <p:nvSpPr>
          <p:cNvPr id="99" name=""/>
          <p:cNvSpPr/>
          <p:nvPr/>
        </p:nvSpPr>
        <p:spPr>
          <a:xfrm>
            <a:off x="666720" y="4167360"/>
            <a:ext cx="3492000" cy="2166480"/>
          </a:xfrm>
          <a:prstGeom prst="roundRect">
            <a:avLst>
              <a:gd name="adj" fmla="val 351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0" name=""/>
          <p:cNvSpPr/>
          <p:nvPr/>
        </p:nvSpPr>
        <p:spPr>
          <a:xfrm>
            <a:off x="666720" y="4167360"/>
            <a:ext cx="56880" cy="2166480"/>
          </a:xfrm>
          <a:prstGeom prst="rect">
            <a:avLst/>
          </a:prstGeom>
          <a:solidFill>
            <a:srgbClr val="5A6D40"/>
          </a:solidFill>
          <a:ln w="0">
            <a:solidFill>
              <a:srgbClr val="5A6D40"/>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1" name=""/>
          <p:cNvSpPr/>
          <p:nvPr/>
        </p:nvSpPr>
        <p:spPr>
          <a:xfrm>
            <a:off x="895320" y="4319640"/>
            <a:ext cx="571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650" b="1" u="none" strike="noStrike">
                <a:solidFill>
                  <a:srgbClr val="5A6D40"/>
                </a:solidFill>
                <a:effectLst/>
                <a:uFillTx/>
                <a:latin typeface="Calibri"/>
                <a:ea typeface="Calibri"/>
              </a:rPr>
              <a:t>04</a:t>
            </a:r>
            <a:endParaRPr lang="en-US" sz="1650" b="0" u="none" strike="noStrike">
              <a:solidFill>
                <a:srgbClr val="000000"/>
              </a:solidFill>
              <a:effectLst/>
              <a:uFillTx/>
              <a:latin typeface="Arial"/>
            </a:endParaRPr>
          </a:p>
        </p:txBody>
      </p:sp>
      <p:sp>
        <p:nvSpPr>
          <p:cNvPr id="102" name=""/>
          <p:cNvSpPr/>
          <p:nvPr/>
        </p:nvSpPr>
        <p:spPr>
          <a:xfrm>
            <a:off x="895320" y="4624560"/>
            <a:ext cx="3072960" cy="6091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17232B"/>
                </a:solidFill>
                <a:effectLst/>
                <a:uFillTx/>
                <a:latin typeface="Calibri"/>
                <a:ea typeface="Calibri"/>
              </a:rPr>
              <a:t>Make the new expectation visible.</a:t>
            </a:r>
            <a:endParaRPr lang="en-US" sz="1800" b="0" u="none" strike="noStrike">
              <a:solidFill>
                <a:srgbClr val="000000"/>
              </a:solidFill>
              <a:effectLst/>
              <a:uFillTx/>
              <a:latin typeface="Arial"/>
            </a:endParaRPr>
          </a:p>
        </p:txBody>
      </p:sp>
      <p:sp>
        <p:nvSpPr>
          <p:cNvPr id="103" name=""/>
          <p:cNvSpPr/>
          <p:nvPr/>
        </p:nvSpPr>
        <p:spPr>
          <a:xfrm>
            <a:off x="895320" y="5419800"/>
            <a:ext cx="3072960" cy="4759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607079"/>
                </a:solidFill>
                <a:effectLst/>
                <a:uFillTx/>
                <a:latin typeface="Calibri"/>
                <a:ea typeface="Calibri"/>
              </a:rPr>
              <a:t>People change when they see others have.</a:t>
            </a:r>
            <a:endParaRPr lang="en-US" sz="1280" b="0" u="none" strike="noStrike">
              <a:solidFill>
                <a:srgbClr val="000000"/>
              </a:solidFill>
              <a:effectLst/>
              <a:uFillTx/>
              <a:latin typeface="Arial"/>
            </a:endParaRPr>
          </a:p>
        </p:txBody>
      </p:sp>
      <p:sp>
        <p:nvSpPr>
          <p:cNvPr id="104" name=""/>
          <p:cNvSpPr/>
          <p:nvPr/>
        </p:nvSpPr>
        <p:spPr>
          <a:xfrm>
            <a:off x="895320" y="5972040"/>
            <a:ext cx="30729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5A6D40"/>
                </a:solidFill>
                <a:effectLst/>
                <a:uFillTx/>
                <a:latin typeface="Calibri"/>
                <a:ea typeface="Calibri"/>
              </a:rPr>
              <a:t>Tostan · Opower · This Girl Can</a:t>
            </a:r>
            <a:endParaRPr lang="en-US" sz="1050" b="0" u="none" strike="noStrike">
              <a:solidFill>
                <a:srgbClr val="000000"/>
              </a:solidFill>
              <a:effectLst/>
              <a:uFillTx/>
              <a:latin typeface="Arial"/>
            </a:endParaRPr>
          </a:p>
        </p:txBody>
      </p:sp>
      <p:sp>
        <p:nvSpPr>
          <p:cNvPr id="105" name=""/>
          <p:cNvSpPr/>
          <p:nvPr/>
        </p:nvSpPr>
        <p:spPr>
          <a:xfrm>
            <a:off x="4349880" y="4167360"/>
            <a:ext cx="3492000" cy="2166480"/>
          </a:xfrm>
          <a:prstGeom prst="roundRect">
            <a:avLst>
              <a:gd name="adj" fmla="val 351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6" name=""/>
          <p:cNvSpPr/>
          <p:nvPr/>
        </p:nvSpPr>
        <p:spPr>
          <a:xfrm>
            <a:off x="4349880" y="4167360"/>
            <a:ext cx="56880" cy="2166480"/>
          </a:xfrm>
          <a:prstGeom prst="rect">
            <a:avLst/>
          </a:prstGeom>
          <a:solidFill>
            <a:srgbClr val="725E8B"/>
          </a:solidFill>
          <a:ln w="0">
            <a:solidFill>
              <a:srgbClr val="725E8B"/>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7" name=""/>
          <p:cNvSpPr/>
          <p:nvPr/>
        </p:nvSpPr>
        <p:spPr>
          <a:xfrm>
            <a:off x="4578480" y="4319640"/>
            <a:ext cx="571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650" b="1" u="none" strike="noStrike">
                <a:solidFill>
                  <a:srgbClr val="725E8B"/>
                </a:solidFill>
                <a:effectLst/>
                <a:uFillTx/>
                <a:latin typeface="Calibri"/>
                <a:ea typeface="Calibri"/>
              </a:rPr>
              <a:t>05</a:t>
            </a:r>
            <a:endParaRPr lang="en-US" sz="1650" b="0" u="none" strike="noStrike">
              <a:solidFill>
                <a:srgbClr val="000000"/>
              </a:solidFill>
              <a:effectLst/>
              <a:uFillTx/>
              <a:latin typeface="Arial"/>
            </a:endParaRPr>
          </a:p>
        </p:txBody>
      </p:sp>
      <p:sp>
        <p:nvSpPr>
          <p:cNvPr id="108" name=""/>
          <p:cNvSpPr/>
          <p:nvPr/>
        </p:nvSpPr>
        <p:spPr>
          <a:xfrm>
            <a:off x="4578480" y="4624560"/>
            <a:ext cx="3072960" cy="6091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17232B"/>
                </a:solidFill>
                <a:effectLst/>
                <a:uFillTx/>
                <a:latin typeface="Calibri"/>
                <a:ea typeface="Calibri"/>
              </a:rPr>
              <a:t>Back the message with something real.</a:t>
            </a:r>
            <a:endParaRPr lang="en-US" sz="1800" b="0" u="none" strike="noStrike">
              <a:solidFill>
                <a:srgbClr val="000000"/>
              </a:solidFill>
              <a:effectLst/>
              <a:uFillTx/>
              <a:latin typeface="Arial"/>
            </a:endParaRPr>
          </a:p>
        </p:txBody>
      </p:sp>
      <p:sp>
        <p:nvSpPr>
          <p:cNvPr id="109" name=""/>
          <p:cNvSpPr/>
          <p:nvPr/>
        </p:nvSpPr>
        <p:spPr>
          <a:xfrm>
            <a:off x="4578480" y="5419800"/>
            <a:ext cx="3072960" cy="4759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607079"/>
                </a:solidFill>
                <a:effectLst/>
                <a:uFillTx/>
                <a:latin typeface="Calibri"/>
                <a:ea typeface="Calibri"/>
              </a:rPr>
              <a:t>A real consequence or a real next step.</a:t>
            </a:r>
            <a:endParaRPr lang="en-US" sz="1280" b="0" u="none" strike="noStrike">
              <a:solidFill>
                <a:srgbClr val="000000"/>
              </a:solidFill>
              <a:effectLst/>
              <a:uFillTx/>
              <a:latin typeface="Arial"/>
            </a:endParaRPr>
          </a:p>
        </p:txBody>
      </p:sp>
      <p:sp>
        <p:nvSpPr>
          <p:cNvPr id="110" name=""/>
          <p:cNvSpPr/>
          <p:nvPr/>
        </p:nvSpPr>
        <p:spPr>
          <a:xfrm>
            <a:off x="4578480" y="5972040"/>
            <a:ext cx="30729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725E8B"/>
                </a:solidFill>
                <a:effectLst/>
                <a:uFillTx/>
                <a:latin typeface="Calibri"/>
                <a:ea typeface="Calibri"/>
              </a:rPr>
              <a:t>Click It or Ticket · Rap-It-Up · East Los High</a:t>
            </a:r>
            <a:endParaRPr lang="en-US" sz="1050" b="0" u="none" strike="noStrike">
              <a:solidFill>
                <a:srgbClr val="000000"/>
              </a:solidFill>
              <a:effectLst/>
              <a:uFillTx/>
              <a:latin typeface="Arial"/>
            </a:endParaRPr>
          </a:p>
        </p:txBody>
      </p:sp>
      <p:sp>
        <p:nvSpPr>
          <p:cNvPr id="111" name=""/>
          <p:cNvSpPr/>
          <p:nvPr/>
        </p:nvSpPr>
        <p:spPr>
          <a:xfrm>
            <a:off x="8032680" y="4167360"/>
            <a:ext cx="3492000" cy="2166480"/>
          </a:xfrm>
          <a:prstGeom prst="roundRect">
            <a:avLst>
              <a:gd name="adj" fmla="val 351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2" name=""/>
          <p:cNvSpPr/>
          <p:nvPr/>
        </p:nvSpPr>
        <p:spPr>
          <a:xfrm>
            <a:off x="8032680" y="4167360"/>
            <a:ext cx="56880" cy="216648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3" name=""/>
          <p:cNvSpPr/>
          <p:nvPr/>
        </p:nvSpPr>
        <p:spPr>
          <a:xfrm>
            <a:off x="8261280" y="4319640"/>
            <a:ext cx="571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650" b="1" u="none" strike="noStrike">
                <a:solidFill>
                  <a:srgbClr val="235C77"/>
                </a:solidFill>
                <a:effectLst/>
                <a:uFillTx/>
                <a:latin typeface="Calibri"/>
                <a:ea typeface="Calibri"/>
              </a:rPr>
              <a:t>06</a:t>
            </a:r>
            <a:endParaRPr lang="en-US" sz="1650" b="0" u="none" strike="noStrike">
              <a:solidFill>
                <a:srgbClr val="000000"/>
              </a:solidFill>
              <a:effectLst/>
              <a:uFillTx/>
              <a:latin typeface="Arial"/>
            </a:endParaRPr>
          </a:p>
        </p:txBody>
      </p:sp>
      <p:sp>
        <p:nvSpPr>
          <p:cNvPr id="114" name=""/>
          <p:cNvSpPr/>
          <p:nvPr/>
        </p:nvSpPr>
        <p:spPr>
          <a:xfrm>
            <a:off x="8261280" y="4624560"/>
            <a:ext cx="3072960" cy="6091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17232B"/>
                </a:solidFill>
                <a:effectLst/>
                <a:uFillTx/>
                <a:latin typeface="Calibri"/>
                <a:ea typeface="Calibri"/>
              </a:rPr>
              <a:t>Repeat for years.</a:t>
            </a:r>
            <a:endParaRPr lang="en-US" sz="1800" b="0" u="none" strike="noStrike">
              <a:solidFill>
                <a:srgbClr val="000000"/>
              </a:solidFill>
              <a:effectLst/>
              <a:uFillTx/>
              <a:latin typeface="Arial"/>
            </a:endParaRPr>
          </a:p>
        </p:txBody>
      </p:sp>
      <p:sp>
        <p:nvSpPr>
          <p:cNvPr id="115" name=""/>
          <p:cNvSpPr/>
          <p:nvPr/>
        </p:nvSpPr>
        <p:spPr>
          <a:xfrm>
            <a:off x="8261280" y="5419800"/>
            <a:ext cx="3072960" cy="4759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607079"/>
                </a:solidFill>
                <a:effectLst/>
                <a:uFillTx/>
                <a:latin typeface="Calibri"/>
                <a:ea typeface="Calibri"/>
              </a:rPr>
              <a:t>Familiar through sheer exposure.</a:t>
            </a:r>
            <a:endParaRPr lang="en-US" sz="1280" b="0" u="none" strike="noStrike">
              <a:solidFill>
                <a:srgbClr val="000000"/>
              </a:solidFill>
              <a:effectLst/>
              <a:uFillTx/>
              <a:latin typeface="Arial"/>
            </a:endParaRPr>
          </a:p>
        </p:txBody>
      </p:sp>
      <p:sp>
        <p:nvSpPr>
          <p:cNvPr id="116" name=""/>
          <p:cNvSpPr/>
          <p:nvPr/>
        </p:nvSpPr>
        <p:spPr>
          <a:xfrm>
            <a:off x="8261280" y="5972040"/>
            <a:ext cx="30729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235C77"/>
                </a:solidFill>
                <a:effectLst/>
                <a:uFillTx/>
                <a:latin typeface="Calibri"/>
                <a:ea typeface="Calibri"/>
              </a:rPr>
              <a:t>Smokey Bear · Vince and Larry · Meena</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17" name="PlaceHolder 1"/>
          <p:cNvSpPr>
            <a:spLocks noGrp="1"/>
          </p:cNvSpPr>
          <p:nvPr>
            <p:ph type="sldNum" idx="12"/>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18"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9" name=""/>
          <p:cNvSpPr/>
          <p:nvPr/>
        </p:nvSpPr>
        <p:spPr>
          <a:xfrm>
            <a:off x="666720" y="657360"/>
            <a:ext cx="104770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CONCLUSIONS</a:t>
            </a:r>
            <a:endParaRPr lang="en-US" sz="1350" b="0" u="none" strike="noStrike">
              <a:solidFill>
                <a:srgbClr val="000000"/>
              </a:solidFill>
              <a:effectLst/>
              <a:uFillTx/>
              <a:latin typeface="Arial"/>
            </a:endParaRPr>
          </a:p>
        </p:txBody>
      </p:sp>
      <p:sp>
        <p:nvSpPr>
          <p:cNvPr id="120"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06</a:t>
            </a:r>
            <a:endParaRPr lang="en-US" sz="980" b="0" u="none" strike="noStrike">
              <a:solidFill>
                <a:srgbClr val="000000"/>
              </a:solidFill>
              <a:effectLst/>
              <a:uFillTx/>
              <a:latin typeface="Arial"/>
            </a:endParaRPr>
          </a:p>
        </p:txBody>
      </p:sp>
      <p:sp>
        <p:nvSpPr>
          <p:cNvPr id="121" name=""/>
          <p:cNvSpPr/>
          <p:nvPr/>
        </p:nvSpPr>
        <p:spPr>
          <a:xfrm>
            <a:off x="666720" y="1000080"/>
            <a:ext cx="10477080" cy="571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000" b="1" u="none" strike="noStrike">
                <a:solidFill>
                  <a:srgbClr val="17232B"/>
                </a:solidFill>
                <a:effectLst/>
                <a:uFillTx/>
                <a:latin typeface="Calibri"/>
                <a:ea typeface="Calibri"/>
              </a:rPr>
              <a:t>What the evidence shows</a:t>
            </a:r>
            <a:endParaRPr lang="en-US" sz="3000" b="0" u="none" strike="noStrike">
              <a:solidFill>
                <a:srgbClr val="000000"/>
              </a:solidFill>
              <a:effectLst/>
              <a:uFillTx/>
              <a:latin typeface="Arial"/>
            </a:endParaRPr>
          </a:p>
        </p:txBody>
      </p:sp>
      <p:sp>
        <p:nvSpPr>
          <p:cNvPr id="122" name=""/>
          <p:cNvSpPr/>
          <p:nvPr/>
        </p:nvSpPr>
        <p:spPr>
          <a:xfrm>
            <a:off x="666720" y="1809720"/>
            <a:ext cx="5333760" cy="2166480"/>
          </a:xfrm>
          <a:prstGeom prst="roundRect">
            <a:avLst>
              <a:gd name="adj" fmla="val 351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3" name=""/>
          <p:cNvSpPr/>
          <p:nvPr/>
        </p:nvSpPr>
        <p:spPr>
          <a:xfrm>
            <a:off x="666720" y="1809720"/>
            <a:ext cx="56880" cy="216648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4" name=""/>
          <p:cNvSpPr/>
          <p:nvPr/>
        </p:nvSpPr>
        <p:spPr>
          <a:xfrm>
            <a:off x="895320" y="1962000"/>
            <a:ext cx="571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650" b="1" u="none" strike="noStrike">
                <a:solidFill>
                  <a:srgbClr val="B75D3C"/>
                </a:solidFill>
                <a:effectLst/>
                <a:uFillTx/>
                <a:latin typeface="Calibri"/>
                <a:ea typeface="Calibri"/>
              </a:rPr>
              <a:t>01</a:t>
            </a:r>
            <a:endParaRPr lang="en-US" sz="1650" b="0" u="none" strike="noStrike">
              <a:solidFill>
                <a:srgbClr val="000000"/>
              </a:solidFill>
              <a:effectLst/>
              <a:uFillTx/>
              <a:latin typeface="Arial"/>
            </a:endParaRPr>
          </a:p>
        </p:txBody>
      </p:sp>
      <p:sp>
        <p:nvSpPr>
          <p:cNvPr id="125" name=""/>
          <p:cNvSpPr/>
          <p:nvPr/>
        </p:nvSpPr>
        <p:spPr>
          <a:xfrm>
            <a:off x="895320" y="2266920"/>
            <a:ext cx="4914720" cy="6091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2100" b="1" u="none" strike="noStrike">
                <a:solidFill>
                  <a:srgbClr val="17232B"/>
                </a:solidFill>
                <a:effectLst/>
                <a:uFillTx/>
                <a:latin typeface="Calibri"/>
                <a:ea typeface="Calibri"/>
              </a:rPr>
              <a:t>Fame and proof rarely coincide.</a:t>
            </a:r>
            <a:endParaRPr lang="en-US" sz="2100" b="0" u="none" strike="noStrike">
              <a:solidFill>
                <a:srgbClr val="000000"/>
              </a:solidFill>
              <a:effectLst/>
              <a:uFillTx/>
              <a:latin typeface="Arial"/>
            </a:endParaRPr>
          </a:p>
        </p:txBody>
      </p:sp>
      <p:sp>
        <p:nvSpPr>
          <p:cNvPr id="126" name=""/>
          <p:cNvSpPr/>
          <p:nvPr/>
        </p:nvSpPr>
        <p:spPr>
          <a:xfrm>
            <a:off x="895320" y="3367080"/>
            <a:ext cx="4914720" cy="4759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607079"/>
                </a:solidFill>
                <a:effectLst/>
                <a:uFillTx/>
                <a:latin typeface="Calibri"/>
                <a:ea typeface="Calibri"/>
              </a:rPr>
              <a:t>The best-known campaigns show recognition, not changed behavior.</a:t>
            </a:r>
            <a:endParaRPr lang="en-US" sz="1500" b="0" u="none" strike="noStrike">
              <a:solidFill>
                <a:srgbClr val="000000"/>
              </a:solidFill>
              <a:effectLst/>
              <a:uFillTx/>
              <a:latin typeface="Arial"/>
            </a:endParaRPr>
          </a:p>
        </p:txBody>
      </p:sp>
      <p:sp>
        <p:nvSpPr>
          <p:cNvPr id="127" name=""/>
          <p:cNvSpPr/>
          <p:nvPr/>
        </p:nvSpPr>
        <p:spPr>
          <a:xfrm>
            <a:off x="6191280" y="1809720"/>
            <a:ext cx="5333760" cy="2166480"/>
          </a:xfrm>
          <a:prstGeom prst="roundRect">
            <a:avLst>
              <a:gd name="adj" fmla="val 351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8" name=""/>
          <p:cNvSpPr/>
          <p:nvPr/>
        </p:nvSpPr>
        <p:spPr>
          <a:xfrm>
            <a:off x="6191280" y="1809720"/>
            <a:ext cx="56880" cy="2166480"/>
          </a:xfrm>
          <a:prstGeom prst="rect">
            <a:avLst/>
          </a:prstGeom>
          <a:solidFill>
            <a:srgbClr val="5A6D40"/>
          </a:solidFill>
          <a:ln w="0">
            <a:solidFill>
              <a:srgbClr val="5A6D40"/>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9" name=""/>
          <p:cNvSpPr/>
          <p:nvPr/>
        </p:nvSpPr>
        <p:spPr>
          <a:xfrm>
            <a:off x="6419880" y="1962000"/>
            <a:ext cx="571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650" b="1" u="none" strike="noStrike">
                <a:solidFill>
                  <a:srgbClr val="5A6D40"/>
                </a:solidFill>
                <a:effectLst/>
                <a:uFillTx/>
                <a:latin typeface="Calibri"/>
                <a:ea typeface="Calibri"/>
              </a:rPr>
              <a:t>02</a:t>
            </a:r>
            <a:endParaRPr lang="en-US" sz="1650" b="0" u="none" strike="noStrike">
              <a:solidFill>
                <a:srgbClr val="000000"/>
              </a:solidFill>
              <a:effectLst/>
              <a:uFillTx/>
              <a:latin typeface="Arial"/>
            </a:endParaRPr>
          </a:p>
        </p:txBody>
      </p:sp>
      <p:sp>
        <p:nvSpPr>
          <p:cNvPr id="130" name=""/>
          <p:cNvSpPr/>
          <p:nvPr/>
        </p:nvSpPr>
        <p:spPr>
          <a:xfrm>
            <a:off x="6419880" y="2266920"/>
            <a:ext cx="4914720" cy="6091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2100" b="1" u="none" strike="noStrike">
                <a:solidFill>
                  <a:srgbClr val="17232B"/>
                </a:solidFill>
                <a:effectLst/>
                <a:uFillTx/>
                <a:latin typeface="Calibri"/>
                <a:ea typeface="Calibri"/>
              </a:rPr>
              <a:t>The strongest results pair a message with a structure.</a:t>
            </a:r>
            <a:endParaRPr lang="en-US" sz="2100" b="0" u="none" strike="noStrike">
              <a:solidFill>
                <a:srgbClr val="000000"/>
              </a:solidFill>
              <a:effectLst/>
              <a:uFillTx/>
              <a:latin typeface="Arial"/>
            </a:endParaRPr>
          </a:p>
        </p:txBody>
      </p:sp>
      <p:sp>
        <p:nvSpPr>
          <p:cNvPr id="131" name=""/>
          <p:cNvSpPr/>
          <p:nvPr/>
        </p:nvSpPr>
        <p:spPr>
          <a:xfrm>
            <a:off x="6419880" y="3367080"/>
            <a:ext cx="4914720" cy="4759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607079"/>
                </a:solidFill>
                <a:effectLst/>
                <a:uFillTx/>
                <a:latin typeface="Calibri"/>
                <a:ea typeface="Calibri"/>
              </a:rPr>
              <a:t>SASA!, Opower, and MTV Shuga.</a:t>
            </a:r>
            <a:endParaRPr lang="en-US" sz="1500" b="0" u="none" strike="noStrike">
              <a:solidFill>
                <a:srgbClr val="000000"/>
              </a:solidFill>
              <a:effectLst/>
              <a:uFillTx/>
              <a:latin typeface="Arial"/>
            </a:endParaRPr>
          </a:p>
        </p:txBody>
      </p:sp>
      <p:sp>
        <p:nvSpPr>
          <p:cNvPr id="132" name=""/>
          <p:cNvSpPr/>
          <p:nvPr/>
        </p:nvSpPr>
        <p:spPr>
          <a:xfrm>
            <a:off x="666720" y="4167360"/>
            <a:ext cx="5333760" cy="2166480"/>
          </a:xfrm>
          <a:prstGeom prst="roundRect">
            <a:avLst>
              <a:gd name="adj" fmla="val 351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3" name=""/>
          <p:cNvSpPr/>
          <p:nvPr/>
        </p:nvSpPr>
        <p:spPr>
          <a:xfrm>
            <a:off x="666720" y="4167360"/>
            <a:ext cx="56880" cy="216648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4" name=""/>
          <p:cNvSpPr/>
          <p:nvPr/>
        </p:nvSpPr>
        <p:spPr>
          <a:xfrm>
            <a:off x="895320" y="4319640"/>
            <a:ext cx="571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650" b="1" u="none" strike="noStrike">
                <a:solidFill>
                  <a:srgbClr val="B75D3C"/>
                </a:solidFill>
                <a:effectLst/>
                <a:uFillTx/>
                <a:latin typeface="Calibri"/>
                <a:ea typeface="Calibri"/>
              </a:rPr>
              <a:t>03</a:t>
            </a:r>
            <a:endParaRPr lang="en-US" sz="1650" b="0" u="none" strike="noStrike">
              <a:solidFill>
                <a:srgbClr val="000000"/>
              </a:solidFill>
              <a:effectLst/>
              <a:uFillTx/>
              <a:latin typeface="Arial"/>
            </a:endParaRPr>
          </a:p>
        </p:txBody>
      </p:sp>
      <p:sp>
        <p:nvSpPr>
          <p:cNvPr id="135" name=""/>
          <p:cNvSpPr/>
          <p:nvPr/>
        </p:nvSpPr>
        <p:spPr>
          <a:xfrm>
            <a:off x="895320" y="4624560"/>
            <a:ext cx="4914720" cy="6091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2100" b="1" u="none" strike="noStrike">
                <a:solidFill>
                  <a:srgbClr val="17232B"/>
                </a:solidFill>
                <a:effectLst/>
                <a:uFillTx/>
                <a:latin typeface="Calibri"/>
                <a:ea typeface="Calibri"/>
              </a:rPr>
              <a:t>Stories reach millions. Results are mixed.</a:t>
            </a:r>
            <a:endParaRPr lang="en-US" sz="2100" b="0" u="none" strike="noStrike">
              <a:solidFill>
                <a:srgbClr val="000000"/>
              </a:solidFill>
              <a:effectLst/>
              <a:uFillTx/>
              <a:latin typeface="Arial"/>
            </a:endParaRPr>
          </a:p>
        </p:txBody>
      </p:sp>
      <p:sp>
        <p:nvSpPr>
          <p:cNvPr id="136" name=""/>
          <p:cNvSpPr/>
          <p:nvPr/>
        </p:nvSpPr>
        <p:spPr>
          <a:xfrm>
            <a:off x="895320" y="5724360"/>
            <a:ext cx="4914720" cy="4759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607079"/>
                </a:solidFill>
                <a:effectLst/>
                <a:uFillTx/>
                <a:latin typeface="Calibri"/>
                <a:ea typeface="Calibri"/>
              </a:rPr>
              <a:t>Gains after MTV Shuga and Twende na Wakati; no clear effect from Hum Log.</a:t>
            </a:r>
            <a:endParaRPr lang="en-US" sz="1500" b="0" u="none" strike="noStrike">
              <a:solidFill>
                <a:srgbClr val="000000"/>
              </a:solidFill>
              <a:effectLst/>
              <a:uFillTx/>
              <a:latin typeface="Arial"/>
            </a:endParaRPr>
          </a:p>
        </p:txBody>
      </p:sp>
      <p:sp>
        <p:nvSpPr>
          <p:cNvPr id="137" name=""/>
          <p:cNvSpPr/>
          <p:nvPr/>
        </p:nvSpPr>
        <p:spPr>
          <a:xfrm>
            <a:off x="6191280" y="4167360"/>
            <a:ext cx="5333760" cy="2166480"/>
          </a:xfrm>
          <a:prstGeom prst="roundRect">
            <a:avLst>
              <a:gd name="adj" fmla="val 351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8" name=""/>
          <p:cNvSpPr/>
          <p:nvPr/>
        </p:nvSpPr>
        <p:spPr>
          <a:xfrm>
            <a:off x="6191280" y="4167360"/>
            <a:ext cx="56880" cy="216648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9" name=""/>
          <p:cNvSpPr/>
          <p:nvPr/>
        </p:nvSpPr>
        <p:spPr>
          <a:xfrm>
            <a:off x="6419880" y="4319640"/>
            <a:ext cx="571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650" b="1" u="none" strike="noStrike">
                <a:solidFill>
                  <a:srgbClr val="607079"/>
                </a:solidFill>
                <a:effectLst/>
                <a:uFillTx/>
                <a:latin typeface="Calibri"/>
                <a:ea typeface="Calibri"/>
              </a:rPr>
              <a:t>04</a:t>
            </a:r>
            <a:endParaRPr lang="en-US" sz="1650" b="0" u="none" strike="noStrike">
              <a:solidFill>
                <a:srgbClr val="000000"/>
              </a:solidFill>
              <a:effectLst/>
              <a:uFillTx/>
              <a:latin typeface="Arial"/>
            </a:endParaRPr>
          </a:p>
        </p:txBody>
      </p:sp>
      <p:sp>
        <p:nvSpPr>
          <p:cNvPr id="140" name=""/>
          <p:cNvSpPr/>
          <p:nvPr/>
        </p:nvSpPr>
        <p:spPr>
          <a:xfrm>
            <a:off x="6419880" y="4624560"/>
            <a:ext cx="4914720" cy="6091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2100" b="1" u="none" strike="noStrike">
                <a:solidFill>
                  <a:srgbClr val="17232B"/>
                </a:solidFill>
                <a:effectLst/>
                <a:uFillTx/>
                <a:latin typeface="Calibri"/>
                <a:ea typeface="Calibri"/>
              </a:rPr>
              <a:t>The method has no built-in values.</a:t>
            </a:r>
            <a:endParaRPr lang="en-US" sz="2100" b="0" u="none" strike="noStrike">
              <a:solidFill>
                <a:srgbClr val="000000"/>
              </a:solidFill>
              <a:effectLst/>
              <a:uFillTx/>
              <a:latin typeface="Arial"/>
            </a:endParaRPr>
          </a:p>
        </p:txBody>
      </p:sp>
      <p:sp>
        <p:nvSpPr>
          <p:cNvPr id="141" name=""/>
          <p:cNvSpPr/>
          <p:nvPr/>
        </p:nvSpPr>
        <p:spPr>
          <a:xfrm>
            <a:off x="6419880" y="5724360"/>
            <a:ext cx="4914720" cy="4759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607079"/>
                </a:solidFill>
                <a:effectLst/>
                <a:uFillTx/>
                <a:latin typeface="Calibri"/>
                <a:ea typeface="Calibri"/>
              </a:rPr>
              <a:t>The techniques that normalized designated drivers also normalized women’s smoking.</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42" name="PlaceHolder 1"/>
          <p:cNvSpPr>
            <a:spLocks noGrp="1"/>
          </p:cNvSpPr>
          <p:nvPr>
            <p:ph type="sldNum" idx="13"/>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43" name=""/>
          <p:cNvSpPr/>
          <p:nvPr/>
        </p:nvSpPr>
        <p:spPr>
          <a:xfrm>
            <a:off x="0" y="0"/>
            <a:ext cx="132840" cy="6857640"/>
          </a:xfrm>
          <a:prstGeom prst="rect">
            <a:avLst/>
          </a:prstGeom>
          <a:solidFill>
            <a:srgbClr val="725E8B"/>
          </a:solidFill>
          <a:ln w="0">
            <a:solidFill>
              <a:srgbClr val="725E8B"/>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4" name=""/>
          <p:cNvSpPr/>
          <p:nvPr/>
        </p:nvSpPr>
        <p:spPr>
          <a:xfrm>
            <a:off x="666720" y="657360"/>
            <a:ext cx="104770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725E8B"/>
                </a:solidFill>
                <a:effectLst/>
                <a:uFillTx/>
                <a:latin typeface="Calibri"/>
                <a:ea typeface="Calibri"/>
              </a:rPr>
              <a:t>FOR A NEW CAMPAIGN</a:t>
            </a:r>
            <a:endParaRPr lang="en-US" sz="1350" b="0" u="none" strike="noStrike">
              <a:solidFill>
                <a:srgbClr val="000000"/>
              </a:solidFill>
              <a:effectLst/>
              <a:uFillTx/>
              <a:latin typeface="Arial"/>
            </a:endParaRPr>
          </a:p>
        </p:txBody>
      </p:sp>
      <p:sp>
        <p:nvSpPr>
          <p:cNvPr id="145"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07</a:t>
            </a:r>
            <a:endParaRPr lang="en-US" sz="980" b="0" u="none" strike="noStrike">
              <a:solidFill>
                <a:srgbClr val="000000"/>
              </a:solidFill>
              <a:effectLst/>
              <a:uFillTx/>
              <a:latin typeface="Arial"/>
            </a:endParaRPr>
          </a:p>
        </p:txBody>
      </p:sp>
      <p:sp>
        <p:nvSpPr>
          <p:cNvPr id="146" name=""/>
          <p:cNvSpPr/>
          <p:nvPr/>
        </p:nvSpPr>
        <p:spPr>
          <a:xfrm>
            <a:off x="666720" y="1143000"/>
            <a:ext cx="104770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300" b="1" u="none" strike="noStrike">
                <a:solidFill>
                  <a:srgbClr val="17232B"/>
                </a:solidFill>
                <a:effectLst/>
                <a:uFillTx/>
                <a:latin typeface="Calibri"/>
                <a:ea typeface="Calibri"/>
              </a:rPr>
              <a:t>What the cases suggest</a:t>
            </a:r>
            <a:endParaRPr lang="en-US" sz="3300" b="0" u="none" strike="noStrike">
              <a:solidFill>
                <a:srgbClr val="000000"/>
              </a:solidFill>
              <a:effectLst/>
              <a:uFillTx/>
              <a:latin typeface="Arial"/>
            </a:endParaRPr>
          </a:p>
        </p:txBody>
      </p:sp>
      <p:sp>
        <p:nvSpPr>
          <p:cNvPr id="147" name=""/>
          <p:cNvSpPr/>
          <p:nvPr/>
        </p:nvSpPr>
        <p:spPr>
          <a:xfrm>
            <a:off x="666720" y="2276640"/>
            <a:ext cx="571320" cy="323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725E8B"/>
                </a:solidFill>
                <a:effectLst/>
                <a:uFillTx/>
                <a:latin typeface="Calibri"/>
                <a:ea typeface="Calibri"/>
              </a:rPr>
              <a:t>01</a:t>
            </a:r>
            <a:endParaRPr lang="en-US" sz="1800" b="0" u="none" strike="noStrike">
              <a:solidFill>
                <a:srgbClr val="000000"/>
              </a:solidFill>
              <a:effectLst/>
              <a:uFillTx/>
              <a:latin typeface="Arial"/>
            </a:endParaRPr>
          </a:p>
        </p:txBody>
      </p:sp>
      <p:sp>
        <p:nvSpPr>
          <p:cNvPr id="148" name=""/>
          <p:cNvSpPr/>
          <p:nvPr/>
        </p:nvSpPr>
        <p:spPr>
          <a:xfrm>
            <a:off x="1333440" y="2238480"/>
            <a:ext cx="9619920" cy="657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950" b="0" u="none" strike="noStrike">
                <a:solidFill>
                  <a:srgbClr val="17232B"/>
                </a:solidFill>
                <a:effectLst/>
                <a:uFillTx/>
                <a:latin typeface="Calibri"/>
                <a:ea typeface="Calibri"/>
              </a:rPr>
              <a:t>Name one concrete role.</a:t>
            </a:r>
            <a:endParaRPr lang="en-US" sz="1950" b="0" u="none" strike="noStrike">
              <a:solidFill>
                <a:srgbClr val="000000"/>
              </a:solidFill>
              <a:effectLst/>
              <a:uFillTx/>
              <a:latin typeface="Arial"/>
            </a:endParaRPr>
          </a:p>
        </p:txBody>
      </p:sp>
      <p:sp>
        <p:nvSpPr>
          <p:cNvPr id="149" name=""/>
          <p:cNvSpPr/>
          <p:nvPr/>
        </p:nvSpPr>
        <p:spPr>
          <a:xfrm>
            <a:off x="1333440" y="2914560"/>
            <a:ext cx="9619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0" name=""/>
          <p:cNvSpPr/>
          <p:nvPr/>
        </p:nvSpPr>
        <p:spPr>
          <a:xfrm>
            <a:off x="666720" y="3048120"/>
            <a:ext cx="571320" cy="323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725E8B"/>
                </a:solidFill>
                <a:effectLst/>
                <a:uFillTx/>
                <a:latin typeface="Calibri"/>
                <a:ea typeface="Calibri"/>
              </a:rPr>
              <a:t>02</a:t>
            </a:r>
            <a:endParaRPr lang="en-US" sz="1800" b="0" u="none" strike="noStrike">
              <a:solidFill>
                <a:srgbClr val="000000"/>
              </a:solidFill>
              <a:effectLst/>
              <a:uFillTx/>
              <a:latin typeface="Arial"/>
            </a:endParaRPr>
          </a:p>
        </p:txBody>
      </p:sp>
      <p:sp>
        <p:nvSpPr>
          <p:cNvPr id="151" name=""/>
          <p:cNvSpPr/>
          <p:nvPr/>
        </p:nvSpPr>
        <p:spPr>
          <a:xfrm>
            <a:off x="1333440" y="3009960"/>
            <a:ext cx="9619920" cy="657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950" b="0" u="none" strike="noStrike">
                <a:solidFill>
                  <a:srgbClr val="17232B"/>
                </a:solidFill>
                <a:effectLst/>
                <a:uFillTx/>
                <a:latin typeface="Calibri"/>
                <a:ea typeface="Calibri"/>
              </a:rPr>
              <a:t>Place it in stories and channels people trust.</a:t>
            </a:r>
            <a:endParaRPr lang="en-US" sz="1950" b="0" u="none" strike="noStrike">
              <a:solidFill>
                <a:srgbClr val="000000"/>
              </a:solidFill>
              <a:effectLst/>
              <a:uFillTx/>
              <a:latin typeface="Arial"/>
            </a:endParaRPr>
          </a:p>
        </p:txBody>
      </p:sp>
      <p:sp>
        <p:nvSpPr>
          <p:cNvPr id="152" name=""/>
          <p:cNvSpPr/>
          <p:nvPr/>
        </p:nvSpPr>
        <p:spPr>
          <a:xfrm>
            <a:off x="1333440" y="3686040"/>
            <a:ext cx="9619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3" name=""/>
          <p:cNvSpPr/>
          <p:nvPr/>
        </p:nvSpPr>
        <p:spPr>
          <a:xfrm>
            <a:off x="666720" y="3819600"/>
            <a:ext cx="571320" cy="323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725E8B"/>
                </a:solidFill>
                <a:effectLst/>
                <a:uFillTx/>
                <a:latin typeface="Calibri"/>
                <a:ea typeface="Calibri"/>
              </a:rPr>
              <a:t>03</a:t>
            </a:r>
            <a:endParaRPr lang="en-US" sz="1800" b="0" u="none" strike="noStrike">
              <a:solidFill>
                <a:srgbClr val="000000"/>
              </a:solidFill>
              <a:effectLst/>
              <a:uFillTx/>
              <a:latin typeface="Arial"/>
            </a:endParaRPr>
          </a:p>
        </p:txBody>
      </p:sp>
      <p:sp>
        <p:nvSpPr>
          <p:cNvPr id="154" name=""/>
          <p:cNvSpPr/>
          <p:nvPr/>
        </p:nvSpPr>
        <p:spPr>
          <a:xfrm>
            <a:off x="1333440" y="3781440"/>
            <a:ext cx="9619920" cy="657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950" b="0" u="none" strike="noStrike">
                <a:solidFill>
                  <a:srgbClr val="17232B"/>
                </a:solidFill>
                <a:effectLst/>
                <a:uFillTx/>
                <a:latin typeface="Calibri"/>
                <a:ea typeface="Calibri"/>
              </a:rPr>
              <a:t>Connect it to a real service or consequence.</a:t>
            </a:r>
            <a:endParaRPr lang="en-US" sz="1950" b="0" u="none" strike="noStrike">
              <a:solidFill>
                <a:srgbClr val="000000"/>
              </a:solidFill>
              <a:effectLst/>
              <a:uFillTx/>
              <a:latin typeface="Arial"/>
            </a:endParaRPr>
          </a:p>
        </p:txBody>
      </p:sp>
      <p:sp>
        <p:nvSpPr>
          <p:cNvPr id="155" name=""/>
          <p:cNvSpPr/>
          <p:nvPr/>
        </p:nvSpPr>
        <p:spPr>
          <a:xfrm>
            <a:off x="1333440" y="4457880"/>
            <a:ext cx="9619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6" name=""/>
          <p:cNvSpPr/>
          <p:nvPr/>
        </p:nvSpPr>
        <p:spPr>
          <a:xfrm>
            <a:off x="666720" y="4591080"/>
            <a:ext cx="571320" cy="323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725E8B"/>
                </a:solidFill>
                <a:effectLst/>
                <a:uFillTx/>
                <a:latin typeface="Calibri"/>
                <a:ea typeface="Calibri"/>
              </a:rPr>
              <a:t>04</a:t>
            </a:r>
            <a:endParaRPr lang="en-US" sz="1800" b="0" u="none" strike="noStrike">
              <a:solidFill>
                <a:srgbClr val="000000"/>
              </a:solidFill>
              <a:effectLst/>
              <a:uFillTx/>
              <a:latin typeface="Arial"/>
            </a:endParaRPr>
          </a:p>
        </p:txBody>
      </p:sp>
      <p:sp>
        <p:nvSpPr>
          <p:cNvPr id="157" name=""/>
          <p:cNvSpPr/>
          <p:nvPr/>
        </p:nvSpPr>
        <p:spPr>
          <a:xfrm>
            <a:off x="1333440" y="4552920"/>
            <a:ext cx="9619920" cy="657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950" b="0" u="none" strike="noStrike">
                <a:solidFill>
                  <a:srgbClr val="17232B"/>
                </a:solidFill>
                <a:effectLst/>
                <a:uFillTx/>
                <a:latin typeface="Calibri"/>
                <a:ea typeface="Calibri"/>
              </a:rPr>
              <a:t>Make adoption visible to peers.</a:t>
            </a:r>
            <a:endParaRPr lang="en-US" sz="1950" b="0" u="none" strike="noStrike">
              <a:solidFill>
                <a:srgbClr val="000000"/>
              </a:solidFill>
              <a:effectLst/>
              <a:uFillTx/>
              <a:latin typeface="Arial"/>
            </a:endParaRPr>
          </a:p>
        </p:txBody>
      </p:sp>
      <p:sp>
        <p:nvSpPr>
          <p:cNvPr id="158" name=""/>
          <p:cNvSpPr/>
          <p:nvPr/>
        </p:nvSpPr>
        <p:spPr>
          <a:xfrm>
            <a:off x="1333440" y="5229360"/>
            <a:ext cx="9619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9" name=""/>
          <p:cNvSpPr/>
          <p:nvPr/>
        </p:nvSpPr>
        <p:spPr>
          <a:xfrm>
            <a:off x="666720" y="5362560"/>
            <a:ext cx="571320" cy="323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725E8B"/>
                </a:solidFill>
                <a:effectLst/>
                <a:uFillTx/>
                <a:latin typeface="Calibri"/>
                <a:ea typeface="Calibri"/>
              </a:rPr>
              <a:t>05</a:t>
            </a:r>
            <a:endParaRPr lang="en-US" sz="1800" b="0" u="none" strike="noStrike">
              <a:solidFill>
                <a:srgbClr val="000000"/>
              </a:solidFill>
              <a:effectLst/>
              <a:uFillTx/>
              <a:latin typeface="Arial"/>
            </a:endParaRPr>
          </a:p>
        </p:txBody>
      </p:sp>
      <p:sp>
        <p:nvSpPr>
          <p:cNvPr id="160" name=""/>
          <p:cNvSpPr/>
          <p:nvPr/>
        </p:nvSpPr>
        <p:spPr>
          <a:xfrm>
            <a:off x="1333440" y="5324400"/>
            <a:ext cx="9619920" cy="657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950" b="0" u="none" strike="noStrike">
                <a:solidFill>
                  <a:srgbClr val="17232B"/>
                </a:solidFill>
                <a:effectLst/>
                <a:uFillTx/>
                <a:latin typeface="Calibri"/>
                <a:ea typeface="Calibri"/>
              </a:rPr>
              <a:t>Plan the evaluation before launch.</a:t>
            </a:r>
            <a:endParaRPr lang="en-US" sz="1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61" name="PlaceHolder 1"/>
          <p:cNvSpPr>
            <a:spLocks noGrp="1"/>
          </p:cNvSpPr>
          <p:nvPr>
            <p:ph type="sldNum" idx="14"/>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62" name=""/>
          <p:cNvSpPr/>
          <p:nvPr/>
        </p:nvSpPr>
        <p:spPr>
          <a:xfrm>
            <a:off x="0" y="0"/>
            <a:ext cx="132840" cy="685764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3"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01 / 35</a:t>
            </a:r>
            <a:endParaRPr lang="en-US" sz="1200" b="0" u="none" strike="noStrike">
              <a:solidFill>
                <a:srgbClr val="000000"/>
              </a:solidFill>
              <a:effectLst/>
              <a:uFillTx/>
              <a:latin typeface="Arial"/>
            </a:endParaRPr>
          </a:p>
        </p:txBody>
      </p:sp>
      <p:sp>
        <p:nvSpPr>
          <p:cNvPr id="164"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PUBLIC CAMPAIGN  ·  UNITED STATES</a:t>
            </a:r>
            <a:endParaRPr lang="en-US" sz="1200" b="0" u="none" strike="noStrike">
              <a:solidFill>
                <a:srgbClr val="000000"/>
              </a:solidFill>
              <a:effectLst/>
              <a:uFillTx/>
              <a:latin typeface="Arial"/>
            </a:endParaRPr>
          </a:p>
        </p:txBody>
      </p:sp>
      <p:sp>
        <p:nvSpPr>
          <p:cNvPr id="165"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1929</a:t>
            </a:r>
            <a:endParaRPr lang="en-US" sz="1350" b="0" u="none" strike="noStrike">
              <a:solidFill>
                <a:srgbClr val="000000"/>
              </a:solidFill>
              <a:effectLst/>
              <a:uFillTx/>
              <a:latin typeface="Arial"/>
            </a:endParaRPr>
          </a:p>
        </p:txBody>
      </p:sp>
      <p:sp>
        <p:nvSpPr>
          <p:cNvPr id="166"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Torches of Freedom</a:t>
            </a:r>
            <a:endParaRPr lang="en-US" sz="3600" b="0" u="none" strike="noStrike">
              <a:solidFill>
                <a:srgbClr val="000000"/>
              </a:solidFill>
              <a:effectLst/>
              <a:uFillTx/>
              <a:latin typeface="Arial"/>
            </a:endParaRPr>
          </a:p>
        </p:txBody>
      </p:sp>
      <p:sp>
        <p:nvSpPr>
          <p:cNvPr id="167" name=""/>
          <p:cNvSpPr/>
          <p:nvPr/>
        </p:nvSpPr>
        <p:spPr>
          <a:xfrm>
            <a:off x="666720" y="1609560"/>
            <a:ext cx="5181120" cy="18720"/>
          </a:xfrm>
          <a:prstGeom prst="rect">
            <a:avLst/>
          </a:prstGeom>
          <a:solidFill>
            <a:srgbClr val="235C77"/>
          </a:solidFill>
          <a:ln w="0">
            <a:solidFill>
              <a:srgbClr val="235C77"/>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68"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69"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70"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Women smoking on the street drew disapproval</a:t>
            </a:r>
            <a:endParaRPr lang="en-US" sz="1350" b="0" u="none" strike="noStrike">
              <a:solidFill>
                <a:srgbClr val="000000"/>
              </a:solidFill>
              <a:effectLst/>
              <a:uFillTx/>
              <a:latin typeface="Arial"/>
            </a:endParaRPr>
          </a:p>
        </p:txBody>
      </p:sp>
      <p:sp>
        <p:nvSpPr>
          <p:cNvPr id="171"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72"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Public smoking could signal independence</a:t>
            </a:r>
            <a:endParaRPr lang="en-US" sz="1350" b="0" u="none" strike="noStrike">
              <a:solidFill>
                <a:srgbClr val="000000"/>
              </a:solidFill>
              <a:effectLst/>
              <a:uFillTx/>
              <a:latin typeface="Arial"/>
            </a:endParaRPr>
          </a:p>
        </p:txBody>
      </p:sp>
      <p:sp>
        <p:nvSpPr>
          <p:cNvPr id="173"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74"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75"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01</a:t>
            </a:r>
            <a:endParaRPr lang="en-US" sz="1200" b="0" u="none" strike="noStrike">
              <a:solidFill>
                <a:srgbClr val="000000"/>
              </a:solidFill>
              <a:effectLst/>
              <a:uFillTx/>
              <a:latin typeface="Arial"/>
            </a:endParaRPr>
          </a:p>
        </p:txBody>
      </p:sp>
      <p:sp>
        <p:nvSpPr>
          <p:cNvPr id="176"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tobacco company hired Edward Bernays to stage an Easter parade moment.</a:t>
            </a:r>
            <a:endParaRPr lang="en-US" sz="1500" b="0" u="none" strike="noStrike">
              <a:solidFill>
                <a:srgbClr val="000000"/>
              </a:solidFill>
              <a:effectLst/>
              <a:uFillTx/>
              <a:latin typeface="Arial"/>
            </a:endParaRPr>
          </a:p>
        </p:txBody>
      </p:sp>
      <p:sp>
        <p:nvSpPr>
          <p:cNvPr id="177"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78"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02</a:t>
            </a:r>
            <a:endParaRPr lang="en-US" sz="1200" b="0" u="none" strike="noStrike">
              <a:solidFill>
                <a:srgbClr val="000000"/>
              </a:solidFill>
              <a:effectLst/>
              <a:uFillTx/>
              <a:latin typeface="Arial"/>
            </a:endParaRPr>
          </a:p>
        </p:txBody>
      </p:sp>
      <p:sp>
        <p:nvSpPr>
          <p:cNvPr id="179"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About ten young women smoked on Fifth Avenue during the parade; press coverage was arranged.</a:t>
            </a:r>
            <a:endParaRPr lang="en-US" sz="1500" b="0" u="none" strike="noStrike">
              <a:solidFill>
                <a:srgbClr val="000000"/>
              </a:solidFill>
              <a:effectLst/>
              <a:uFillTx/>
              <a:latin typeface="Arial"/>
            </a:endParaRPr>
          </a:p>
        </p:txBody>
      </p:sp>
      <p:sp>
        <p:nvSpPr>
          <p:cNvPr id="180"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81"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03</a:t>
            </a:r>
            <a:endParaRPr lang="en-US" sz="1200" b="0" u="none" strike="noStrike">
              <a:solidFill>
                <a:srgbClr val="000000"/>
              </a:solidFill>
              <a:effectLst/>
              <a:uFillTx/>
              <a:latin typeface="Arial"/>
            </a:endParaRPr>
          </a:p>
        </p:txBody>
      </p:sp>
      <p:sp>
        <p:nvSpPr>
          <p:cNvPr id="182"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Newspaper coverage carried the equality framing beyond the staged event.</a:t>
            </a:r>
            <a:endParaRPr lang="en-US" sz="1500" b="0" u="none" strike="noStrike">
              <a:solidFill>
                <a:srgbClr val="000000"/>
              </a:solidFill>
              <a:effectLst/>
              <a:uFillTx/>
              <a:latin typeface="Arial"/>
            </a:endParaRPr>
          </a:p>
        </p:txBody>
      </p:sp>
      <p:sp>
        <p:nvSpPr>
          <p:cNvPr id="183"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4"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85" name=""/>
          <p:cNvPicPr/>
          <p:nvPr/>
        </p:nvPicPr>
        <p:blipFill>
          <a:blip r:embed="rId1"/>
          <a:stretch/>
        </p:blipFill>
        <p:spPr>
          <a:xfrm>
            <a:off x="7851600" y="1752480"/>
            <a:ext cx="1974600" cy="3038040"/>
          </a:xfrm>
          <a:prstGeom prst="rect">
            <a:avLst/>
          </a:prstGeom>
          <a:noFill/>
          <a:ln w="0">
            <a:noFill/>
          </a:ln>
        </p:spPr>
      </p:pic>
      <p:sp>
        <p:nvSpPr>
          <p:cNvPr id="186"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New York Times, April 1, 1929: the “Freedom” cigarette report</a:t>
            </a:r>
            <a:endParaRPr lang="en-US" sz="1130" b="0" u="none" strike="noStrike">
              <a:solidFill>
                <a:srgbClr val="000000"/>
              </a:solidFill>
              <a:effectLst/>
              <a:uFillTx/>
              <a:latin typeface="Arial"/>
            </a:endParaRPr>
          </a:p>
        </p:txBody>
      </p:sp>
      <p:sp>
        <p:nvSpPr>
          <p:cNvPr id="187"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8"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89"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Women already smoked at home and in some public places before 1929. The stunt’s own effect was never measured.</a:t>
            </a:r>
            <a:endParaRPr lang="en-US" sz="1280" b="0" u="none" strike="noStrike">
              <a:solidFill>
                <a:srgbClr val="000000"/>
              </a:solidFill>
              <a:effectLst/>
              <a:uFillTx/>
              <a:latin typeface="Arial"/>
            </a:endParaRPr>
          </a:p>
        </p:txBody>
      </p:sp>
      <p:sp>
        <p:nvSpPr>
          <p:cNvPr id="190"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1"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92"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Historical accounts; no study measured the stunt’s impact.</a:t>
            </a:r>
            <a:endParaRPr lang="en-US" sz="1200" b="0" u="none" strike="noStrike">
              <a:solidFill>
                <a:srgbClr val="000000"/>
              </a:solidFill>
              <a:effectLst/>
              <a:uFillTx/>
              <a:latin typeface="Arial"/>
            </a:endParaRPr>
          </a:p>
        </p:txBody>
      </p:sp>
      <p:sp>
        <p:nvSpPr>
          <p:cNvPr id="193"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94"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historians.org  ·  archive.org  ·  cancercontrol.cancer.gov</a:t>
            </a:r>
            <a:endParaRPr lang="en-US" sz="900" b="0" u="none" strike="noStrike">
              <a:solidFill>
                <a:srgbClr val="000000"/>
              </a:solidFill>
              <a:effectLst/>
              <a:uFillTx/>
              <a:latin typeface="Arial"/>
            </a:endParaRPr>
          </a:p>
        </p:txBody>
      </p:sp>
      <p:sp>
        <p:nvSpPr>
          <p:cNvPr id="195"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08</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96" name="PlaceHolder 1"/>
          <p:cNvSpPr>
            <a:spLocks noGrp="1"/>
          </p:cNvSpPr>
          <p:nvPr>
            <p:ph type="sldNum" idx="15"/>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97" name=""/>
          <p:cNvSpPr/>
          <p:nvPr/>
        </p:nvSpPr>
        <p:spPr>
          <a:xfrm>
            <a:off x="0" y="0"/>
            <a:ext cx="132840" cy="685764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8"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02 / 35</a:t>
            </a:r>
            <a:endParaRPr lang="en-US" sz="1200" b="0" u="none" strike="noStrike">
              <a:solidFill>
                <a:srgbClr val="000000"/>
              </a:solidFill>
              <a:effectLst/>
              <a:uFillTx/>
              <a:latin typeface="Arial"/>
            </a:endParaRPr>
          </a:p>
        </p:txBody>
      </p:sp>
      <p:sp>
        <p:nvSpPr>
          <p:cNvPr id="199"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PUBLIC CAMPAIGN  ·  UNITED STATES</a:t>
            </a:r>
            <a:endParaRPr lang="en-US" sz="1200" b="0" u="none" strike="noStrike">
              <a:solidFill>
                <a:srgbClr val="000000"/>
              </a:solidFill>
              <a:effectLst/>
              <a:uFillTx/>
              <a:latin typeface="Arial"/>
            </a:endParaRPr>
          </a:p>
        </p:txBody>
      </p:sp>
      <p:sp>
        <p:nvSpPr>
          <p:cNvPr id="200"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1942</a:t>
            </a:r>
            <a:endParaRPr lang="en-US" sz="1350" b="0" u="none" strike="noStrike">
              <a:solidFill>
                <a:srgbClr val="000000"/>
              </a:solidFill>
              <a:effectLst/>
              <a:uFillTx/>
              <a:latin typeface="Arial"/>
            </a:endParaRPr>
          </a:p>
        </p:txBody>
      </p:sp>
      <p:sp>
        <p:nvSpPr>
          <p:cNvPr id="201"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Women in War Jobs</a:t>
            </a:r>
            <a:endParaRPr lang="en-US" sz="3600" b="0" u="none" strike="noStrike">
              <a:solidFill>
                <a:srgbClr val="000000"/>
              </a:solidFill>
              <a:effectLst/>
              <a:uFillTx/>
              <a:latin typeface="Arial"/>
            </a:endParaRPr>
          </a:p>
        </p:txBody>
      </p:sp>
      <p:sp>
        <p:nvSpPr>
          <p:cNvPr id="202" name=""/>
          <p:cNvSpPr/>
          <p:nvPr/>
        </p:nvSpPr>
        <p:spPr>
          <a:xfrm>
            <a:off x="666720" y="1609560"/>
            <a:ext cx="5181120" cy="18720"/>
          </a:xfrm>
          <a:prstGeom prst="rect">
            <a:avLst/>
          </a:prstGeom>
          <a:solidFill>
            <a:srgbClr val="235C77"/>
          </a:solidFill>
          <a:ln w="0">
            <a:solidFill>
              <a:srgbClr val="235C77"/>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203"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204"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205"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Factory work was seen as men’s work</a:t>
            </a:r>
            <a:endParaRPr lang="en-US" sz="1350" b="0" u="none" strike="noStrike">
              <a:solidFill>
                <a:srgbClr val="000000"/>
              </a:solidFill>
              <a:effectLst/>
              <a:uFillTx/>
              <a:latin typeface="Arial"/>
            </a:endParaRPr>
          </a:p>
        </p:txBody>
      </p:sp>
      <p:sp>
        <p:nvSpPr>
          <p:cNvPr id="206"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207"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Women could fill essential wartime jobs</a:t>
            </a:r>
            <a:endParaRPr lang="en-US" sz="1350" b="0" u="none" strike="noStrike">
              <a:solidFill>
                <a:srgbClr val="000000"/>
              </a:solidFill>
              <a:effectLst/>
              <a:uFillTx/>
              <a:latin typeface="Arial"/>
            </a:endParaRPr>
          </a:p>
        </p:txBody>
      </p:sp>
      <p:sp>
        <p:nvSpPr>
          <p:cNvPr id="208"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09"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210"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01</a:t>
            </a:r>
            <a:endParaRPr lang="en-US" sz="1200" b="0" u="none" strike="noStrike">
              <a:solidFill>
                <a:srgbClr val="000000"/>
              </a:solidFill>
              <a:effectLst/>
              <a:uFillTx/>
              <a:latin typeface="Arial"/>
            </a:endParaRPr>
          </a:p>
        </p:txBody>
      </p:sp>
      <p:sp>
        <p:nvSpPr>
          <p:cNvPr id="211"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Wartime advertisers connected industrial work to national service.</a:t>
            </a:r>
            <a:endParaRPr lang="en-US" sz="1500" b="0" u="none" strike="noStrike">
              <a:solidFill>
                <a:srgbClr val="000000"/>
              </a:solidFill>
              <a:effectLst/>
              <a:uFillTx/>
              <a:latin typeface="Arial"/>
            </a:endParaRPr>
          </a:p>
        </p:txBody>
      </p:sp>
      <p:sp>
        <p:nvSpPr>
          <p:cNvPr id="212"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13"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02</a:t>
            </a:r>
            <a:endParaRPr lang="en-US" sz="1200" b="0" u="none" strike="noStrike">
              <a:solidFill>
                <a:srgbClr val="000000"/>
              </a:solidFill>
              <a:effectLst/>
              <a:uFillTx/>
              <a:latin typeface="Arial"/>
            </a:endParaRPr>
          </a:p>
        </p:txBody>
      </p:sp>
      <p:sp>
        <p:nvSpPr>
          <p:cNvPr id="214"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Posters and other mass advertising made women workers visible.</a:t>
            </a:r>
            <a:endParaRPr lang="en-US" sz="1500" b="0" u="none" strike="noStrike">
              <a:solidFill>
                <a:srgbClr val="000000"/>
              </a:solidFill>
              <a:effectLst/>
              <a:uFillTx/>
              <a:latin typeface="Arial"/>
            </a:endParaRPr>
          </a:p>
        </p:txBody>
      </p:sp>
      <p:sp>
        <p:nvSpPr>
          <p:cNvPr id="215"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16"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03</a:t>
            </a:r>
            <a:endParaRPr lang="en-US" sz="1200" b="0" u="none" strike="noStrike">
              <a:solidFill>
                <a:srgbClr val="000000"/>
              </a:solidFill>
              <a:effectLst/>
              <a:uFillTx/>
              <a:latin typeface="Arial"/>
            </a:endParaRPr>
          </a:p>
        </p:txBody>
      </p:sp>
      <p:sp>
        <p:nvSpPr>
          <p:cNvPr id="217"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Women took factory and shipyard jobs; federal child care came in 1943 and reached only some.</a:t>
            </a:r>
            <a:endParaRPr lang="en-US" sz="1500" b="0" u="none" strike="noStrike">
              <a:solidFill>
                <a:srgbClr val="000000"/>
              </a:solidFill>
              <a:effectLst/>
              <a:uFillTx/>
              <a:latin typeface="Arial"/>
            </a:endParaRPr>
          </a:p>
        </p:txBody>
      </p:sp>
      <p:sp>
        <p:nvSpPr>
          <p:cNvPr id="218"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9"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20" name=""/>
          <p:cNvPicPr/>
          <p:nvPr/>
        </p:nvPicPr>
        <p:blipFill>
          <a:blip r:embed="rId1"/>
          <a:stretch/>
        </p:blipFill>
        <p:spPr>
          <a:xfrm>
            <a:off x="7844040" y="1752480"/>
            <a:ext cx="1989720" cy="3038040"/>
          </a:xfrm>
          <a:prstGeom prst="rect">
            <a:avLst/>
          </a:prstGeom>
          <a:noFill/>
          <a:ln w="0">
            <a:noFill/>
          </a:ln>
        </p:spPr>
      </p:pic>
      <p:sp>
        <p:nvSpPr>
          <p:cNvPr id="221"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'Do the job HE left behind' poster, c. 1943 — National Archives</a:t>
            </a:r>
            <a:endParaRPr lang="en-US" sz="1130" b="0" u="none" strike="noStrike">
              <a:solidFill>
                <a:srgbClr val="000000"/>
              </a:solidFill>
              <a:effectLst/>
              <a:uFillTx/>
              <a:latin typeface="Arial"/>
            </a:endParaRPr>
          </a:p>
        </p:txBody>
      </p:sp>
      <p:sp>
        <p:nvSpPr>
          <p:cNvPr id="222"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3"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224"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About six million women entered U.S. work during World War II. The ads’ share of that change is unknown.</a:t>
            </a:r>
            <a:endParaRPr lang="en-US" sz="1280" b="0" u="none" strike="noStrike">
              <a:solidFill>
                <a:srgbClr val="000000"/>
              </a:solidFill>
              <a:effectLst/>
              <a:uFillTx/>
              <a:latin typeface="Arial"/>
            </a:endParaRPr>
          </a:p>
        </p:txBody>
      </p:sp>
      <p:sp>
        <p:nvSpPr>
          <p:cNvPr id="225"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6"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227"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Workforce records; no test of the ads.</a:t>
            </a:r>
            <a:endParaRPr lang="en-US" sz="1200" b="0" u="none" strike="noStrike">
              <a:solidFill>
                <a:srgbClr val="000000"/>
              </a:solidFill>
              <a:effectLst/>
              <a:uFillTx/>
              <a:latin typeface="Arial"/>
            </a:endParaRPr>
          </a:p>
        </p:txBody>
      </p:sp>
      <p:sp>
        <p:nvSpPr>
          <p:cNvPr id="228"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29"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adcouncil.org  ·  catalog.archives.gov  ·  nps.gov</a:t>
            </a:r>
            <a:endParaRPr lang="en-US" sz="900" b="0" u="none" strike="noStrike">
              <a:solidFill>
                <a:srgbClr val="000000"/>
              </a:solidFill>
              <a:effectLst/>
              <a:uFillTx/>
              <a:latin typeface="Arial"/>
            </a:endParaRPr>
          </a:p>
        </p:txBody>
      </p:sp>
      <p:sp>
        <p:nvSpPr>
          <p:cNvPr id="230"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09</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231" name="PlaceHolder 1"/>
          <p:cNvSpPr>
            <a:spLocks noGrp="1"/>
          </p:cNvSpPr>
          <p:nvPr>
            <p:ph type="sldNum" idx="16"/>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232" name=""/>
          <p:cNvSpPr/>
          <p:nvPr/>
        </p:nvSpPr>
        <p:spPr>
          <a:xfrm>
            <a:off x="0" y="0"/>
            <a:ext cx="132840" cy="685764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3"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03 / 35</a:t>
            </a:r>
            <a:endParaRPr lang="en-US" sz="1200" b="0" u="none" strike="noStrike">
              <a:solidFill>
                <a:srgbClr val="000000"/>
              </a:solidFill>
              <a:effectLst/>
              <a:uFillTx/>
              <a:latin typeface="Arial"/>
            </a:endParaRPr>
          </a:p>
        </p:txBody>
      </p:sp>
      <p:sp>
        <p:nvSpPr>
          <p:cNvPr id="234"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PUBLIC CAMPAIGN  ·  UNITED STATES</a:t>
            </a:r>
            <a:endParaRPr lang="en-US" sz="1200" b="0" u="none" strike="noStrike">
              <a:solidFill>
                <a:srgbClr val="000000"/>
              </a:solidFill>
              <a:effectLst/>
              <a:uFillTx/>
              <a:latin typeface="Arial"/>
            </a:endParaRPr>
          </a:p>
        </p:txBody>
      </p:sp>
      <p:sp>
        <p:nvSpPr>
          <p:cNvPr id="235"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1944</a:t>
            </a:r>
            <a:endParaRPr lang="en-US" sz="1350" b="0" u="none" strike="noStrike">
              <a:solidFill>
                <a:srgbClr val="000000"/>
              </a:solidFill>
              <a:effectLst/>
              <a:uFillTx/>
              <a:latin typeface="Arial"/>
            </a:endParaRPr>
          </a:p>
        </p:txBody>
      </p:sp>
      <p:sp>
        <p:nvSpPr>
          <p:cNvPr id="236"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Smokey Bear</a:t>
            </a:r>
            <a:endParaRPr lang="en-US" sz="3600" b="0" u="none" strike="noStrike">
              <a:solidFill>
                <a:srgbClr val="000000"/>
              </a:solidFill>
              <a:effectLst/>
              <a:uFillTx/>
              <a:latin typeface="Arial"/>
            </a:endParaRPr>
          </a:p>
        </p:txBody>
      </p:sp>
      <p:sp>
        <p:nvSpPr>
          <p:cNvPr id="237" name=""/>
          <p:cNvSpPr/>
          <p:nvPr/>
        </p:nvSpPr>
        <p:spPr>
          <a:xfrm>
            <a:off x="666720" y="1609560"/>
            <a:ext cx="5181120" cy="18720"/>
          </a:xfrm>
          <a:prstGeom prst="rect">
            <a:avLst/>
          </a:prstGeom>
          <a:solidFill>
            <a:srgbClr val="235C77"/>
          </a:solidFill>
          <a:ln w="0">
            <a:solidFill>
              <a:srgbClr val="235C77"/>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238"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239"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240"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Wildfires felt like someone else’s problem</a:t>
            </a:r>
            <a:endParaRPr lang="en-US" sz="1350" b="0" u="none" strike="noStrike">
              <a:solidFill>
                <a:srgbClr val="000000"/>
              </a:solidFill>
              <a:effectLst/>
              <a:uFillTx/>
              <a:latin typeface="Arial"/>
            </a:endParaRPr>
          </a:p>
        </p:txBody>
      </p:sp>
      <p:sp>
        <p:nvSpPr>
          <p:cNvPr id="241"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242"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Each visitor had a part in preventing fires</a:t>
            </a:r>
            <a:endParaRPr lang="en-US" sz="1350" b="0" u="none" strike="noStrike">
              <a:solidFill>
                <a:srgbClr val="000000"/>
              </a:solidFill>
              <a:effectLst/>
              <a:uFillTx/>
              <a:latin typeface="Arial"/>
            </a:endParaRPr>
          </a:p>
        </p:txBody>
      </p:sp>
      <p:sp>
        <p:nvSpPr>
          <p:cNvPr id="243"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44"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245"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01</a:t>
            </a:r>
            <a:endParaRPr lang="en-US" sz="1200" b="0" u="none" strike="noStrike">
              <a:solidFill>
                <a:srgbClr val="000000"/>
              </a:solidFill>
              <a:effectLst/>
              <a:uFillTx/>
              <a:latin typeface="Arial"/>
            </a:endParaRPr>
          </a:p>
        </p:txBody>
      </p:sp>
      <p:sp>
        <p:nvSpPr>
          <p:cNvPr id="246"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Forest Service and ad partners created one recurring bear character.</a:t>
            </a:r>
            <a:endParaRPr lang="en-US" sz="1500" b="0" u="none" strike="noStrike">
              <a:solidFill>
                <a:srgbClr val="000000"/>
              </a:solidFill>
              <a:effectLst/>
              <a:uFillTx/>
              <a:latin typeface="Arial"/>
            </a:endParaRPr>
          </a:p>
        </p:txBody>
      </p:sp>
      <p:sp>
        <p:nvSpPr>
          <p:cNvPr id="247"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48"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02</a:t>
            </a:r>
            <a:endParaRPr lang="en-US" sz="1200" b="0" u="none" strike="noStrike">
              <a:solidFill>
                <a:srgbClr val="000000"/>
              </a:solidFill>
              <a:effectLst/>
              <a:uFillTx/>
              <a:latin typeface="Arial"/>
            </a:endParaRPr>
          </a:p>
        </p:txBody>
      </p:sp>
      <p:sp>
        <p:nvSpPr>
          <p:cNvPr id="249"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Posters began in 1944; the “Only You” line came in 1947, then radio and TV spots.</a:t>
            </a:r>
            <a:endParaRPr lang="en-US" sz="1500" b="0" u="none" strike="noStrike">
              <a:solidFill>
                <a:srgbClr val="000000"/>
              </a:solidFill>
              <a:effectLst/>
              <a:uFillTx/>
              <a:latin typeface="Arial"/>
            </a:endParaRPr>
          </a:p>
        </p:txBody>
      </p:sp>
      <p:sp>
        <p:nvSpPr>
          <p:cNvPr id="250"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51"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03</a:t>
            </a:r>
            <a:endParaRPr lang="en-US" sz="1200" b="0" u="none" strike="noStrike">
              <a:solidFill>
                <a:srgbClr val="000000"/>
              </a:solidFill>
              <a:effectLst/>
              <a:uFillTx/>
              <a:latin typeface="Arial"/>
            </a:endParaRPr>
          </a:p>
        </p:txBody>
      </p:sp>
      <p:sp>
        <p:nvSpPr>
          <p:cNvPr id="252"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Materials paired the memorable character with specific fire-safety advice.</a:t>
            </a:r>
            <a:endParaRPr lang="en-US" sz="1500" b="0" u="none" strike="noStrike">
              <a:solidFill>
                <a:srgbClr val="000000"/>
              </a:solidFill>
              <a:effectLst/>
              <a:uFillTx/>
              <a:latin typeface="Arial"/>
            </a:endParaRPr>
          </a:p>
        </p:txBody>
      </p:sp>
      <p:sp>
        <p:nvSpPr>
          <p:cNvPr id="253"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4"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55" name=""/>
          <p:cNvPicPr/>
          <p:nvPr/>
        </p:nvPicPr>
        <p:blipFill>
          <a:blip r:embed="rId1"/>
          <a:stretch/>
        </p:blipFill>
        <p:spPr>
          <a:xfrm>
            <a:off x="7741440" y="1752480"/>
            <a:ext cx="2194920" cy="3038040"/>
          </a:xfrm>
          <a:prstGeom prst="rect">
            <a:avLst/>
          </a:prstGeom>
          <a:noFill/>
          <a:ln w="0">
            <a:noFill/>
          </a:ln>
        </p:spPr>
      </p:pic>
      <p:sp>
        <p:nvSpPr>
          <p:cNvPr id="256"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First Smokey Bear poster, 1944 — USDA Forest Service / National Archives</a:t>
            </a:r>
            <a:endParaRPr lang="en-US" sz="1130" b="0" u="none" strike="noStrike">
              <a:solidFill>
                <a:srgbClr val="000000"/>
              </a:solidFill>
              <a:effectLst/>
              <a:uFillTx/>
              <a:latin typeface="Arial"/>
            </a:endParaRPr>
          </a:p>
        </p:txBody>
      </p:sp>
      <p:sp>
        <p:nvSpPr>
          <p:cNvPr id="257"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8"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259"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The message has endured since 1944. The sources reviewed do not show how many fires it prevented.</a:t>
            </a:r>
            <a:endParaRPr lang="en-US" sz="1280" b="0" u="none" strike="noStrike">
              <a:solidFill>
                <a:srgbClr val="000000"/>
              </a:solidFill>
              <a:effectLst/>
              <a:uFillTx/>
              <a:latin typeface="Arial"/>
            </a:endParaRPr>
          </a:p>
        </p:txBody>
      </p:sp>
      <p:sp>
        <p:nvSpPr>
          <p:cNvPr id="260"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1"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262"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Campaign history; other causes of change were not ruled out.</a:t>
            </a:r>
            <a:endParaRPr lang="en-US" sz="1200" b="0" u="none" strike="noStrike">
              <a:solidFill>
                <a:srgbClr val="000000"/>
              </a:solidFill>
              <a:effectLst/>
              <a:uFillTx/>
              <a:latin typeface="Arial"/>
            </a:endParaRPr>
          </a:p>
        </p:txBody>
      </p:sp>
      <p:sp>
        <p:nvSpPr>
          <p:cNvPr id="263"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64"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smokeybear.com  ·  catalog.archives.gov  ·  adcouncil.org</a:t>
            </a:r>
            <a:endParaRPr lang="en-US" sz="900" b="0" u="none" strike="noStrike">
              <a:solidFill>
                <a:srgbClr val="000000"/>
              </a:solidFill>
              <a:effectLst/>
              <a:uFillTx/>
              <a:latin typeface="Arial"/>
            </a:endParaRPr>
          </a:p>
        </p:txBody>
      </p:sp>
      <p:sp>
        <p:nvSpPr>
          <p:cNvPr id="265"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10</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266" name="PlaceHolder 1"/>
          <p:cNvSpPr>
            <a:spLocks noGrp="1"/>
          </p:cNvSpPr>
          <p:nvPr>
            <p:ph type="sldNum" idx="17"/>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267" name=""/>
          <p:cNvSpPr/>
          <p:nvPr/>
        </p:nvSpPr>
        <p:spPr>
          <a:xfrm>
            <a:off x="0" y="0"/>
            <a:ext cx="132840" cy="685764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8"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04 / 35</a:t>
            </a:r>
            <a:endParaRPr lang="en-US" sz="1200" b="0" u="none" strike="noStrike">
              <a:solidFill>
                <a:srgbClr val="000000"/>
              </a:solidFill>
              <a:effectLst/>
              <a:uFillTx/>
              <a:latin typeface="Arial"/>
            </a:endParaRPr>
          </a:p>
        </p:txBody>
      </p:sp>
      <p:sp>
        <p:nvSpPr>
          <p:cNvPr id="269"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PUBLIC CAMPAIGN  ·  UNITED STATES</a:t>
            </a:r>
            <a:endParaRPr lang="en-US" sz="1200" b="0" u="none" strike="noStrike">
              <a:solidFill>
                <a:srgbClr val="000000"/>
              </a:solidFill>
              <a:effectLst/>
              <a:uFillTx/>
              <a:latin typeface="Arial"/>
            </a:endParaRPr>
          </a:p>
        </p:txBody>
      </p:sp>
      <p:sp>
        <p:nvSpPr>
          <p:cNvPr id="270"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1971</a:t>
            </a:r>
            <a:endParaRPr lang="en-US" sz="1350" b="0" u="none" strike="noStrike">
              <a:solidFill>
                <a:srgbClr val="000000"/>
              </a:solidFill>
              <a:effectLst/>
              <a:uFillTx/>
              <a:latin typeface="Arial"/>
            </a:endParaRPr>
          </a:p>
        </p:txBody>
      </p:sp>
      <p:sp>
        <p:nvSpPr>
          <p:cNvPr id="271"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080" b="1" u="none" strike="noStrike">
                <a:solidFill>
                  <a:srgbClr val="17232B"/>
                </a:solidFill>
                <a:effectLst/>
                <a:uFillTx/>
                <a:latin typeface="Calibri"/>
                <a:ea typeface="Calibri"/>
              </a:rPr>
              <a:t>“Crying Indian” anti-litter campaign</a:t>
            </a:r>
            <a:endParaRPr lang="en-US" sz="3080" b="0" u="none" strike="noStrike">
              <a:solidFill>
                <a:srgbClr val="000000"/>
              </a:solidFill>
              <a:effectLst/>
              <a:uFillTx/>
              <a:latin typeface="Arial"/>
            </a:endParaRPr>
          </a:p>
        </p:txBody>
      </p:sp>
      <p:sp>
        <p:nvSpPr>
          <p:cNvPr id="272" name=""/>
          <p:cNvSpPr/>
          <p:nvPr/>
        </p:nvSpPr>
        <p:spPr>
          <a:xfrm>
            <a:off x="666720" y="1609560"/>
            <a:ext cx="5181120" cy="18720"/>
          </a:xfrm>
          <a:prstGeom prst="rect">
            <a:avLst/>
          </a:prstGeom>
          <a:solidFill>
            <a:srgbClr val="235C77"/>
          </a:solidFill>
          <a:ln w="0">
            <a:solidFill>
              <a:srgbClr val="235C77"/>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273"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274"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275"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Protesters blamed industry for throwaway packaging</a:t>
            </a:r>
            <a:endParaRPr lang="en-US" sz="1350" b="0" u="none" strike="noStrike">
              <a:solidFill>
                <a:srgbClr val="000000"/>
              </a:solidFill>
              <a:effectLst/>
              <a:uFillTx/>
              <a:latin typeface="Arial"/>
            </a:endParaRPr>
          </a:p>
        </p:txBody>
      </p:sp>
      <p:sp>
        <p:nvSpPr>
          <p:cNvPr id="276"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277"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Individuals were urged to feel personally responsible</a:t>
            </a:r>
            <a:endParaRPr lang="en-US" sz="1350" b="0" u="none" strike="noStrike">
              <a:solidFill>
                <a:srgbClr val="000000"/>
              </a:solidFill>
              <a:effectLst/>
              <a:uFillTx/>
              <a:latin typeface="Arial"/>
            </a:endParaRPr>
          </a:p>
        </p:txBody>
      </p:sp>
      <p:sp>
        <p:nvSpPr>
          <p:cNvPr id="278"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79"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280"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01</a:t>
            </a:r>
            <a:endParaRPr lang="en-US" sz="1200" b="0" u="none" strike="noStrike">
              <a:solidFill>
                <a:srgbClr val="000000"/>
              </a:solidFill>
              <a:effectLst/>
              <a:uFillTx/>
              <a:latin typeface="Arial"/>
            </a:endParaRPr>
          </a:p>
        </p:txBody>
      </p:sp>
      <p:sp>
        <p:nvSpPr>
          <p:cNvPr id="281"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Keep America Beautiful built an emotional TV spot around a single visual story.</a:t>
            </a:r>
            <a:endParaRPr lang="en-US" sz="1500" b="0" u="none" strike="noStrike">
              <a:solidFill>
                <a:srgbClr val="000000"/>
              </a:solidFill>
              <a:effectLst/>
              <a:uFillTx/>
              <a:latin typeface="Arial"/>
            </a:endParaRPr>
          </a:p>
        </p:txBody>
      </p:sp>
      <p:sp>
        <p:nvSpPr>
          <p:cNvPr id="282"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83"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02</a:t>
            </a:r>
            <a:endParaRPr lang="en-US" sz="1200" b="0" u="none" strike="noStrike">
              <a:solidFill>
                <a:srgbClr val="000000"/>
              </a:solidFill>
              <a:effectLst/>
              <a:uFillTx/>
              <a:latin typeface="Arial"/>
            </a:endParaRPr>
          </a:p>
        </p:txBody>
      </p:sp>
      <p:sp>
        <p:nvSpPr>
          <p:cNvPr id="284"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closing tear and “People start pollution. People can stop it” put the blame on individuals.</a:t>
            </a:r>
            <a:endParaRPr lang="en-US" sz="1500" b="0" u="none" strike="noStrike">
              <a:solidFill>
                <a:srgbClr val="000000"/>
              </a:solidFill>
              <a:effectLst/>
              <a:uFillTx/>
              <a:latin typeface="Arial"/>
            </a:endParaRPr>
          </a:p>
        </p:txBody>
      </p:sp>
      <p:sp>
        <p:nvSpPr>
          <p:cNvPr id="285"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86"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03</a:t>
            </a:r>
            <a:endParaRPr lang="en-US" sz="1200" b="0" u="none" strike="noStrike">
              <a:solidFill>
                <a:srgbClr val="000000"/>
              </a:solidFill>
              <a:effectLst/>
              <a:uFillTx/>
              <a:latin typeface="Arial"/>
            </a:endParaRPr>
          </a:p>
        </p:txBody>
      </p:sp>
      <p:sp>
        <p:nvSpPr>
          <p:cNvPr id="287"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It ended with a mail-in offer for “71 things you can do”; stations aired it until prints wore out.</a:t>
            </a:r>
            <a:endParaRPr lang="en-US" sz="1500" b="0" u="none" strike="noStrike">
              <a:solidFill>
                <a:srgbClr val="000000"/>
              </a:solidFill>
              <a:effectLst/>
              <a:uFillTx/>
              <a:latin typeface="Arial"/>
            </a:endParaRPr>
          </a:p>
        </p:txBody>
      </p:sp>
      <p:sp>
        <p:nvSpPr>
          <p:cNvPr id="288"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9"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90" name=""/>
          <p:cNvPicPr/>
          <p:nvPr/>
        </p:nvPicPr>
        <p:blipFill>
          <a:blip r:embed="rId1"/>
          <a:stretch/>
        </p:blipFill>
        <p:spPr>
          <a:xfrm>
            <a:off x="6813720" y="1752480"/>
            <a:ext cx="4051080" cy="3038040"/>
          </a:xfrm>
          <a:prstGeom prst="rect">
            <a:avLst/>
          </a:prstGeom>
          <a:noFill/>
          <a:ln w="0">
            <a:noFill/>
          </a:ln>
        </p:spPr>
      </p:pic>
      <p:sp>
        <p:nvSpPr>
          <p:cNvPr id="291"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“Crying Indian” TV spot, 1971 — Keep America Beautiful</a:t>
            </a:r>
            <a:endParaRPr lang="en-US" sz="1130" b="0" u="none" strike="noStrike">
              <a:solidFill>
                <a:srgbClr val="000000"/>
              </a:solidFill>
              <a:effectLst/>
              <a:uFillTx/>
              <a:latin typeface="Arial"/>
            </a:endParaRPr>
          </a:p>
        </p:txBody>
      </p:sp>
      <p:sp>
        <p:nvSpPr>
          <p:cNvPr id="292"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3"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294"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The ad became famous. Its sponsors later credited it with an 88% litter drop, citing no study.</a:t>
            </a:r>
            <a:endParaRPr lang="en-US" sz="1280" b="0" u="none" strike="noStrike">
              <a:solidFill>
                <a:srgbClr val="000000"/>
              </a:solidFill>
              <a:effectLst/>
              <a:uFillTx/>
              <a:latin typeface="Arial"/>
            </a:endParaRPr>
          </a:p>
        </p:txBody>
      </p:sp>
      <p:sp>
        <p:nvSpPr>
          <p:cNvPr id="295"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6"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297"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Campaign history; no clear behavior test.</a:t>
            </a:r>
            <a:endParaRPr lang="en-US" sz="1200" b="0" u="none" strike="noStrike">
              <a:solidFill>
                <a:srgbClr val="000000"/>
              </a:solidFill>
              <a:effectLst/>
              <a:uFillTx/>
              <a:latin typeface="Arial"/>
            </a:endParaRPr>
          </a:p>
        </p:txBody>
      </p:sp>
      <p:sp>
        <p:nvSpPr>
          <p:cNvPr id="298"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99"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adcouncil.org  ·  youtube.com  ·  zocalopublicsquare.org</a:t>
            </a:r>
            <a:endParaRPr lang="en-US" sz="900" b="0" u="none" strike="noStrike">
              <a:solidFill>
                <a:srgbClr val="000000"/>
              </a:solidFill>
              <a:effectLst/>
              <a:uFillTx/>
              <a:latin typeface="Arial"/>
            </a:endParaRPr>
          </a:p>
        </p:txBody>
      </p:sp>
      <p:sp>
        <p:nvSpPr>
          <p:cNvPr id="300"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11</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301" name="PlaceHolder 1"/>
          <p:cNvSpPr>
            <a:spLocks noGrp="1"/>
          </p:cNvSpPr>
          <p:nvPr>
            <p:ph type="sldNum" idx="18"/>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302"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3"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05 / 35</a:t>
            </a:r>
            <a:endParaRPr lang="en-US" sz="1200" b="0" u="none" strike="noStrike">
              <a:solidFill>
                <a:srgbClr val="000000"/>
              </a:solidFill>
              <a:effectLst/>
              <a:uFillTx/>
              <a:latin typeface="Arial"/>
            </a:endParaRPr>
          </a:p>
        </p:txBody>
      </p:sp>
      <p:sp>
        <p:nvSpPr>
          <p:cNvPr id="304"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MEXICO</a:t>
            </a:r>
            <a:endParaRPr lang="en-US" sz="1200" b="0" u="none" strike="noStrike">
              <a:solidFill>
                <a:srgbClr val="000000"/>
              </a:solidFill>
              <a:effectLst/>
              <a:uFillTx/>
              <a:latin typeface="Arial"/>
            </a:endParaRPr>
          </a:p>
        </p:txBody>
      </p:sp>
      <p:sp>
        <p:nvSpPr>
          <p:cNvPr id="305"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1975</a:t>
            </a:r>
            <a:endParaRPr lang="en-US" sz="1350" b="0" u="none" strike="noStrike">
              <a:solidFill>
                <a:srgbClr val="000000"/>
              </a:solidFill>
              <a:effectLst/>
              <a:uFillTx/>
              <a:latin typeface="Arial"/>
            </a:endParaRPr>
          </a:p>
        </p:txBody>
      </p:sp>
      <p:sp>
        <p:nvSpPr>
          <p:cNvPr id="306"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Ven conmigo</a:t>
            </a:r>
            <a:endParaRPr lang="en-US" sz="3600" b="0" u="none" strike="noStrike">
              <a:solidFill>
                <a:srgbClr val="000000"/>
              </a:solidFill>
              <a:effectLst/>
              <a:uFillTx/>
              <a:latin typeface="Arial"/>
            </a:endParaRPr>
          </a:p>
        </p:txBody>
      </p:sp>
      <p:sp>
        <p:nvSpPr>
          <p:cNvPr id="307"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308"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309"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310"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Adult classes could feel out of reach</a:t>
            </a:r>
            <a:endParaRPr lang="en-US" sz="1350" b="0" u="none" strike="noStrike">
              <a:solidFill>
                <a:srgbClr val="000000"/>
              </a:solidFill>
              <a:effectLst/>
              <a:uFillTx/>
              <a:latin typeface="Arial"/>
            </a:endParaRPr>
          </a:p>
        </p:txBody>
      </p:sp>
      <p:sp>
        <p:nvSpPr>
          <p:cNvPr id="311"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312"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Enrolling to learn to read could feel possible</a:t>
            </a:r>
            <a:endParaRPr lang="en-US" sz="1350" b="0" u="none" strike="noStrike">
              <a:solidFill>
                <a:srgbClr val="000000"/>
              </a:solidFill>
              <a:effectLst/>
              <a:uFillTx/>
              <a:latin typeface="Arial"/>
            </a:endParaRPr>
          </a:p>
        </p:txBody>
      </p:sp>
      <p:sp>
        <p:nvSpPr>
          <p:cNvPr id="313"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14"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315"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316"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television drama followed characters confronting adult illiteracy.</a:t>
            </a:r>
            <a:endParaRPr lang="en-US" sz="1500" b="0" u="none" strike="noStrike">
              <a:solidFill>
                <a:srgbClr val="000000"/>
              </a:solidFill>
              <a:effectLst/>
              <a:uFillTx/>
              <a:latin typeface="Arial"/>
            </a:endParaRPr>
          </a:p>
        </p:txBody>
      </p:sp>
      <p:sp>
        <p:nvSpPr>
          <p:cNvPr id="317"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18"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319"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Scenes presented study and enrollment as choices ordinary adults could make.</a:t>
            </a:r>
            <a:endParaRPr lang="en-US" sz="1500" b="0" u="none" strike="noStrike">
              <a:solidFill>
                <a:srgbClr val="000000"/>
              </a:solidFill>
              <a:effectLst/>
              <a:uFillTx/>
              <a:latin typeface="Arial"/>
            </a:endParaRPr>
          </a:p>
        </p:txBody>
      </p:sp>
      <p:sp>
        <p:nvSpPr>
          <p:cNvPr id="320"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21"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322"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Episodes told viewers where to sign up for government literacy classes and how to get a booklet.</a:t>
            </a:r>
            <a:endParaRPr lang="en-US" sz="1500" b="0" u="none" strike="noStrike">
              <a:solidFill>
                <a:srgbClr val="000000"/>
              </a:solidFill>
              <a:effectLst/>
              <a:uFillTx/>
              <a:latin typeface="Arial"/>
            </a:endParaRPr>
          </a:p>
        </p:txBody>
      </p:sp>
      <p:sp>
        <p:nvSpPr>
          <p:cNvPr id="323"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4"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5"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6"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327"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About 840,000 people enrolled in adult education during its broadcast year, far more than the year before.</a:t>
            </a:r>
            <a:endParaRPr lang="en-US" sz="1280" b="0" u="none" strike="noStrike">
              <a:solidFill>
                <a:srgbClr val="000000"/>
              </a:solidFill>
              <a:effectLst/>
              <a:uFillTx/>
              <a:latin typeface="Arial"/>
            </a:endParaRPr>
          </a:p>
        </p:txBody>
      </p:sp>
      <p:sp>
        <p:nvSpPr>
          <p:cNvPr id="328"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9"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330"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Enrollment records before and after; other causes possible.</a:t>
            </a:r>
            <a:endParaRPr lang="en-US" sz="1200" b="0" u="none" strike="noStrike">
              <a:solidFill>
                <a:srgbClr val="000000"/>
              </a:solidFill>
              <a:effectLst/>
              <a:uFillTx/>
              <a:latin typeface="Arial"/>
            </a:endParaRPr>
          </a:p>
        </p:txBody>
      </p:sp>
      <p:sp>
        <p:nvSpPr>
          <p:cNvPr id="331"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32"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files.eric.ed.gov  ·  unfpa.org</a:t>
            </a:r>
            <a:endParaRPr lang="en-US" sz="900" b="0" u="none" strike="noStrike">
              <a:solidFill>
                <a:srgbClr val="000000"/>
              </a:solidFill>
              <a:effectLst/>
              <a:uFillTx/>
              <a:latin typeface="Arial"/>
            </a:endParaRPr>
          </a:p>
        </p:txBody>
      </p:sp>
      <p:sp>
        <p:nvSpPr>
          <p:cNvPr id="333"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12</a:t>
            </a:r>
            <a:endParaRPr lang="en-US" sz="980" b="0" u="none" strike="noStrike">
              <a:solidFill>
                <a:srgbClr val="000000"/>
              </a:solidFill>
              <a:effectLst/>
              <a:uFillTx/>
              <a:latin typeface="Arial"/>
            </a:endParaRPr>
          </a:p>
        </p:txBody>
      </p:sp>
      <p:pic>
        <p:nvPicPr>
          <p:cNvPr id="334" name=""/>
          <p:cNvPicPr/>
          <p:nvPr/>
        </p:nvPicPr>
        <p:blipFill>
          <a:blip r:embed="rId1"/>
          <a:stretch/>
        </p:blipFill>
        <p:spPr>
          <a:xfrm>
            <a:off x="7772400" y="1762560"/>
            <a:ext cx="2015640" cy="30380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335" name="PlaceHolder 1"/>
          <p:cNvSpPr>
            <a:spLocks noGrp="1"/>
          </p:cNvSpPr>
          <p:nvPr>
            <p:ph type="sldNum" idx="19"/>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336"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7"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06 / 35</a:t>
            </a:r>
            <a:endParaRPr lang="en-US" sz="1200" b="0" u="none" strike="noStrike">
              <a:solidFill>
                <a:srgbClr val="000000"/>
              </a:solidFill>
              <a:effectLst/>
              <a:uFillTx/>
              <a:latin typeface="Arial"/>
            </a:endParaRPr>
          </a:p>
        </p:txBody>
      </p:sp>
      <p:sp>
        <p:nvSpPr>
          <p:cNvPr id="338"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MEXICO</a:t>
            </a:r>
            <a:endParaRPr lang="en-US" sz="1200" b="0" u="none" strike="noStrike">
              <a:solidFill>
                <a:srgbClr val="000000"/>
              </a:solidFill>
              <a:effectLst/>
              <a:uFillTx/>
              <a:latin typeface="Arial"/>
            </a:endParaRPr>
          </a:p>
        </p:txBody>
      </p:sp>
      <p:sp>
        <p:nvSpPr>
          <p:cNvPr id="339"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1977</a:t>
            </a:r>
            <a:endParaRPr lang="en-US" sz="1350" b="0" u="none" strike="noStrike">
              <a:solidFill>
                <a:srgbClr val="000000"/>
              </a:solidFill>
              <a:effectLst/>
              <a:uFillTx/>
              <a:latin typeface="Arial"/>
            </a:endParaRPr>
          </a:p>
        </p:txBody>
      </p:sp>
      <p:sp>
        <p:nvSpPr>
          <p:cNvPr id="340"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Acompáñame</a:t>
            </a:r>
            <a:endParaRPr lang="en-US" sz="3600" b="0" u="none" strike="noStrike">
              <a:solidFill>
                <a:srgbClr val="000000"/>
              </a:solidFill>
              <a:effectLst/>
              <a:uFillTx/>
              <a:latin typeface="Arial"/>
            </a:endParaRPr>
          </a:p>
        </p:txBody>
      </p:sp>
      <p:sp>
        <p:nvSpPr>
          <p:cNvPr id="341"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342"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343"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344"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Family planning was hard to discuss</a:t>
            </a:r>
            <a:endParaRPr lang="en-US" sz="1350" b="0" u="none" strike="noStrike">
              <a:solidFill>
                <a:srgbClr val="000000"/>
              </a:solidFill>
              <a:effectLst/>
              <a:uFillTx/>
              <a:latin typeface="Arial"/>
            </a:endParaRPr>
          </a:p>
        </p:txBody>
      </p:sp>
      <p:sp>
        <p:nvSpPr>
          <p:cNvPr id="345"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346"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Spouses could discuss and seek it</a:t>
            </a:r>
            <a:endParaRPr lang="en-US" sz="1350" b="0" u="none" strike="noStrike">
              <a:solidFill>
                <a:srgbClr val="000000"/>
              </a:solidFill>
              <a:effectLst/>
              <a:uFillTx/>
              <a:latin typeface="Arial"/>
            </a:endParaRPr>
          </a:p>
        </p:txBody>
      </p:sp>
      <p:sp>
        <p:nvSpPr>
          <p:cNvPr id="347"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48"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349"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350"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daily drama followed three sisters; the one with ten unplanned children fell into poverty.</a:t>
            </a:r>
            <a:endParaRPr lang="en-US" sz="1500" b="0" u="none" strike="noStrike">
              <a:solidFill>
                <a:srgbClr val="000000"/>
              </a:solidFill>
              <a:effectLst/>
              <a:uFillTx/>
              <a:latin typeface="Arial"/>
            </a:endParaRPr>
          </a:p>
        </p:txBody>
      </p:sp>
      <p:sp>
        <p:nvSpPr>
          <p:cNvPr id="351"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52"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353"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Characters modeled conversations about contraception and family size.</a:t>
            </a:r>
            <a:endParaRPr lang="en-US" sz="1500" b="0" u="none" strike="noStrike">
              <a:solidFill>
                <a:srgbClr val="000000"/>
              </a:solidFill>
              <a:effectLst/>
              <a:uFillTx/>
              <a:latin typeface="Arial"/>
            </a:endParaRPr>
          </a:p>
        </p:txBody>
      </p:sp>
      <p:sp>
        <p:nvSpPr>
          <p:cNvPr id="354"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55"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356"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Episode epilogues gave advice about family-planning services; calls to the population council rose.</a:t>
            </a:r>
            <a:endParaRPr lang="en-US" sz="1500" b="0" u="none" strike="noStrike">
              <a:solidFill>
                <a:srgbClr val="000000"/>
              </a:solidFill>
              <a:effectLst/>
              <a:uFillTx/>
              <a:latin typeface="Arial"/>
            </a:endParaRPr>
          </a:p>
        </p:txBody>
      </p:sp>
      <p:sp>
        <p:nvSpPr>
          <p:cNvPr id="357"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8"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59" name=""/>
          <p:cNvPicPr/>
          <p:nvPr/>
        </p:nvPicPr>
        <p:blipFill>
          <a:blip r:embed="rId1"/>
          <a:stretch/>
        </p:blipFill>
        <p:spPr>
          <a:xfrm>
            <a:off x="6886800" y="1752480"/>
            <a:ext cx="3904560" cy="3038040"/>
          </a:xfrm>
          <a:prstGeom prst="rect">
            <a:avLst/>
          </a:prstGeom>
          <a:noFill/>
          <a:ln w="0">
            <a:noFill/>
          </a:ln>
        </p:spPr>
      </p:pic>
      <p:sp>
        <p:nvSpPr>
          <p:cNvPr id="360"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Acompáñame title card, 1977 — Televisa</a:t>
            </a:r>
            <a:endParaRPr lang="en-US" sz="1130" b="0" u="none" strike="noStrike">
              <a:solidFill>
                <a:srgbClr val="000000"/>
              </a:solidFill>
              <a:effectLst/>
              <a:uFillTx/>
              <a:latin typeface="Arial"/>
            </a:endParaRPr>
          </a:p>
        </p:txBody>
      </p:sp>
      <p:sp>
        <p:nvSpPr>
          <p:cNvPr id="361"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2"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363"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Family-planning clinic use rose during the broadcast year, but a small viewer study found no clear change in contraceptive use.</a:t>
            </a:r>
            <a:endParaRPr lang="en-US" sz="1280" b="0" u="none" strike="noStrike">
              <a:solidFill>
                <a:srgbClr val="000000"/>
              </a:solidFill>
              <a:effectLst/>
              <a:uFillTx/>
              <a:latin typeface="Arial"/>
            </a:endParaRPr>
          </a:p>
        </p:txBody>
      </p:sp>
      <p:sp>
        <p:nvSpPr>
          <p:cNvPr id="364"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5"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366"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Clinic records and a viewer survey gave mixed results.</a:t>
            </a:r>
            <a:endParaRPr lang="en-US" sz="1200" b="0" u="none" strike="noStrike">
              <a:solidFill>
                <a:srgbClr val="000000"/>
              </a:solidFill>
              <a:effectLst/>
              <a:uFillTx/>
              <a:latin typeface="Arial"/>
            </a:endParaRPr>
          </a:p>
        </p:txBody>
      </p:sp>
      <p:sp>
        <p:nvSpPr>
          <p:cNvPr id="367"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68"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files.eric.ed.gov  ·  itu.int</a:t>
            </a:r>
            <a:endParaRPr lang="en-US" sz="900" b="0" u="none" strike="noStrike">
              <a:solidFill>
                <a:srgbClr val="000000"/>
              </a:solidFill>
              <a:effectLst/>
              <a:uFillTx/>
              <a:latin typeface="Arial"/>
            </a:endParaRPr>
          </a:p>
        </p:txBody>
      </p:sp>
      <p:sp>
        <p:nvSpPr>
          <p:cNvPr id="369"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13</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370" name="PlaceHolder 1"/>
          <p:cNvSpPr>
            <a:spLocks noGrp="1"/>
          </p:cNvSpPr>
          <p:nvPr>
            <p:ph type="sldNum" idx="20"/>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371" name=""/>
          <p:cNvSpPr/>
          <p:nvPr/>
        </p:nvSpPr>
        <p:spPr>
          <a:xfrm>
            <a:off x="0" y="0"/>
            <a:ext cx="132840" cy="685764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2"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07 / 35</a:t>
            </a:r>
            <a:endParaRPr lang="en-US" sz="1200" b="0" u="none" strike="noStrike">
              <a:solidFill>
                <a:srgbClr val="000000"/>
              </a:solidFill>
              <a:effectLst/>
              <a:uFillTx/>
              <a:latin typeface="Arial"/>
            </a:endParaRPr>
          </a:p>
        </p:txBody>
      </p:sp>
      <p:sp>
        <p:nvSpPr>
          <p:cNvPr id="373"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PUBLIC CAMPAIGN  ·  UNITED STATES</a:t>
            </a:r>
            <a:endParaRPr lang="en-US" sz="1200" b="0" u="none" strike="noStrike">
              <a:solidFill>
                <a:srgbClr val="000000"/>
              </a:solidFill>
              <a:effectLst/>
              <a:uFillTx/>
              <a:latin typeface="Arial"/>
            </a:endParaRPr>
          </a:p>
        </p:txBody>
      </p:sp>
      <p:sp>
        <p:nvSpPr>
          <p:cNvPr id="374"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1983 · slogan 1990</a:t>
            </a:r>
            <a:endParaRPr lang="en-US" sz="1350" b="0" u="none" strike="noStrike">
              <a:solidFill>
                <a:srgbClr val="000000"/>
              </a:solidFill>
              <a:effectLst/>
              <a:uFillTx/>
              <a:latin typeface="Arial"/>
            </a:endParaRPr>
          </a:p>
        </p:txBody>
      </p:sp>
      <p:sp>
        <p:nvSpPr>
          <p:cNvPr id="375"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Drunk Driving Prevention</a:t>
            </a:r>
            <a:endParaRPr lang="en-US" sz="3600" b="0" u="none" strike="noStrike">
              <a:solidFill>
                <a:srgbClr val="000000"/>
              </a:solidFill>
              <a:effectLst/>
              <a:uFillTx/>
              <a:latin typeface="Arial"/>
            </a:endParaRPr>
          </a:p>
        </p:txBody>
      </p:sp>
      <p:sp>
        <p:nvSpPr>
          <p:cNvPr id="376" name=""/>
          <p:cNvSpPr/>
          <p:nvPr/>
        </p:nvSpPr>
        <p:spPr>
          <a:xfrm>
            <a:off x="666720" y="1609560"/>
            <a:ext cx="5181120" cy="18720"/>
          </a:xfrm>
          <a:prstGeom prst="rect">
            <a:avLst/>
          </a:prstGeom>
          <a:solidFill>
            <a:srgbClr val="235C77"/>
          </a:solidFill>
          <a:ln w="0">
            <a:solidFill>
              <a:srgbClr val="235C77"/>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377"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378"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379"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A friend’s drive home was their own decision</a:t>
            </a:r>
            <a:endParaRPr lang="en-US" sz="1350" b="0" u="none" strike="noStrike">
              <a:solidFill>
                <a:srgbClr val="000000"/>
              </a:solidFill>
              <a:effectLst/>
              <a:uFillTx/>
              <a:latin typeface="Arial"/>
            </a:endParaRPr>
          </a:p>
        </p:txBody>
      </p:sp>
      <p:sp>
        <p:nvSpPr>
          <p:cNvPr id="380"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381"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A friend should step in before they drive</a:t>
            </a:r>
            <a:endParaRPr lang="en-US" sz="1350" b="0" u="none" strike="noStrike">
              <a:solidFill>
                <a:srgbClr val="000000"/>
              </a:solidFill>
              <a:effectLst/>
              <a:uFillTx/>
              <a:latin typeface="Arial"/>
            </a:endParaRPr>
          </a:p>
        </p:txBody>
      </p:sp>
      <p:sp>
        <p:nvSpPr>
          <p:cNvPr id="382"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83"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384"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01</a:t>
            </a:r>
            <a:endParaRPr lang="en-US" sz="1200" b="0" u="none" strike="noStrike">
              <a:solidFill>
                <a:srgbClr val="000000"/>
              </a:solidFill>
              <a:effectLst/>
              <a:uFillTx/>
              <a:latin typeface="Arial"/>
            </a:endParaRPr>
          </a:p>
        </p:txBody>
      </p:sp>
      <p:sp>
        <p:nvSpPr>
          <p:cNvPr id="385"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campaign made intervention a test of friendship, not a lecture about alcohol.</a:t>
            </a:r>
            <a:endParaRPr lang="en-US" sz="1500" b="0" u="none" strike="noStrike">
              <a:solidFill>
                <a:srgbClr val="000000"/>
              </a:solidFill>
              <a:effectLst/>
              <a:uFillTx/>
              <a:latin typeface="Arial"/>
            </a:endParaRPr>
          </a:p>
        </p:txBody>
      </p:sp>
      <p:sp>
        <p:nvSpPr>
          <p:cNvPr id="386"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87"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02</a:t>
            </a:r>
            <a:endParaRPr lang="en-US" sz="1200" b="0" u="none" strike="noStrike">
              <a:solidFill>
                <a:srgbClr val="000000"/>
              </a:solidFill>
              <a:effectLst/>
              <a:uFillTx/>
              <a:latin typeface="Arial"/>
            </a:endParaRPr>
          </a:p>
        </p:txBody>
      </p:sp>
      <p:sp>
        <p:nvSpPr>
          <p:cNvPr id="388"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In 1990 new ads introduced “Friends Don’t Let Friends Drive Drunk,” the campaign’s best-known line.</a:t>
            </a:r>
            <a:endParaRPr lang="en-US" sz="1500" b="0" u="none" strike="noStrike">
              <a:solidFill>
                <a:srgbClr val="000000"/>
              </a:solidFill>
              <a:effectLst/>
              <a:uFillTx/>
              <a:latin typeface="Arial"/>
            </a:endParaRPr>
          </a:p>
        </p:txBody>
      </p:sp>
      <p:sp>
        <p:nvSpPr>
          <p:cNvPr id="389"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90"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03</a:t>
            </a:r>
            <a:endParaRPr lang="en-US" sz="1200" b="0" u="none" strike="noStrike">
              <a:solidFill>
                <a:srgbClr val="000000"/>
              </a:solidFill>
              <a:effectLst/>
              <a:uFillTx/>
              <a:latin typeface="Arial"/>
            </a:endParaRPr>
          </a:p>
        </p:txBody>
      </p:sp>
      <p:sp>
        <p:nvSpPr>
          <p:cNvPr id="391"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ask was concrete: step in and keep a friend who has been drinking from taking the wheel.</a:t>
            </a:r>
            <a:endParaRPr lang="en-US" sz="1500" b="0" u="none" strike="noStrike">
              <a:solidFill>
                <a:srgbClr val="000000"/>
              </a:solidFill>
              <a:effectLst/>
              <a:uFillTx/>
              <a:latin typeface="Arial"/>
            </a:endParaRPr>
          </a:p>
        </p:txBody>
      </p:sp>
      <p:sp>
        <p:nvSpPr>
          <p:cNvPr id="392"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3"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94" name=""/>
          <p:cNvPicPr/>
          <p:nvPr/>
        </p:nvPicPr>
        <p:blipFill>
          <a:blip r:embed="rId1"/>
          <a:stretch/>
        </p:blipFill>
        <p:spPr>
          <a:xfrm>
            <a:off x="6888240" y="1752480"/>
            <a:ext cx="3902040" cy="3038040"/>
          </a:xfrm>
          <a:prstGeom prst="rect">
            <a:avLst/>
          </a:prstGeom>
          <a:noFill/>
          <a:ln w="0">
            <a:noFill/>
          </a:ln>
        </p:spPr>
      </p:pic>
      <p:sp>
        <p:nvSpPr>
          <p:cNvPr id="395"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“Crashing Glasses” PSA, 1983 — Ad Council / U.S. DOT</a:t>
            </a:r>
            <a:endParaRPr lang="en-US" sz="1130" b="0" u="none" strike="noStrike">
              <a:solidFill>
                <a:srgbClr val="000000"/>
              </a:solidFill>
              <a:effectLst/>
              <a:uFillTx/>
              <a:latin typeface="Arial"/>
            </a:endParaRPr>
          </a:p>
        </p:txBody>
      </p:sp>
      <p:sp>
        <p:nvSpPr>
          <p:cNvPr id="396"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7"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398"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More than two in three Americans say they have tried to stop someone from driving after drinking.</a:t>
            </a:r>
            <a:endParaRPr lang="en-US" sz="1280" b="0" u="none" strike="noStrike">
              <a:solidFill>
                <a:srgbClr val="000000"/>
              </a:solidFill>
              <a:effectLst/>
              <a:uFillTx/>
              <a:latin typeface="Arial"/>
            </a:endParaRPr>
          </a:p>
        </p:txBody>
      </p:sp>
      <p:sp>
        <p:nvSpPr>
          <p:cNvPr id="399"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0"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401"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Ad Council-reported self-report figure; campaign’s share cannot be isolated.</a:t>
            </a:r>
            <a:endParaRPr lang="en-US" sz="1200" b="0" u="none" strike="noStrike">
              <a:solidFill>
                <a:srgbClr val="000000"/>
              </a:solidFill>
              <a:effectLst/>
              <a:uFillTx/>
              <a:latin typeface="Arial"/>
            </a:endParaRPr>
          </a:p>
        </p:txBody>
      </p:sp>
      <p:sp>
        <p:nvSpPr>
          <p:cNvPr id="402"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403"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adcouncil.org  ·  aef.com  ·  prnewswire.com</a:t>
            </a:r>
            <a:endParaRPr lang="en-US" sz="900" b="0" u="none" strike="noStrike">
              <a:solidFill>
                <a:srgbClr val="000000"/>
              </a:solidFill>
              <a:effectLst/>
              <a:uFillTx/>
              <a:latin typeface="Arial"/>
            </a:endParaRPr>
          </a:p>
        </p:txBody>
      </p:sp>
      <p:sp>
        <p:nvSpPr>
          <p:cNvPr id="404"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14</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405" name="PlaceHolder 1"/>
          <p:cNvSpPr>
            <a:spLocks noGrp="1"/>
          </p:cNvSpPr>
          <p:nvPr>
            <p:ph type="sldNum" idx="21"/>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406"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7"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08 / 35</a:t>
            </a:r>
            <a:endParaRPr lang="en-US" sz="1200" b="0" u="none" strike="noStrike">
              <a:solidFill>
                <a:srgbClr val="000000"/>
              </a:solidFill>
              <a:effectLst/>
              <a:uFillTx/>
              <a:latin typeface="Arial"/>
            </a:endParaRPr>
          </a:p>
        </p:txBody>
      </p:sp>
      <p:sp>
        <p:nvSpPr>
          <p:cNvPr id="408"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INDIA</a:t>
            </a:r>
            <a:endParaRPr lang="en-US" sz="1200" b="0" u="none" strike="noStrike">
              <a:solidFill>
                <a:srgbClr val="000000"/>
              </a:solidFill>
              <a:effectLst/>
              <a:uFillTx/>
              <a:latin typeface="Arial"/>
            </a:endParaRPr>
          </a:p>
        </p:txBody>
      </p:sp>
      <p:sp>
        <p:nvSpPr>
          <p:cNvPr id="409"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1984</a:t>
            </a:r>
            <a:endParaRPr lang="en-US" sz="1350" b="0" u="none" strike="noStrike">
              <a:solidFill>
                <a:srgbClr val="000000"/>
              </a:solidFill>
              <a:effectLst/>
              <a:uFillTx/>
              <a:latin typeface="Arial"/>
            </a:endParaRPr>
          </a:p>
        </p:txBody>
      </p:sp>
      <p:sp>
        <p:nvSpPr>
          <p:cNvPr id="410"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Hum Log</a:t>
            </a:r>
            <a:endParaRPr lang="en-US" sz="3600" b="0" u="none" strike="noStrike">
              <a:solidFill>
                <a:srgbClr val="000000"/>
              </a:solidFill>
              <a:effectLst/>
              <a:uFillTx/>
              <a:latin typeface="Arial"/>
            </a:endParaRPr>
          </a:p>
        </p:txBody>
      </p:sp>
      <p:sp>
        <p:nvSpPr>
          <p:cNvPr id="411"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412"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413"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414"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Family and gender expectations went unquestioned</a:t>
            </a:r>
            <a:endParaRPr lang="en-US" sz="1350" b="0" u="none" strike="noStrike">
              <a:solidFill>
                <a:srgbClr val="000000"/>
              </a:solidFill>
              <a:effectLst/>
              <a:uFillTx/>
              <a:latin typeface="Arial"/>
            </a:endParaRPr>
          </a:p>
        </p:txBody>
      </p:sp>
      <p:sp>
        <p:nvSpPr>
          <p:cNvPr id="415"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416"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Viewers could imagine different choices</a:t>
            </a:r>
            <a:endParaRPr lang="en-US" sz="1350" b="0" u="none" strike="noStrike">
              <a:solidFill>
                <a:srgbClr val="000000"/>
              </a:solidFill>
              <a:effectLst/>
              <a:uFillTx/>
              <a:latin typeface="Arial"/>
            </a:endParaRPr>
          </a:p>
        </p:txBody>
      </p:sp>
      <p:sp>
        <p:nvSpPr>
          <p:cNvPr id="417"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418"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419"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420"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long-running TV family supplied characters with different beliefs and choices.</a:t>
            </a:r>
            <a:endParaRPr lang="en-US" sz="1500" b="0" u="none" strike="noStrike">
              <a:solidFill>
                <a:srgbClr val="000000"/>
              </a:solidFill>
              <a:effectLst/>
              <a:uFillTx/>
              <a:latin typeface="Arial"/>
            </a:endParaRPr>
          </a:p>
        </p:txBody>
      </p:sp>
      <p:sp>
        <p:nvSpPr>
          <p:cNvPr id="421"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422"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423"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Viewers followed consequences over time, rather than hearing one stand-alone message.</a:t>
            </a:r>
            <a:endParaRPr lang="en-US" sz="1500" b="0" u="none" strike="noStrike">
              <a:solidFill>
                <a:srgbClr val="000000"/>
              </a:solidFill>
              <a:effectLst/>
              <a:uFillTx/>
              <a:latin typeface="Arial"/>
            </a:endParaRPr>
          </a:p>
        </p:txBody>
      </p:sp>
      <p:sp>
        <p:nvSpPr>
          <p:cNvPr id="424"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425"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426"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Some independent women were punished by the plot, undercutting the intended lesson.</a:t>
            </a:r>
            <a:endParaRPr lang="en-US" sz="1500" b="0" u="none" strike="noStrike">
              <a:solidFill>
                <a:srgbClr val="000000"/>
              </a:solidFill>
              <a:effectLst/>
              <a:uFillTx/>
              <a:latin typeface="Arial"/>
            </a:endParaRPr>
          </a:p>
        </p:txBody>
      </p:sp>
      <p:sp>
        <p:nvSpPr>
          <p:cNvPr id="427"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8"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29" name=""/>
          <p:cNvPicPr/>
          <p:nvPr/>
        </p:nvPicPr>
        <p:blipFill>
          <a:blip r:embed="rId1"/>
          <a:stretch/>
        </p:blipFill>
        <p:spPr>
          <a:xfrm>
            <a:off x="6669000" y="1752480"/>
            <a:ext cx="4340160" cy="3038040"/>
          </a:xfrm>
          <a:prstGeom prst="rect">
            <a:avLst/>
          </a:prstGeom>
          <a:noFill/>
          <a:ln w="0">
            <a:noFill/>
          </a:ln>
        </p:spPr>
      </p:pic>
      <p:sp>
        <p:nvSpPr>
          <p:cNvPr id="430"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Hum Log, episode 1, 1984 — Doordarshan</a:t>
            </a:r>
            <a:endParaRPr lang="en-US" sz="1130" b="0" u="none" strike="noStrike">
              <a:solidFill>
                <a:srgbClr val="000000"/>
              </a:solidFill>
              <a:effectLst/>
              <a:uFillTx/>
              <a:latin typeface="Arial"/>
            </a:endParaRPr>
          </a:p>
        </p:txBody>
      </p:sp>
      <p:sp>
        <p:nvSpPr>
          <p:cNvPr id="431"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2"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433"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Survey results were mixed: heavier viewers held more pro-equality views, but a fuller model found no sign the show shifted them.</a:t>
            </a:r>
            <a:endParaRPr lang="en-US" sz="1280" b="0" u="none" strike="noStrike">
              <a:solidFill>
                <a:srgbClr val="000000"/>
              </a:solidFill>
              <a:effectLst/>
              <a:uFillTx/>
              <a:latin typeface="Arial"/>
            </a:endParaRPr>
          </a:p>
        </p:txBody>
      </p:sp>
      <p:sp>
        <p:nvSpPr>
          <p:cNvPr id="434"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5"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436"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Survey of 1,170 people; viewing was not assigned by chance.</a:t>
            </a:r>
            <a:endParaRPr lang="en-US" sz="1200" b="0" u="none" strike="noStrike">
              <a:solidFill>
                <a:srgbClr val="000000"/>
              </a:solidFill>
              <a:effectLst/>
              <a:uFillTx/>
              <a:latin typeface="Arial"/>
            </a:endParaRPr>
          </a:p>
        </p:txBody>
      </p:sp>
      <p:sp>
        <p:nvSpPr>
          <p:cNvPr id="437"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438"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files.eric.ed.gov  ·  youtube.com  ·  pubmed.ncbi.nlm.nih.gov</a:t>
            </a:r>
            <a:endParaRPr lang="en-US" sz="900" b="0" u="none" strike="noStrike">
              <a:solidFill>
                <a:srgbClr val="000000"/>
              </a:solidFill>
              <a:effectLst/>
              <a:uFillTx/>
              <a:latin typeface="Arial"/>
            </a:endParaRPr>
          </a:p>
        </p:txBody>
      </p:sp>
      <p:sp>
        <p:nvSpPr>
          <p:cNvPr id="439"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15</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440" name="PlaceHolder 1"/>
          <p:cNvSpPr>
            <a:spLocks noGrp="1"/>
          </p:cNvSpPr>
          <p:nvPr>
            <p:ph type="sldNum" idx="22"/>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441" name=""/>
          <p:cNvSpPr/>
          <p:nvPr/>
        </p:nvSpPr>
        <p:spPr>
          <a:xfrm>
            <a:off x="0" y="0"/>
            <a:ext cx="132840" cy="685764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2"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09 / 35</a:t>
            </a:r>
            <a:endParaRPr lang="en-US" sz="1200" b="0" u="none" strike="noStrike">
              <a:solidFill>
                <a:srgbClr val="000000"/>
              </a:solidFill>
              <a:effectLst/>
              <a:uFillTx/>
              <a:latin typeface="Arial"/>
            </a:endParaRPr>
          </a:p>
        </p:txBody>
      </p:sp>
      <p:sp>
        <p:nvSpPr>
          <p:cNvPr id="443"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PUBLIC CAMPAIGN  ·  UNITED STATES</a:t>
            </a:r>
            <a:endParaRPr lang="en-US" sz="1200" b="0" u="none" strike="noStrike">
              <a:solidFill>
                <a:srgbClr val="000000"/>
              </a:solidFill>
              <a:effectLst/>
              <a:uFillTx/>
              <a:latin typeface="Arial"/>
            </a:endParaRPr>
          </a:p>
        </p:txBody>
      </p:sp>
      <p:sp>
        <p:nvSpPr>
          <p:cNvPr id="444"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1985</a:t>
            </a:r>
            <a:endParaRPr lang="en-US" sz="1350" b="0" u="none" strike="noStrike">
              <a:solidFill>
                <a:srgbClr val="000000"/>
              </a:solidFill>
              <a:effectLst/>
              <a:uFillTx/>
              <a:latin typeface="Arial"/>
            </a:endParaRPr>
          </a:p>
        </p:txBody>
      </p:sp>
      <p:sp>
        <p:nvSpPr>
          <p:cNvPr id="445"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Vince and Larry</a:t>
            </a:r>
            <a:endParaRPr lang="en-US" sz="3600" b="0" u="none" strike="noStrike">
              <a:solidFill>
                <a:srgbClr val="000000"/>
              </a:solidFill>
              <a:effectLst/>
              <a:uFillTx/>
              <a:latin typeface="Arial"/>
            </a:endParaRPr>
          </a:p>
        </p:txBody>
      </p:sp>
      <p:sp>
        <p:nvSpPr>
          <p:cNvPr id="446" name=""/>
          <p:cNvSpPr/>
          <p:nvPr/>
        </p:nvSpPr>
        <p:spPr>
          <a:xfrm>
            <a:off x="666720" y="1609560"/>
            <a:ext cx="5181120" cy="18720"/>
          </a:xfrm>
          <a:prstGeom prst="rect">
            <a:avLst/>
          </a:prstGeom>
          <a:solidFill>
            <a:srgbClr val="235C77"/>
          </a:solidFill>
          <a:ln w="0">
            <a:solidFill>
              <a:srgbClr val="235C77"/>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447"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448"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449"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Skipping a seat belt seemed routine</a:t>
            </a:r>
            <a:endParaRPr lang="en-US" sz="1350" b="0" u="none" strike="noStrike">
              <a:solidFill>
                <a:srgbClr val="000000"/>
              </a:solidFill>
              <a:effectLst/>
              <a:uFillTx/>
              <a:latin typeface="Arial"/>
            </a:endParaRPr>
          </a:p>
        </p:txBody>
      </p:sp>
      <p:sp>
        <p:nvSpPr>
          <p:cNvPr id="450"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451"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Buckling up became the obvious move</a:t>
            </a:r>
            <a:endParaRPr lang="en-US" sz="1350" b="0" u="none" strike="noStrike">
              <a:solidFill>
                <a:srgbClr val="000000"/>
              </a:solidFill>
              <a:effectLst/>
              <a:uFillTx/>
              <a:latin typeface="Arial"/>
            </a:endParaRPr>
          </a:p>
        </p:txBody>
      </p:sp>
      <p:sp>
        <p:nvSpPr>
          <p:cNvPr id="452"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453"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454"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01</a:t>
            </a:r>
            <a:endParaRPr lang="en-US" sz="1200" b="0" u="none" strike="noStrike">
              <a:solidFill>
                <a:srgbClr val="000000"/>
              </a:solidFill>
              <a:effectLst/>
              <a:uFillTx/>
              <a:latin typeface="Arial"/>
            </a:endParaRPr>
          </a:p>
        </p:txBody>
      </p:sp>
      <p:sp>
        <p:nvSpPr>
          <p:cNvPr id="455"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Two crash-test dummy characters made the safety warning funny.</a:t>
            </a:r>
            <a:endParaRPr lang="en-US" sz="1500" b="0" u="none" strike="noStrike">
              <a:solidFill>
                <a:srgbClr val="000000"/>
              </a:solidFill>
              <a:effectLst/>
              <a:uFillTx/>
              <a:latin typeface="Arial"/>
            </a:endParaRPr>
          </a:p>
        </p:txBody>
      </p:sp>
      <p:sp>
        <p:nvSpPr>
          <p:cNvPr id="456"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457"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02</a:t>
            </a:r>
            <a:endParaRPr lang="en-US" sz="1200" b="0" u="none" strike="noStrike">
              <a:solidFill>
                <a:srgbClr val="000000"/>
              </a:solidFill>
              <a:effectLst/>
              <a:uFillTx/>
              <a:latin typeface="Arial"/>
            </a:endParaRPr>
          </a:p>
        </p:txBody>
      </p:sp>
      <p:sp>
        <p:nvSpPr>
          <p:cNvPr id="458"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Short spots repeated the crash consequence and the buckle-up instruction.</a:t>
            </a:r>
            <a:endParaRPr lang="en-US" sz="1500" b="0" u="none" strike="noStrike">
              <a:solidFill>
                <a:srgbClr val="000000"/>
              </a:solidFill>
              <a:effectLst/>
              <a:uFillTx/>
              <a:latin typeface="Arial"/>
            </a:endParaRPr>
          </a:p>
        </p:txBody>
      </p:sp>
      <p:sp>
        <p:nvSpPr>
          <p:cNvPr id="459"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460"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03</a:t>
            </a:r>
            <a:endParaRPr lang="en-US" sz="1200" b="0" u="none" strike="noStrike">
              <a:solidFill>
                <a:srgbClr val="000000"/>
              </a:solidFill>
              <a:effectLst/>
              <a:uFillTx/>
              <a:latin typeface="Arial"/>
            </a:endParaRPr>
          </a:p>
        </p:txBody>
      </p:sp>
      <p:sp>
        <p:nvSpPr>
          <p:cNvPr id="461"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same characters stayed recognizable across years of ads and merchandise.</a:t>
            </a:r>
            <a:endParaRPr lang="en-US" sz="1500" b="0" u="none" strike="noStrike">
              <a:solidFill>
                <a:srgbClr val="000000"/>
              </a:solidFill>
              <a:effectLst/>
              <a:uFillTx/>
              <a:latin typeface="Arial"/>
            </a:endParaRPr>
          </a:p>
        </p:txBody>
      </p:sp>
      <p:sp>
        <p:nvSpPr>
          <p:cNvPr id="462"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3"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64" name=""/>
          <p:cNvPicPr/>
          <p:nvPr/>
        </p:nvPicPr>
        <p:blipFill>
          <a:blip r:embed="rId1"/>
          <a:stretch/>
        </p:blipFill>
        <p:spPr>
          <a:xfrm>
            <a:off x="6773760" y="1752480"/>
            <a:ext cx="4130280" cy="3038040"/>
          </a:xfrm>
          <a:prstGeom prst="rect">
            <a:avLst/>
          </a:prstGeom>
          <a:noFill/>
          <a:ln w="0">
            <a:noFill/>
          </a:ln>
        </p:spPr>
      </p:pic>
      <p:sp>
        <p:nvSpPr>
          <p:cNvPr id="465"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Vince and Larry seat-belt PSA, 1990s — NHTSA / Ad Council</a:t>
            </a:r>
            <a:endParaRPr lang="en-US" sz="1130" b="0" u="none" strike="noStrike">
              <a:solidFill>
                <a:srgbClr val="000000"/>
              </a:solidFill>
              <a:effectLst/>
              <a:uFillTx/>
              <a:latin typeface="Arial"/>
            </a:endParaRPr>
          </a:p>
        </p:txBody>
      </p:sp>
      <p:sp>
        <p:nvSpPr>
          <p:cNvPr id="466"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7"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468"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Seat-belt use rose over decades, but laws and enforcement changed too. The ads’ share is unclear.</a:t>
            </a:r>
            <a:endParaRPr lang="en-US" sz="1280" b="0" u="none" strike="noStrike">
              <a:solidFill>
                <a:srgbClr val="000000"/>
              </a:solidFill>
              <a:effectLst/>
              <a:uFillTx/>
              <a:latin typeface="Arial"/>
            </a:endParaRPr>
          </a:p>
        </p:txBody>
      </p:sp>
      <p:sp>
        <p:nvSpPr>
          <p:cNvPr id="469"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0"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471"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National trend; campaign effect not isolated.</a:t>
            </a:r>
            <a:endParaRPr lang="en-US" sz="1200" b="0" u="none" strike="noStrike">
              <a:solidFill>
                <a:srgbClr val="000000"/>
              </a:solidFill>
              <a:effectLst/>
              <a:uFillTx/>
              <a:latin typeface="Arial"/>
            </a:endParaRPr>
          </a:p>
        </p:txBody>
      </p:sp>
      <p:sp>
        <p:nvSpPr>
          <p:cNvPr id="472"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473"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adcouncil.org  ·  youtube.com  ·  nhtsa.gov</a:t>
            </a:r>
            <a:endParaRPr lang="en-US" sz="900" b="0" u="none" strike="noStrike">
              <a:solidFill>
                <a:srgbClr val="000000"/>
              </a:solidFill>
              <a:effectLst/>
              <a:uFillTx/>
              <a:latin typeface="Arial"/>
            </a:endParaRPr>
          </a:p>
        </p:txBody>
      </p:sp>
      <p:sp>
        <p:nvSpPr>
          <p:cNvPr id="474"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16</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475" name="PlaceHolder 1"/>
          <p:cNvSpPr>
            <a:spLocks noGrp="1"/>
          </p:cNvSpPr>
          <p:nvPr>
            <p:ph type="sldNum" idx="23"/>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476" name=""/>
          <p:cNvSpPr/>
          <p:nvPr/>
        </p:nvSpPr>
        <p:spPr>
          <a:xfrm>
            <a:off x="0" y="0"/>
            <a:ext cx="132840" cy="685764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77"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10 / 35</a:t>
            </a:r>
            <a:endParaRPr lang="en-US" sz="1200" b="0" u="none" strike="noStrike">
              <a:solidFill>
                <a:srgbClr val="000000"/>
              </a:solidFill>
              <a:effectLst/>
              <a:uFillTx/>
              <a:latin typeface="Arial"/>
            </a:endParaRPr>
          </a:p>
        </p:txBody>
      </p:sp>
      <p:sp>
        <p:nvSpPr>
          <p:cNvPr id="478"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PUBLIC CAMPAIGN  ·  TEXAS, UNITED STATES</a:t>
            </a:r>
            <a:endParaRPr lang="en-US" sz="1200" b="0" u="none" strike="noStrike">
              <a:solidFill>
                <a:srgbClr val="000000"/>
              </a:solidFill>
              <a:effectLst/>
              <a:uFillTx/>
              <a:latin typeface="Arial"/>
            </a:endParaRPr>
          </a:p>
        </p:txBody>
      </p:sp>
      <p:sp>
        <p:nvSpPr>
          <p:cNvPr id="479"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1986</a:t>
            </a:r>
            <a:endParaRPr lang="en-US" sz="1350" b="0" u="none" strike="noStrike">
              <a:solidFill>
                <a:srgbClr val="000000"/>
              </a:solidFill>
              <a:effectLst/>
              <a:uFillTx/>
              <a:latin typeface="Arial"/>
            </a:endParaRPr>
          </a:p>
        </p:txBody>
      </p:sp>
      <p:sp>
        <p:nvSpPr>
          <p:cNvPr id="480"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Don’t Mess with Texas</a:t>
            </a:r>
            <a:endParaRPr lang="en-US" sz="3600" b="0" u="none" strike="noStrike">
              <a:solidFill>
                <a:srgbClr val="000000"/>
              </a:solidFill>
              <a:effectLst/>
              <a:uFillTx/>
              <a:latin typeface="Arial"/>
            </a:endParaRPr>
          </a:p>
        </p:txBody>
      </p:sp>
      <p:sp>
        <p:nvSpPr>
          <p:cNvPr id="481" name=""/>
          <p:cNvSpPr/>
          <p:nvPr/>
        </p:nvSpPr>
        <p:spPr>
          <a:xfrm>
            <a:off x="666720" y="1609560"/>
            <a:ext cx="5181120" cy="18720"/>
          </a:xfrm>
          <a:prstGeom prst="rect">
            <a:avLst/>
          </a:prstGeom>
          <a:solidFill>
            <a:srgbClr val="235C77"/>
          </a:solidFill>
          <a:ln w="0">
            <a:solidFill>
              <a:srgbClr val="235C77"/>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482"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483"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484"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Roadside litter was tolerated</a:t>
            </a:r>
            <a:endParaRPr lang="en-US" sz="1350" b="0" u="none" strike="noStrike">
              <a:solidFill>
                <a:srgbClr val="000000"/>
              </a:solidFill>
              <a:effectLst/>
              <a:uFillTx/>
              <a:latin typeface="Arial"/>
            </a:endParaRPr>
          </a:p>
        </p:txBody>
      </p:sp>
      <p:sp>
        <p:nvSpPr>
          <p:cNvPr id="485"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486"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Littering offended Texas pride</a:t>
            </a:r>
            <a:endParaRPr lang="en-US" sz="1350" b="0" u="none" strike="noStrike">
              <a:solidFill>
                <a:srgbClr val="000000"/>
              </a:solidFill>
              <a:effectLst/>
              <a:uFillTx/>
              <a:latin typeface="Arial"/>
            </a:endParaRPr>
          </a:p>
        </p:txBody>
      </p:sp>
      <p:sp>
        <p:nvSpPr>
          <p:cNvPr id="487"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488"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489"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01</a:t>
            </a:r>
            <a:endParaRPr lang="en-US" sz="1200" b="0" u="none" strike="noStrike">
              <a:solidFill>
                <a:srgbClr val="000000"/>
              </a:solidFill>
              <a:effectLst/>
              <a:uFillTx/>
              <a:latin typeface="Arial"/>
            </a:endParaRPr>
          </a:p>
        </p:txBody>
      </p:sp>
      <p:sp>
        <p:nvSpPr>
          <p:cNvPr id="490"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first ad used Texas musician Stevie Ray Vaughan and a state-pride slogan.</a:t>
            </a:r>
            <a:endParaRPr lang="en-US" sz="1500" b="0" u="none" strike="noStrike">
              <a:solidFill>
                <a:srgbClr val="000000"/>
              </a:solidFill>
              <a:effectLst/>
              <a:uFillTx/>
              <a:latin typeface="Arial"/>
            </a:endParaRPr>
          </a:p>
        </p:txBody>
      </p:sp>
      <p:sp>
        <p:nvSpPr>
          <p:cNvPr id="491"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492"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02</a:t>
            </a:r>
            <a:endParaRPr lang="en-US" sz="1200" b="0" u="none" strike="noStrike">
              <a:solidFill>
                <a:srgbClr val="000000"/>
              </a:solidFill>
              <a:effectLst/>
              <a:uFillTx/>
              <a:latin typeface="Arial"/>
            </a:endParaRPr>
          </a:p>
        </p:txBody>
      </p:sp>
      <p:sp>
        <p:nvSpPr>
          <p:cNvPr id="493"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It debuted on the Cotton Bowl screen on Jan. 1, 1986, then continued as TV and radio spots.</a:t>
            </a:r>
            <a:endParaRPr lang="en-US" sz="1500" b="0" u="none" strike="noStrike">
              <a:solidFill>
                <a:srgbClr val="000000"/>
              </a:solidFill>
              <a:effectLst/>
              <a:uFillTx/>
              <a:latin typeface="Arial"/>
            </a:endParaRPr>
          </a:p>
        </p:txBody>
      </p:sp>
      <p:sp>
        <p:nvSpPr>
          <p:cNvPr id="494"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495"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03</a:t>
            </a:r>
            <a:endParaRPr lang="en-US" sz="1200" b="0" u="none" strike="noStrike">
              <a:solidFill>
                <a:srgbClr val="000000"/>
              </a:solidFill>
              <a:effectLst/>
              <a:uFillTx/>
              <a:latin typeface="Arial"/>
            </a:endParaRPr>
          </a:p>
        </p:txBody>
      </p:sp>
      <p:sp>
        <p:nvSpPr>
          <p:cNvPr id="496"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Later famous Texans and public cleanup events kept the message visible.</a:t>
            </a:r>
            <a:endParaRPr lang="en-US" sz="1500" b="0" u="none" strike="noStrike">
              <a:solidFill>
                <a:srgbClr val="000000"/>
              </a:solidFill>
              <a:effectLst/>
              <a:uFillTx/>
              <a:latin typeface="Arial"/>
            </a:endParaRPr>
          </a:p>
        </p:txBody>
      </p:sp>
      <p:sp>
        <p:nvSpPr>
          <p:cNvPr id="497"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8"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99" name=""/>
          <p:cNvPicPr/>
          <p:nvPr/>
        </p:nvPicPr>
        <p:blipFill>
          <a:blip r:embed="rId1"/>
          <a:stretch/>
        </p:blipFill>
        <p:spPr>
          <a:xfrm>
            <a:off x="6560280" y="1752480"/>
            <a:ext cx="4557240" cy="3038040"/>
          </a:xfrm>
          <a:prstGeom prst="rect">
            <a:avLst/>
          </a:prstGeom>
          <a:noFill/>
          <a:ln w="0">
            <a:noFill/>
          </a:ln>
        </p:spPr>
      </p:pic>
      <p:sp>
        <p:nvSpPr>
          <p:cNvPr id="500"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First Don’t mess with Texas spot, 1986 — TxDOT</a:t>
            </a:r>
            <a:endParaRPr lang="en-US" sz="1130" b="0" u="none" strike="noStrike">
              <a:solidFill>
                <a:srgbClr val="000000"/>
              </a:solidFill>
              <a:effectLst/>
              <a:uFillTx/>
              <a:latin typeface="Arial"/>
            </a:endParaRPr>
          </a:p>
        </p:txBody>
      </p:sp>
      <p:sp>
        <p:nvSpPr>
          <p:cNvPr id="501"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2"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503"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In a 2013 Texas survey, 98% recognized the slogan. That measures reach, not less litter.</a:t>
            </a:r>
            <a:endParaRPr lang="en-US" sz="1280" b="0" u="none" strike="noStrike">
              <a:solidFill>
                <a:srgbClr val="000000"/>
              </a:solidFill>
              <a:effectLst/>
              <a:uFillTx/>
              <a:latin typeface="Arial"/>
            </a:endParaRPr>
          </a:p>
        </p:txBody>
      </p:sp>
      <p:sp>
        <p:nvSpPr>
          <p:cNvPr id="504"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5"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506"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State survey of awareness.</a:t>
            </a:r>
            <a:endParaRPr lang="en-US" sz="1200" b="0" u="none" strike="noStrike">
              <a:solidFill>
                <a:srgbClr val="000000"/>
              </a:solidFill>
              <a:effectLst/>
              <a:uFillTx/>
              <a:latin typeface="Arial"/>
            </a:endParaRPr>
          </a:p>
        </p:txBody>
      </p:sp>
      <p:sp>
        <p:nvSpPr>
          <p:cNvPr id="507"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508"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txdot.gov  ·  youtube.com  ·  ftp.txdot.gov</a:t>
            </a:r>
            <a:endParaRPr lang="en-US" sz="900" b="0" u="none" strike="noStrike">
              <a:solidFill>
                <a:srgbClr val="000000"/>
              </a:solidFill>
              <a:effectLst/>
              <a:uFillTx/>
              <a:latin typeface="Arial"/>
            </a:endParaRPr>
          </a:p>
        </p:txBody>
      </p:sp>
      <p:sp>
        <p:nvSpPr>
          <p:cNvPr id="509"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17</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510" name="PlaceHolder 1"/>
          <p:cNvSpPr>
            <a:spLocks noGrp="1"/>
          </p:cNvSpPr>
          <p:nvPr>
            <p:ph type="sldNum" idx="24"/>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511"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12"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11 / 35</a:t>
            </a:r>
            <a:endParaRPr lang="en-US" sz="1200" b="0" u="none" strike="noStrike">
              <a:solidFill>
                <a:srgbClr val="000000"/>
              </a:solidFill>
              <a:effectLst/>
              <a:uFillTx/>
              <a:latin typeface="Arial"/>
            </a:endParaRPr>
          </a:p>
        </p:txBody>
      </p:sp>
      <p:sp>
        <p:nvSpPr>
          <p:cNvPr id="513"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UNITED STATES</a:t>
            </a:r>
            <a:endParaRPr lang="en-US" sz="1200" b="0" u="none" strike="noStrike">
              <a:solidFill>
                <a:srgbClr val="000000"/>
              </a:solidFill>
              <a:effectLst/>
              <a:uFillTx/>
              <a:latin typeface="Arial"/>
            </a:endParaRPr>
          </a:p>
        </p:txBody>
      </p:sp>
      <p:sp>
        <p:nvSpPr>
          <p:cNvPr id="514"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1988</a:t>
            </a:r>
            <a:endParaRPr lang="en-US" sz="1350" b="0" u="none" strike="noStrike">
              <a:solidFill>
                <a:srgbClr val="000000"/>
              </a:solidFill>
              <a:effectLst/>
              <a:uFillTx/>
              <a:latin typeface="Arial"/>
            </a:endParaRPr>
          </a:p>
        </p:txBody>
      </p:sp>
      <p:sp>
        <p:nvSpPr>
          <p:cNvPr id="515"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Designated Driver</a:t>
            </a:r>
            <a:endParaRPr lang="en-US" sz="3600" b="0" u="none" strike="noStrike">
              <a:solidFill>
                <a:srgbClr val="000000"/>
              </a:solidFill>
              <a:effectLst/>
              <a:uFillTx/>
              <a:latin typeface="Arial"/>
            </a:endParaRPr>
          </a:p>
        </p:txBody>
      </p:sp>
      <p:sp>
        <p:nvSpPr>
          <p:cNvPr id="516"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517"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518"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519"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A drinking group might leave driving undecided</a:t>
            </a:r>
            <a:endParaRPr lang="en-US" sz="1350" b="0" u="none" strike="noStrike">
              <a:solidFill>
                <a:srgbClr val="000000"/>
              </a:solidFill>
              <a:effectLst/>
              <a:uFillTx/>
              <a:latin typeface="Arial"/>
            </a:endParaRPr>
          </a:p>
        </p:txBody>
      </p:sp>
      <p:sp>
        <p:nvSpPr>
          <p:cNvPr id="520"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521"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The group chose a sober driver in advance</a:t>
            </a:r>
            <a:endParaRPr lang="en-US" sz="1350" b="0" u="none" strike="noStrike">
              <a:solidFill>
                <a:srgbClr val="000000"/>
              </a:solidFill>
              <a:effectLst/>
              <a:uFillTx/>
              <a:latin typeface="Arial"/>
            </a:endParaRPr>
          </a:p>
        </p:txBody>
      </p:sp>
      <p:sp>
        <p:nvSpPr>
          <p:cNvPr id="522"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523"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524"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525"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Harvard defined one small role: take turns being the person who does not drink.</a:t>
            </a:r>
            <a:endParaRPr lang="en-US" sz="1500" b="0" u="none" strike="noStrike">
              <a:solidFill>
                <a:srgbClr val="000000"/>
              </a:solidFill>
              <a:effectLst/>
              <a:uFillTx/>
              <a:latin typeface="Arial"/>
            </a:endParaRPr>
          </a:p>
        </p:txBody>
      </p:sp>
      <p:sp>
        <p:nvSpPr>
          <p:cNvPr id="526"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527"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528"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Staff met 250 Hollywood people; scenes and lines entered more than 160 prime-time programs.</a:t>
            </a:r>
            <a:endParaRPr lang="en-US" sz="1500" b="0" u="none" strike="noStrike">
              <a:solidFill>
                <a:srgbClr val="000000"/>
              </a:solidFill>
              <a:effectLst/>
              <a:uFillTx/>
              <a:latin typeface="Arial"/>
            </a:endParaRPr>
          </a:p>
        </p:txBody>
      </p:sp>
      <p:sp>
        <p:nvSpPr>
          <p:cNvPr id="529"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530"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531"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Three networks reinforced the role with ads; publicity and partners repeated it.</a:t>
            </a:r>
            <a:endParaRPr lang="en-US" sz="1500" b="0" u="none" strike="noStrike">
              <a:solidFill>
                <a:srgbClr val="000000"/>
              </a:solidFill>
              <a:effectLst/>
              <a:uFillTx/>
              <a:latin typeface="Arial"/>
            </a:endParaRPr>
          </a:p>
        </p:txBody>
      </p:sp>
      <p:sp>
        <p:nvSpPr>
          <p:cNvPr id="532"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3"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34" name=""/>
          <p:cNvPicPr/>
          <p:nvPr/>
        </p:nvPicPr>
        <p:blipFill>
          <a:blip r:embed="rId1"/>
          <a:stretch/>
        </p:blipFill>
        <p:spPr>
          <a:xfrm>
            <a:off x="7706520" y="1752480"/>
            <a:ext cx="2264760" cy="3038040"/>
          </a:xfrm>
          <a:prstGeom prst="rect">
            <a:avLst/>
          </a:prstGeom>
          <a:noFill/>
          <a:ln w="0">
            <a:noFill/>
          </a:ln>
        </p:spPr>
      </p:pic>
      <p:sp>
        <p:nvSpPr>
          <p:cNvPr id="535"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“Life of the Party” poster on the Cheers set, c. 1989 — Harvard Chan CHC</a:t>
            </a:r>
            <a:endParaRPr lang="en-US" sz="1130" b="0" u="none" strike="noStrike">
              <a:solidFill>
                <a:srgbClr val="000000"/>
              </a:solidFill>
              <a:effectLst/>
              <a:uFillTx/>
              <a:latin typeface="Arial"/>
            </a:endParaRPr>
          </a:p>
        </p:txBody>
      </p:sp>
      <p:sp>
        <p:nvSpPr>
          <p:cNvPr id="536"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7"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538"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By 1991, 37% of Americans said they had served as a designated driver (Roper poll).</a:t>
            </a:r>
            <a:endParaRPr lang="en-US" sz="1280" b="0" u="none" strike="noStrike">
              <a:solidFill>
                <a:srgbClr val="000000"/>
              </a:solidFill>
              <a:effectLst/>
              <a:uFillTx/>
              <a:latin typeface="Arial"/>
            </a:endParaRPr>
          </a:p>
        </p:txBody>
      </p:sp>
      <p:sp>
        <p:nvSpPr>
          <p:cNvPr id="539"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0"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541"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National poll; other causes of change were not ruled out.</a:t>
            </a:r>
            <a:endParaRPr lang="en-US" sz="1200" b="0" u="none" strike="noStrike">
              <a:solidFill>
                <a:srgbClr val="000000"/>
              </a:solidFill>
              <a:effectLst/>
              <a:uFillTx/>
              <a:latin typeface="Arial"/>
            </a:endParaRPr>
          </a:p>
        </p:txBody>
      </p:sp>
      <p:sp>
        <p:nvSpPr>
          <p:cNvPr id="542"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543"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hsph.harvard.edu  ·  thecrimson.com</a:t>
            </a:r>
            <a:endParaRPr lang="en-US" sz="900" b="0" u="none" strike="noStrike">
              <a:solidFill>
                <a:srgbClr val="000000"/>
              </a:solidFill>
              <a:effectLst/>
              <a:uFillTx/>
              <a:latin typeface="Arial"/>
            </a:endParaRPr>
          </a:p>
        </p:txBody>
      </p:sp>
      <p:sp>
        <p:nvSpPr>
          <p:cNvPr id="544"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18</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545" name="PlaceHolder 1"/>
          <p:cNvSpPr>
            <a:spLocks noGrp="1"/>
          </p:cNvSpPr>
          <p:nvPr>
            <p:ph type="sldNum" idx="25"/>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546"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7" name=""/>
          <p:cNvSpPr/>
          <p:nvPr/>
        </p:nvSpPr>
        <p:spPr>
          <a:xfrm>
            <a:off x="666720" y="447840"/>
            <a:ext cx="100962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CLOSER LOOK  ·  1988  ·  UNITED STATES</a:t>
            </a:r>
            <a:endParaRPr lang="en-US" sz="1200" b="0" u="none" strike="noStrike">
              <a:solidFill>
                <a:srgbClr val="000000"/>
              </a:solidFill>
              <a:effectLst/>
              <a:uFillTx/>
              <a:latin typeface="Arial"/>
            </a:endParaRPr>
          </a:p>
        </p:txBody>
      </p:sp>
      <p:sp>
        <p:nvSpPr>
          <p:cNvPr id="548" name=""/>
          <p:cNvSpPr/>
          <p:nvPr/>
        </p:nvSpPr>
        <p:spPr>
          <a:xfrm>
            <a:off x="666720" y="91440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820" b="1" u="none" strike="noStrike">
                <a:solidFill>
                  <a:srgbClr val="17232B"/>
                </a:solidFill>
                <a:effectLst/>
                <a:uFillTx/>
                <a:latin typeface="Calibri"/>
                <a:ea typeface="Calibri"/>
              </a:rPr>
              <a:t>Designated Driver</a:t>
            </a:r>
            <a:endParaRPr lang="en-US" sz="3820" b="0" u="none" strike="noStrike">
              <a:solidFill>
                <a:srgbClr val="000000"/>
              </a:solidFill>
              <a:effectLst/>
              <a:uFillTx/>
              <a:latin typeface="Arial"/>
            </a:endParaRPr>
          </a:p>
        </p:txBody>
      </p:sp>
      <p:sp>
        <p:nvSpPr>
          <p:cNvPr id="549" name=""/>
          <p:cNvSpPr/>
          <p:nvPr/>
        </p:nvSpPr>
        <p:spPr>
          <a:xfrm>
            <a:off x="5905440" y="1685880"/>
            <a:ext cx="528588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THE OPERATING CHAIN</a:t>
            </a:r>
            <a:endParaRPr lang="en-US" sz="1350" b="0" u="none" strike="noStrike">
              <a:solidFill>
                <a:srgbClr val="000000"/>
              </a:solidFill>
              <a:effectLst/>
              <a:uFillTx/>
              <a:latin typeface="Arial"/>
            </a:endParaRPr>
          </a:p>
        </p:txBody>
      </p:sp>
      <p:sp>
        <p:nvSpPr>
          <p:cNvPr id="550" name=""/>
          <p:cNvSpPr/>
          <p:nvPr/>
        </p:nvSpPr>
        <p:spPr>
          <a:xfrm>
            <a:off x="5905440" y="19810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1" name=""/>
          <p:cNvSpPr/>
          <p:nvPr/>
        </p:nvSpPr>
        <p:spPr>
          <a:xfrm>
            <a:off x="6067440" y="20667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B75D3C"/>
                </a:solidFill>
                <a:effectLst/>
                <a:uFillTx/>
                <a:latin typeface="Calibri"/>
                <a:ea typeface="Calibri"/>
              </a:rPr>
              <a:t>BEHAVIOR</a:t>
            </a:r>
            <a:endParaRPr lang="en-US" sz="1050" b="0" u="none" strike="noStrike">
              <a:solidFill>
                <a:srgbClr val="000000"/>
              </a:solidFill>
              <a:effectLst/>
              <a:uFillTx/>
              <a:latin typeface="Arial"/>
            </a:endParaRPr>
          </a:p>
        </p:txBody>
      </p:sp>
      <p:sp>
        <p:nvSpPr>
          <p:cNvPr id="552" name=""/>
          <p:cNvSpPr/>
          <p:nvPr/>
        </p:nvSpPr>
        <p:spPr>
          <a:xfrm>
            <a:off x="6067440" y="22766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Choose one non-drinker before the group goes out; rotate the role on later nights.</a:t>
            </a:r>
            <a:endParaRPr lang="en-US" sz="1430" b="0" u="none" strike="noStrike">
              <a:solidFill>
                <a:srgbClr val="000000"/>
              </a:solidFill>
              <a:effectLst/>
              <a:uFillTx/>
              <a:latin typeface="Arial"/>
            </a:endParaRPr>
          </a:p>
        </p:txBody>
      </p:sp>
      <p:sp>
        <p:nvSpPr>
          <p:cNvPr id="553" name=""/>
          <p:cNvSpPr/>
          <p:nvPr/>
        </p:nvSpPr>
        <p:spPr>
          <a:xfrm>
            <a:off x="5905440" y="281952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4" name=""/>
          <p:cNvSpPr/>
          <p:nvPr/>
        </p:nvSpPr>
        <p:spPr>
          <a:xfrm>
            <a:off x="6067440" y="290520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B75D3C"/>
                </a:solidFill>
                <a:effectLst/>
                <a:uFillTx/>
                <a:latin typeface="Calibri"/>
                <a:ea typeface="Calibri"/>
              </a:rPr>
              <a:t>ACCESS</a:t>
            </a:r>
            <a:endParaRPr lang="en-US" sz="1050" b="0" u="none" strike="noStrike">
              <a:solidFill>
                <a:srgbClr val="000000"/>
              </a:solidFill>
              <a:effectLst/>
              <a:uFillTx/>
              <a:latin typeface="Arial"/>
            </a:endParaRPr>
          </a:p>
        </p:txBody>
      </p:sp>
      <p:sp>
        <p:nvSpPr>
          <p:cNvPr id="555" name=""/>
          <p:cNvSpPr/>
          <p:nvPr/>
        </p:nvSpPr>
        <p:spPr>
          <a:xfrm>
            <a:off x="6067440" y="311472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Harvard spent 25 workweeks meeting 250 Hollywood people; Grant Tinker helped open doors.</a:t>
            </a:r>
            <a:endParaRPr lang="en-US" sz="1430" b="0" u="none" strike="noStrike">
              <a:solidFill>
                <a:srgbClr val="000000"/>
              </a:solidFill>
              <a:effectLst/>
              <a:uFillTx/>
              <a:latin typeface="Arial"/>
            </a:endParaRPr>
          </a:p>
        </p:txBody>
      </p:sp>
      <p:sp>
        <p:nvSpPr>
          <p:cNvPr id="556" name=""/>
          <p:cNvSpPr/>
          <p:nvPr/>
        </p:nvSpPr>
        <p:spPr>
          <a:xfrm>
            <a:off x="5905440" y="365760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7" name=""/>
          <p:cNvSpPr/>
          <p:nvPr/>
        </p:nvSpPr>
        <p:spPr>
          <a:xfrm>
            <a:off x="6067440" y="374328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B75D3C"/>
                </a:solidFill>
                <a:effectLst/>
                <a:uFillTx/>
                <a:latin typeface="Calibri"/>
                <a:ea typeface="Calibri"/>
              </a:rPr>
              <a:t>REPETITION</a:t>
            </a:r>
            <a:endParaRPr lang="en-US" sz="1050" b="0" u="none" strike="noStrike">
              <a:solidFill>
                <a:srgbClr val="000000"/>
              </a:solidFill>
              <a:effectLst/>
              <a:uFillTx/>
              <a:latin typeface="Arial"/>
            </a:endParaRPr>
          </a:p>
        </p:txBody>
      </p:sp>
      <p:sp>
        <p:nvSpPr>
          <p:cNvPr id="558" name=""/>
          <p:cNvSpPr/>
          <p:nvPr/>
        </p:nvSpPr>
        <p:spPr>
          <a:xfrm>
            <a:off x="6067440" y="395280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More than 160 prime-time programs addressed drunk driving over four years; ABC, CBS, and NBC aired ads.</a:t>
            </a:r>
            <a:endParaRPr lang="en-US" sz="1430" b="0" u="none" strike="noStrike">
              <a:solidFill>
                <a:srgbClr val="000000"/>
              </a:solidFill>
              <a:effectLst/>
              <a:uFillTx/>
              <a:latin typeface="Arial"/>
            </a:endParaRPr>
          </a:p>
        </p:txBody>
      </p:sp>
      <p:sp>
        <p:nvSpPr>
          <p:cNvPr id="559" name=""/>
          <p:cNvSpPr/>
          <p:nvPr/>
        </p:nvSpPr>
        <p:spPr>
          <a:xfrm>
            <a:off x="5905440" y="44956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0" name=""/>
          <p:cNvSpPr/>
          <p:nvPr/>
        </p:nvSpPr>
        <p:spPr>
          <a:xfrm>
            <a:off x="6067440" y="45813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B75D3C"/>
                </a:solidFill>
                <a:effectLst/>
                <a:uFillTx/>
                <a:latin typeface="Calibri"/>
                <a:ea typeface="Calibri"/>
              </a:rPr>
              <a:t>REINFORCEMENT</a:t>
            </a:r>
            <a:endParaRPr lang="en-US" sz="1050" b="0" u="none" strike="noStrike">
              <a:solidFill>
                <a:srgbClr val="000000"/>
              </a:solidFill>
              <a:effectLst/>
              <a:uFillTx/>
              <a:latin typeface="Arial"/>
            </a:endParaRPr>
          </a:p>
        </p:txBody>
      </p:sp>
      <p:sp>
        <p:nvSpPr>
          <p:cNvPr id="561" name=""/>
          <p:cNvSpPr/>
          <p:nvPr/>
        </p:nvSpPr>
        <p:spPr>
          <a:xfrm>
            <a:off x="6067440" y="47912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News coverage, sports leagues, NHTSA, MADD, and local police repeated the same idea.</a:t>
            </a:r>
            <a:endParaRPr lang="en-US" sz="1430" b="0" u="none" strike="noStrike">
              <a:solidFill>
                <a:srgbClr val="000000"/>
              </a:solidFill>
              <a:effectLst/>
              <a:uFillTx/>
              <a:latin typeface="Arial"/>
            </a:endParaRPr>
          </a:p>
        </p:txBody>
      </p:sp>
      <p:sp>
        <p:nvSpPr>
          <p:cNvPr id="562" name=""/>
          <p:cNvSpPr/>
          <p:nvPr/>
        </p:nvSpPr>
        <p:spPr>
          <a:xfrm>
            <a:off x="666720" y="1666800"/>
            <a:ext cx="4952520" cy="3676320"/>
          </a:xfrm>
          <a:prstGeom prst="roundRect">
            <a:avLst>
              <a:gd name="adj" fmla="val 2073"/>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3" name=""/>
          <p:cNvSpPr/>
          <p:nvPr/>
        </p:nvSpPr>
        <p:spPr>
          <a:xfrm>
            <a:off x="819000" y="1819440"/>
            <a:ext cx="4647960" cy="2904840"/>
          </a:xfrm>
          <a:prstGeom prst="roundRect">
            <a:avLst>
              <a:gd name="adj" fmla="val 2623"/>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64" name=""/>
          <p:cNvPicPr/>
          <p:nvPr/>
        </p:nvPicPr>
        <p:blipFill>
          <a:blip r:embed="rId1"/>
          <a:stretch/>
        </p:blipFill>
        <p:spPr>
          <a:xfrm>
            <a:off x="1308240" y="1895400"/>
            <a:ext cx="3669840" cy="2752200"/>
          </a:xfrm>
          <a:prstGeom prst="rect">
            <a:avLst/>
          </a:prstGeom>
          <a:noFill/>
          <a:ln w="0">
            <a:noFill/>
          </a:ln>
        </p:spPr>
      </p:pic>
      <p:sp>
        <p:nvSpPr>
          <p:cNvPr id="565" name=""/>
          <p:cNvSpPr/>
          <p:nvPr/>
        </p:nvSpPr>
        <p:spPr>
          <a:xfrm>
            <a:off x="847800" y="4829040"/>
            <a:ext cx="460980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“Choose a Designated Driver” CBS PSA, 1989 — CBS (VHS archive)</a:t>
            </a:r>
            <a:endParaRPr lang="en-US" sz="1130" b="0" u="none" strike="noStrike">
              <a:solidFill>
                <a:srgbClr val="000000"/>
              </a:solidFill>
              <a:effectLst/>
              <a:uFillTx/>
              <a:latin typeface="Arial"/>
            </a:endParaRPr>
          </a:p>
        </p:txBody>
      </p:sp>
      <p:sp>
        <p:nvSpPr>
          <p:cNvPr id="566" name=""/>
          <p:cNvSpPr/>
          <p:nvPr/>
        </p:nvSpPr>
        <p:spPr>
          <a:xfrm>
            <a:off x="666720" y="5495760"/>
            <a:ext cx="10858320" cy="847440"/>
          </a:xfrm>
          <a:prstGeom prst="roundRect">
            <a:avLst>
              <a:gd name="adj" fmla="val 8989"/>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7" name=""/>
          <p:cNvSpPr/>
          <p:nvPr/>
        </p:nvSpPr>
        <p:spPr>
          <a:xfrm>
            <a:off x="838080" y="5610240"/>
            <a:ext cx="2571480" cy="2091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DESIGN LESSON</a:t>
            </a:r>
            <a:endParaRPr lang="en-US" sz="1130" b="0" u="none" strike="noStrike">
              <a:solidFill>
                <a:srgbClr val="000000"/>
              </a:solidFill>
              <a:effectLst/>
              <a:uFillTx/>
              <a:latin typeface="Arial"/>
            </a:endParaRPr>
          </a:p>
        </p:txBody>
      </p:sp>
      <p:sp>
        <p:nvSpPr>
          <p:cNvPr id="568" name=""/>
          <p:cNvSpPr/>
          <p:nvPr/>
        </p:nvSpPr>
        <p:spPr>
          <a:xfrm>
            <a:off x="838080" y="5867280"/>
            <a:ext cx="1028664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tiny, repeatable role can spread through existing stories when creators can include it in one line.</a:t>
            </a:r>
            <a:endParaRPr lang="en-US" sz="1500" b="0" u="none" strike="noStrike">
              <a:solidFill>
                <a:srgbClr val="000000"/>
              </a:solidFill>
              <a:effectLst/>
              <a:uFillTx/>
              <a:latin typeface="Arial"/>
            </a:endParaRPr>
          </a:p>
        </p:txBody>
      </p:sp>
      <p:sp>
        <p:nvSpPr>
          <p:cNvPr id="569"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570"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hsph.harvard.edu  ·  thecrimson.com</a:t>
            </a:r>
            <a:endParaRPr lang="en-US" sz="900" b="0" u="none" strike="noStrike">
              <a:solidFill>
                <a:srgbClr val="000000"/>
              </a:solidFill>
              <a:effectLst/>
              <a:uFillTx/>
              <a:latin typeface="Arial"/>
            </a:endParaRPr>
          </a:p>
        </p:txBody>
      </p:sp>
      <p:sp>
        <p:nvSpPr>
          <p:cNvPr id="571"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19</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572" name="PlaceHolder 1"/>
          <p:cNvSpPr>
            <a:spLocks noGrp="1"/>
          </p:cNvSpPr>
          <p:nvPr>
            <p:ph type="sldNum" idx="26"/>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573"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74"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12 / 35</a:t>
            </a:r>
            <a:endParaRPr lang="en-US" sz="1200" b="0" u="none" strike="noStrike">
              <a:solidFill>
                <a:srgbClr val="000000"/>
              </a:solidFill>
              <a:effectLst/>
              <a:uFillTx/>
              <a:latin typeface="Arial"/>
            </a:endParaRPr>
          </a:p>
        </p:txBody>
      </p:sp>
      <p:sp>
        <p:nvSpPr>
          <p:cNvPr id="575"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UNITED STATES</a:t>
            </a:r>
            <a:endParaRPr lang="en-US" sz="1200" b="0" u="none" strike="noStrike">
              <a:solidFill>
                <a:srgbClr val="000000"/>
              </a:solidFill>
              <a:effectLst/>
              <a:uFillTx/>
              <a:latin typeface="Arial"/>
            </a:endParaRPr>
          </a:p>
        </p:txBody>
      </p:sp>
      <p:sp>
        <p:nvSpPr>
          <p:cNvPr id="576"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1993</a:t>
            </a:r>
            <a:endParaRPr lang="en-US" sz="1350" b="0" u="none" strike="noStrike">
              <a:solidFill>
                <a:srgbClr val="000000"/>
              </a:solidFill>
              <a:effectLst/>
              <a:uFillTx/>
              <a:latin typeface="Arial"/>
            </a:endParaRPr>
          </a:p>
        </p:txBody>
      </p:sp>
      <p:sp>
        <p:nvSpPr>
          <p:cNvPr id="577"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Operation Breakthrough</a:t>
            </a:r>
            <a:endParaRPr lang="en-US" sz="3600" b="0" u="none" strike="noStrike">
              <a:solidFill>
                <a:srgbClr val="000000"/>
              </a:solidFill>
              <a:effectLst/>
              <a:uFillTx/>
              <a:latin typeface="Arial"/>
            </a:endParaRPr>
          </a:p>
        </p:txBody>
      </p:sp>
      <p:sp>
        <p:nvSpPr>
          <p:cNvPr id="578"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579"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580"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581"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Friends might avoid an eating-disorder concern</a:t>
            </a:r>
            <a:endParaRPr lang="en-US" sz="1350" b="0" u="none" strike="noStrike">
              <a:solidFill>
                <a:srgbClr val="000000"/>
              </a:solidFill>
              <a:effectLst/>
              <a:uFillTx/>
              <a:latin typeface="Arial"/>
            </a:endParaRPr>
          </a:p>
        </p:txBody>
      </p:sp>
      <p:sp>
        <p:nvSpPr>
          <p:cNvPr id="582"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583"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Friends could notice and offer help</a:t>
            </a:r>
            <a:endParaRPr lang="en-US" sz="1350" b="0" u="none" strike="noStrike">
              <a:solidFill>
                <a:srgbClr val="000000"/>
              </a:solidFill>
              <a:effectLst/>
              <a:uFillTx/>
              <a:latin typeface="Arial"/>
            </a:endParaRPr>
          </a:p>
        </p:txBody>
      </p:sp>
      <p:sp>
        <p:nvSpPr>
          <p:cNvPr id="584"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585"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586"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587"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Harvard’s health-communication center worked with the producers of popular teen shows.</a:t>
            </a:r>
            <a:endParaRPr lang="en-US" sz="1500" b="0" u="none" strike="noStrike">
              <a:solidFill>
                <a:srgbClr val="000000"/>
              </a:solidFill>
              <a:effectLst/>
              <a:uFillTx/>
              <a:latin typeface="Arial"/>
            </a:endParaRPr>
          </a:p>
        </p:txBody>
      </p:sp>
      <p:sp>
        <p:nvSpPr>
          <p:cNvPr id="588"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589"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590"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Eating-disorder plots put a friend’s response inside familiar characters’ lives.</a:t>
            </a:r>
            <a:endParaRPr lang="en-US" sz="1500" b="0" u="none" strike="noStrike">
              <a:solidFill>
                <a:srgbClr val="000000"/>
              </a:solidFill>
              <a:effectLst/>
              <a:uFillTx/>
              <a:latin typeface="Arial"/>
            </a:endParaRPr>
          </a:p>
        </p:txBody>
      </p:sp>
      <p:sp>
        <p:nvSpPr>
          <p:cNvPr id="591"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592"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593"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In Blossom, the heroine sends a friend she suspects has an eating disorder to a former bulimic.</a:t>
            </a:r>
            <a:endParaRPr lang="en-US" sz="1500" b="0" u="none" strike="noStrike">
              <a:solidFill>
                <a:srgbClr val="000000"/>
              </a:solidFill>
              <a:effectLst/>
              <a:uFillTx/>
              <a:latin typeface="Arial"/>
            </a:endParaRPr>
          </a:p>
        </p:txBody>
      </p:sp>
      <p:sp>
        <p:nvSpPr>
          <p:cNvPr id="594"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5"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96" name=""/>
          <p:cNvPicPr/>
          <p:nvPr/>
        </p:nvPicPr>
        <p:blipFill>
          <a:blip r:embed="rId1"/>
          <a:stretch/>
        </p:blipFill>
        <p:spPr>
          <a:xfrm>
            <a:off x="6813720" y="1752480"/>
            <a:ext cx="4051080" cy="3038040"/>
          </a:xfrm>
          <a:prstGeom prst="rect">
            <a:avLst/>
          </a:prstGeom>
          <a:noFill/>
          <a:ln w="0">
            <a:noFill/>
          </a:ln>
        </p:spPr>
      </p:pic>
      <p:sp>
        <p:nvSpPr>
          <p:cNvPr id="597"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Beverly Hills, 90210 diet-pill storyline, 1993 — CBS</a:t>
            </a:r>
            <a:endParaRPr lang="en-US" sz="1130" b="0" u="none" strike="noStrike">
              <a:solidFill>
                <a:srgbClr val="000000"/>
              </a:solidFill>
              <a:effectLst/>
              <a:uFillTx/>
              <a:latin typeface="Arial"/>
            </a:endParaRPr>
          </a:p>
        </p:txBody>
      </p:sp>
      <p:sp>
        <p:nvSpPr>
          <p:cNvPr id="598"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9"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600"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90210 began the storyline March 24, 1993; Blossom’s “Hunger” aired May 10, 1993. Viewer helping was not measured.</a:t>
            </a:r>
            <a:endParaRPr lang="en-US" sz="1280" b="0" u="none" strike="noStrike">
              <a:solidFill>
                <a:srgbClr val="000000"/>
              </a:solidFill>
              <a:effectLst/>
              <a:uFillTx/>
              <a:latin typeface="Arial"/>
            </a:endParaRPr>
          </a:p>
        </p:txBody>
      </p:sp>
      <p:sp>
        <p:nvSpPr>
          <p:cNvPr id="601"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2"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603"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Campaign record; behavior not measured.</a:t>
            </a:r>
            <a:endParaRPr lang="en-US" sz="1200" b="0" u="none" strike="noStrike">
              <a:solidFill>
                <a:srgbClr val="000000"/>
              </a:solidFill>
              <a:effectLst/>
              <a:uFillTx/>
              <a:latin typeface="Arial"/>
            </a:endParaRPr>
          </a:p>
        </p:txBody>
      </p:sp>
      <p:sp>
        <p:nvSpPr>
          <p:cNvPr id="604"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605"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thecrimson.com  ·  en.wikipedia.org</a:t>
            </a:r>
            <a:endParaRPr lang="en-US" sz="900" b="0" u="none" strike="noStrike">
              <a:solidFill>
                <a:srgbClr val="000000"/>
              </a:solidFill>
              <a:effectLst/>
              <a:uFillTx/>
              <a:latin typeface="Arial"/>
            </a:endParaRPr>
          </a:p>
        </p:txBody>
      </p:sp>
      <p:sp>
        <p:nvSpPr>
          <p:cNvPr id="606"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20</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607" name="PlaceHolder 1"/>
          <p:cNvSpPr>
            <a:spLocks noGrp="1"/>
          </p:cNvSpPr>
          <p:nvPr>
            <p:ph type="sldNum" idx="27"/>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608"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09"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13 / 35</a:t>
            </a:r>
            <a:endParaRPr lang="en-US" sz="1200" b="0" u="none" strike="noStrike">
              <a:solidFill>
                <a:srgbClr val="000000"/>
              </a:solidFill>
              <a:effectLst/>
              <a:uFillTx/>
              <a:latin typeface="Arial"/>
            </a:endParaRPr>
          </a:p>
        </p:txBody>
      </p:sp>
      <p:sp>
        <p:nvSpPr>
          <p:cNvPr id="610"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SOUTH ASIA</a:t>
            </a:r>
            <a:endParaRPr lang="en-US" sz="1200" b="0" u="none" strike="noStrike">
              <a:solidFill>
                <a:srgbClr val="000000"/>
              </a:solidFill>
              <a:effectLst/>
              <a:uFillTx/>
              <a:latin typeface="Arial"/>
            </a:endParaRPr>
          </a:p>
        </p:txBody>
      </p:sp>
      <p:sp>
        <p:nvSpPr>
          <p:cNvPr id="611"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1993</a:t>
            </a:r>
            <a:endParaRPr lang="en-US" sz="1350" b="0" u="none" strike="noStrike">
              <a:solidFill>
                <a:srgbClr val="000000"/>
              </a:solidFill>
              <a:effectLst/>
              <a:uFillTx/>
              <a:latin typeface="Arial"/>
            </a:endParaRPr>
          </a:p>
        </p:txBody>
      </p:sp>
      <p:sp>
        <p:nvSpPr>
          <p:cNvPr id="612"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Meena</a:t>
            </a:r>
            <a:endParaRPr lang="en-US" sz="3600" b="0" u="none" strike="noStrike">
              <a:solidFill>
                <a:srgbClr val="000000"/>
              </a:solidFill>
              <a:effectLst/>
              <a:uFillTx/>
              <a:latin typeface="Arial"/>
            </a:endParaRPr>
          </a:p>
        </p:txBody>
      </p:sp>
      <p:sp>
        <p:nvSpPr>
          <p:cNvPr id="613"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614"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615"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616"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Girls’ exclusion from school seemed ordinary</a:t>
            </a:r>
            <a:endParaRPr lang="en-US" sz="1350" b="0" u="none" strike="noStrike">
              <a:solidFill>
                <a:srgbClr val="000000"/>
              </a:solidFill>
              <a:effectLst/>
              <a:uFillTx/>
              <a:latin typeface="Arial"/>
            </a:endParaRPr>
          </a:p>
        </p:txBody>
      </p:sp>
      <p:sp>
        <p:nvSpPr>
          <p:cNvPr id="617"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618"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A girl could insist on equal opportunity</a:t>
            </a:r>
            <a:endParaRPr lang="en-US" sz="1350" b="0" u="none" strike="noStrike">
              <a:solidFill>
                <a:srgbClr val="000000"/>
              </a:solidFill>
              <a:effectLst/>
              <a:uFillTx/>
              <a:latin typeface="Arial"/>
            </a:endParaRPr>
          </a:p>
        </p:txBody>
      </p:sp>
      <p:sp>
        <p:nvSpPr>
          <p:cNvPr id="619"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620"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621"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622"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UNICEF asked more than 10,000 children about the heroine’s look and life.</a:t>
            </a:r>
            <a:endParaRPr lang="en-US" sz="1500" b="0" u="none" strike="noStrike">
              <a:solidFill>
                <a:srgbClr val="000000"/>
              </a:solidFill>
              <a:effectLst/>
              <a:uFillTx/>
              <a:latin typeface="Arial"/>
            </a:endParaRPr>
          </a:p>
        </p:txBody>
      </p:sp>
      <p:sp>
        <p:nvSpPr>
          <p:cNvPr id="623"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624"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625"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recurring animated girl faced school and family obstacles in story form.</a:t>
            </a:r>
            <a:endParaRPr lang="en-US" sz="1500" b="0" u="none" strike="noStrike">
              <a:solidFill>
                <a:srgbClr val="000000"/>
              </a:solidFill>
              <a:effectLst/>
              <a:uFillTx/>
              <a:latin typeface="Arial"/>
            </a:endParaRPr>
          </a:p>
        </p:txBody>
      </p:sp>
      <p:sp>
        <p:nvSpPr>
          <p:cNvPr id="626"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627"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628"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TV films expanded into radio, comics, books, and discussion materials.</a:t>
            </a:r>
            <a:endParaRPr lang="en-US" sz="1500" b="0" u="none" strike="noStrike">
              <a:solidFill>
                <a:srgbClr val="000000"/>
              </a:solidFill>
              <a:effectLst/>
              <a:uFillTx/>
              <a:latin typeface="Arial"/>
            </a:endParaRPr>
          </a:p>
        </p:txBody>
      </p:sp>
      <p:sp>
        <p:nvSpPr>
          <p:cNvPr id="629"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0"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31" name=""/>
          <p:cNvPicPr/>
          <p:nvPr/>
        </p:nvPicPr>
        <p:blipFill>
          <a:blip r:embed="rId1"/>
          <a:stretch/>
        </p:blipFill>
        <p:spPr>
          <a:xfrm>
            <a:off x="6381720" y="1792440"/>
            <a:ext cx="4914720" cy="2958120"/>
          </a:xfrm>
          <a:prstGeom prst="rect">
            <a:avLst/>
          </a:prstGeom>
          <a:noFill/>
          <a:ln w="0">
            <a:noFill/>
          </a:ln>
        </p:spPr>
      </p:pic>
      <p:sp>
        <p:nvSpPr>
          <p:cNvPr id="632"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Meena at the school window, “Count Your Chickens” — UNICEF</a:t>
            </a:r>
            <a:endParaRPr lang="en-US" sz="1130" b="0" u="none" strike="noStrike">
              <a:solidFill>
                <a:srgbClr val="000000"/>
              </a:solidFill>
              <a:effectLst/>
              <a:uFillTx/>
              <a:latin typeface="Arial"/>
            </a:endParaRPr>
          </a:p>
        </p:txBody>
      </p:sp>
      <p:sp>
        <p:nvSpPr>
          <p:cNvPr id="633"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4"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635"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In Bangladesh, 97% of urban and 81% of rural children and adolescents recognized Meena.</a:t>
            </a:r>
            <a:endParaRPr lang="en-US" sz="1280" b="0" u="none" strike="noStrike">
              <a:solidFill>
                <a:srgbClr val="000000"/>
              </a:solidFill>
              <a:effectLst/>
              <a:uFillTx/>
              <a:latin typeface="Arial"/>
            </a:endParaRPr>
          </a:p>
        </p:txBody>
      </p:sp>
      <p:sp>
        <p:nvSpPr>
          <p:cNvPr id="636"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7"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638"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Recognition survey; this does not prove behavior changed.</a:t>
            </a:r>
            <a:endParaRPr lang="en-US" sz="1200" b="0" u="none" strike="noStrike">
              <a:solidFill>
                <a:srgbClr val="000000"/>
              </a:solidFill>
              <a:effectLst/>
              <a:uFillTx/>
              <a:latin typeface="Arial"/>
            </a:endParaRPr>
          </a:p>
        </p:txBody>
      </p:sp>
      <p:sp>
        <p:nvSpPr>
          <p:cNvPr id="639"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640"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unicef.org</a:t>
            </a:r>
            <a:endParaRPr lang="en-US" sz="900" b="0" u="none" strike="noStrike">
              <a:solidFill>
                <a:srgbClr val="000000"/>
              </a:solidFill>
              <a:effectLst/>
              <a:uFillTx/>
              <a:latin typeface="Arial"/>
            </a:endParaRPr>
          </a:p>
        </p:txBody>
      </p:sp>
      <p:sp>
        <p:nvSpPr>
          <p:cNvPr id="641"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21</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642" name="PlaceHolder 1"/>
          <p:cNvSpPr>
            <a:spLocks noGrp="1"/>
          </p:cNvSpPr>
          <p:nvPr>
            <p:ph type="sldNum" idx="28"/>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643"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4"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14 / 35</a:t>
            </a:r>
            <a:endParaRPr lang="en-US" sz="1200" b="0" u="none" strike="noStrike">
              <a:solidFill>
                <a:srgbClr val="000000"/>
              </a:solidFill>
              <a:effectLst/>
              <a:uFillTx/>
              <a:latin typeface="Arial"/>
            </a:endParaRPr>
          </a:p>
        </p:txBody>
      </p:sp>
      <p:sp>
        <p:nvSpPr>
          <p:cNvPr id="645"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TANZANIA</a:t>
            </a:r>
            <a:endParaRPr lang="en-US" sz="1200" b="0" u="none" strike="noStrike">
              <a:solidFill>
                <a:srgbClr val="000000"/>
              </a:solidFill>
              <a:effectLst/>
              <a:uFillTx/>
              <a:latin typeface="Arial"/>
            </a:endParaRPr>
          </a:p>
        </p:txBody>
      </p:sp>
      <p:sp>
        <p:nvSpPr>
          <p:cNvPr id="646"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1993</a:t>
            </a:r>
            <a:endParaRPr lang="en-US" sz="1350" b="0" u="none" strike="noStrike">
              <a:solidFill>
                <a:srgbClr val="000000"/>
              </a:solidFill>
              <a:effectLst/>
              <a:uFillTx/>
              <a:latin typeface="Arial"/>
            </a:endParaRPr>
          </a:p>
        </p:txBody>
      </p:sp>
      <p:sp>
        <p:nvSpPr>
          <p:cNvPr id="647"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Twende na Wakati</a:t>
            </a:r>
            <a:endParaRPr lang="en-US" sz="3600" b="0" u="none" strike="noStrike">
              <a:solidFill>
                <a:srgbClr val="000000"/>
              </a:solidFill>
              <a:effectLst/>
              <a:uFillTx/>
              <a:latin typeface="Arial"/>
            </a:endParaRPr>
          </a:p>
        </p:txBody>
      </p:sp>
      <p:sp>
        <p:nvSpPr>
          <p:cNvPr id="648"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649"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650"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651"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Family planning was difficult to raise</a:t>
            </a:r>
            <a:endParaRPr lang="en-US" sz="1350" b="0" u="none" strike="noStrike">
              <a:solidFill>
                <a:srgbClr val="000000"/>
              </a:solidFill>
              <a:effectLst/>
              <a:uFillTx/>
              <a:latin typeface="Arial"/>
            </a:endParaRPr>
          </a:p>
        </p:txBody>
      </p:sp>
      <p:sp>
        <p:nvSpPr>
          <p:cNvPr id="652"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653"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Couples could discuss and use it</a:t>
            </a:r>
            <a:endParaRPr lang="en-US" sz="1350" b="0" u="none" strike="noStrike">
              <a:solidFill>
                <a:srgbClr val="000000"/>
              </a:solidFill>
              <a:effectLst/>
              <a:uFillTx/>
              <a:latin typeface="Arial"/>
            </a:endParaRPr>
          </a:p>
        </p:txBody>
      </p:sp>
      <p:sp>
        <p:nvSpPr>
          <p:cNvPr id="654"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655"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656"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657"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continuing radio drama gave listeners characters to follow over time.</a:t>
            </a:r>
            <a:endParaRPr lang="en-US" sz="1500" b="0" u="none" strike="noStrike">
              <a:solidFill>
                <a:srgbClr val="000000"/>
              </a:solidFill>
              <a:effectLst/>
              <a:uFillTx/>
              <a:latin typeface="Arial"/>
            </a:endParaRPr>
          </a:p>
        </p:txBody>
      </p:sp>
      <p:sp>
        <p:nvSpPr>
          <p:cNvPr id="658"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659"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660"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Storylines tackled family planning and HIV; listeners then talked more with spouses about it.</a:t>
            </a:r>
            <a:endParaRPr lang="en-US" sz="1500" b="0" u="none" strike="noStrike">
              <a:solidFill>
                <a:srgbClr val="000000"/>
              </a:solidFill>
              <a:effectLst/>
              <a:uFillTx/>
              <a:latin typeface="Arial"/>
            </a:endParaRPr>
          </a:p>
        </p:txBody>
      </p:sp>
      <p:sp>
        <p:nvSpPr>
          <p:cNvPr id="661"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662"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663"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Dodoma aired other programs from 1993 to 1995, giving the study a comparison area.</a:t>
            </a:r>
            <a:endParaRPr lang="en-US" sz="1500" b="0" u="none" strike="noStrike">
              <a:solidFill>
                <a:srgbClr val="000000"/>
              </a:solidFill>
              <a:effectLst/>
              <a:uFillTx/>
              <a:latin typeface="Arial"/>
            </a:endParaRPr>
          </a:p>
        </p:txBody>
      </p:sp>
      <p:sp>
        <p:nvSpPr>
          <p:cNvPr id="664"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5"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66" name=""/>
          <p:cNvPicPr/>
          <p:nvPr/>
        </p:nvPicPr>
        <p:blipFill>
          <a:blip r:embed="rId1"/>
          <a:stretch/>
        </p:blipFill>
        <p:spPr>
          <a:xfrm>
            <a:off x="6803640" y="1752480"/>
            <a:ext cx="4070520" cy="3038040"/>
          </a:xfrm>
          <a:prstGeom prst="rect">
            <a:avLst/>
          </a:prstGeom>
          <a:noFill/>
          <a:ln w="0">
            <a:noFill/>
          </a:ln>
        </p:spPr>
      </p:pic>
      <p:sp>
        <p:nvSpPr>
          <p:cNvPr id="667"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Rogers et al. evaluation, Studies in Family Planning, 1999</a:t>
            </a:r>
            <a:endParaRPr lang="en-US" sz="1130" b="0" u="none" strike="noStrike">
              <a:solidFill>
                <a:srgbClr val="000000"/>
              </a:solidFill>
              <a:effectLst/>
              <a:uFillTx/>
              <a:latin typeface="Arial"/>
            </a:endParaRPr>
          </a:p>
        </p:txBody>
      </p:sp>
      <p:sp>
        <p:nvSpPr>
          <p:cNvPr id="668"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9"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670"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Married women using family planning rose 10 points where it aired and fell 11 in the comparison area, 1993–95.</a:t>
            </a:r>
            <a:endParaRPr lang="en-US" sz="1280" b="0" u="none" strike="noStrike">
              <a:solidFill>
                <a:srgbClr val="000000"/>
              </a:solidFill>
              <a:effectLst/>
              <a:uFillTx/>
              <a:latin typeface="Arial"/>
            </a:endParaRPr>
          </a:p>
        </p:txBody>
      </p:sp>
      <p:sp>
        <p:nvSpPr>
          <p:cNvPr id="671"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2"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673"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Areas compared over time; other differences may matter.</a:t>
            </a:r>
            <a:endParaRPr lang="en-US" sz="1200" b="0" u="none" strike="noStrike">
              <a:solidFill>
                <a:srgbClr val="000000"/>
              </a:solidFill>
              <a:effectLst/>
              <a:uFillTx/>
              <a:latin typeface="Arial"/>
            </a:endParaRPr>
          </a:p>
        </p:txBody>
      </p:sp>
      <p:sp>
        <p:nvSpPr>
          <p:cNvPr id="674"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675"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unfpa.org  ·  gap.hks.harvard.edu  ·  pubmed.ncbi.nlm.nih.gov</a:t>
            </a:r>
            <a:endParaRPr lang="en-US" sz="900" b="0" u="none" strike="noStrike">
              <a:solidFill>
                <a:srgbClr val="000000"/>
              </a:solidFill>
              <a:effectLst/>
              <a:uFillTx/>
              <a:latin typeface="Arial"/>
            </a:endParaRPr>
          </a:p>
        </p:txBody>
      </p:sp>
      <p:sp>
        <p:nvSpPr>
          <p:cNvPr id="676"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22</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677" name="PlaceHolder 1"/>
          <p:cNvSpPr>
            <a:spLocks noGrp="1"/>
          </p:cNvSpPr>
          <p:nvPr>
            <p:ph type="sldNum" idx="29"/>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678" name=""/>
          <p:cNvSpPr/>
          <p:nvPr/>
        </p:nvSpPr>
        <p:spPr>
          <a:xfrm>
            <a:off x="0" y="0"/>
            <a:ext cx="132840" cy="685764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9"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15 / 35</a:t>
            </a:r>
            <a:endParaRPr lang="en-US" sz="1200" b="0" u="none" strike="noStrike">
              <a:solidFill>
                <a:srgbClr val="000000"/>
              </a:solidFill>
              <a:effectLst/>
              <a:uFillTx/>
              <a:latin typeface="Arial"/>
            </a:endParaRPr>
          </a:p>
        </p:txBody>
      </p:sp>
      <p:sp>
        <p:nvSpPr>
          <p:cNvPr id="680"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PUBLIC CAMPAIGN  ·  NORTH CAROLINA → UNITED STATES</a:t>
            </a:r>
            <a:endParaRPr lang="en-US" sz="1200" b="0" u="none" strike="noStrike">
              <a:solidFill>
                <a:srgbClr val="000000"/>
              </a:solidFill>
              <a:effectLst/>
              <a:uFillTx/>
              <a:latin typeface="Arial"/>
            </a:endParaRPr>
          </a:p>
        </p:txBody>
      </p:sp>
      <p:sp>
        <p:nvSpPr>
          <p:cNvPr id="681"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1993 onward</a:t>
            </a:r>
            <a:endParaRPr lang="en-US" sz="1350" b="0" u="none" strike="noStrike">
              <a:solidFill>
                <a:srgbClr val="000000"/>
              </a:solidFill>
              <a:effectLst/>
              <a:uFillTx/>
              <a:latin typeface="Arial"/>
            </a:endParaRPr>
          </a:p>
        </p:txBody>
      </p:sp>
      <p:sp>
        <p:nvSpPr>
          <p:cNvPr id="682"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Click It or Ticket</a:t>
            </a:r>
            <a:endParaRPr lang="en-US" sz="3600" b="0" u="none" strike="noStrike">
              <a:solidFill>
                <a:srgbClr val="000000"/>
              </a:solidFill>
              <a:effectLst/>
              <a:uFillTx/>
              <a:latin typeface="Arial"/>
            </a:endParaRPr>
          </a:p>
        </p:txBody>
      </p:sp>
      <p:sp>
        <p:nvSpPr>
          <p:cNvPr id="683" name=""/>
          <p:cNvSpPr/>
          <p:nvPr/>
        </p:nvSpPr>
        <p:spPr>
          <a:xfrm>
            <a:off x="666720" y="1609560"/>
            <a:ext cx="5181120" cy="18720"/>
          </a:xfrm>
          <a:prstGeom prst="rect">
            <a:avLst/>
          </a:prstGeom>
          <a:solidFill>
            <a:srgbClr val="235C77"/>
          </a:solidFill>
          <a:ln w="0">
            <a:solidFill>
              <a:srgbClr val="235C77"/>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684"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685"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686"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A seat belt could feel optional</a:t>
            </a:r>
            <a:endParaRPr lang="en-US" sz="1350" b="0" u="none" strike="noStrike">
              <a:solidFill>
                <a:srgbClr val="000000"/>
              </a:solidFill>
              <a:effectLst/>
              <a:uFillTx/>
              <a:latin typeface="Arial"/>
            </a:endParaRPr>
          </a:p>
        </p:txBody>
      </p:sp>
      <p:sp>
        <p:nvSpPr>
          <p:cNvPr id="687"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688"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Unbelted driving could bring a ticket</a:t>
            </a:r>
            <a:endParaRPr lang="en-US" sz="1350" b="0" u="none" strike="noStrike">
              <a:solidFill>
                <a:srgbClr val="000000"/>
              </a:solidFill>
              <a:effectLst/>
              <a:uFillTx/>
              <a:latin typeface="Arial"/>
            </a:endParaRPr>
          </a:p>
        </p:txBody>
      </p:sp>
      <p:sp>
        <p:nvSpPr>
          <p:cNvPr id="689"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690"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691"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01</a:t>
            </a:r>
            <a:endParaRPr lang="en-US" sz="1200" b="0" u="none" strike="noStrike">
              <a:solidFill>
                <a:srgbClr val="000000"/>
              </a:solidFill>
              <a:effectLst/>
              <a:uFillTx/>
              <a:latin typeface="Arial"/>
            </a:endParaRPr>
          </a:p>
        </p:txBody>
      </p:sp>
      <p:sp>
        <p:nvSpPr>
          <p:cNvPr id="692"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Publicity announced the enforcement itself: buckle up or get a ticket.</a:t>
            </a:r>
            <a:endParaRPr lang="en-US" sz="1500" b="0" u="none" strike="noStrike">
              <a:solidFill>
                <a:srgbClr val="000000"/>
              </a:solidFill>
              <a:effectLst/>
              <a:uFillTx/>
              <a:latin typeface="Arial"/>
            </a:endParaRPr>
          </a:p>
        </p:txBody>
      </p:sp>
      <p:sp>
        <p:nvSpPr>
          <p:cNvPr id="693"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694"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02</a:t>
            </a:r>
            <a:endParaRPr lang="en-US" sz="1200" b="0" u="none" strike="noStrike">
              <a:solidFill>
                <a:srgbClr val="000000"/>
              </a:solidFill>
              <a:effectLst/>
              <a:uFillTx/>
              <a:latin typeface="Arial"/>
            </a:endParaRPr>
          </a:p>
        </p:txBody>
      </p:sp>
      <p:sp>
        <p:nvSpPr>
          <p:cNvPr id="695"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In 1993, eight weeks of paid ads backed checkpoints in 100 counties; a second wave followed in 1994.</a:t>
            </a:r>
            <a:endParaRPr lang="en-US" sz="1500" b="0" u="none" strike="noStrike">
              <a:solidFill>
                <a:srgbClr val="000000"/>
              </a:solidFill>
              <a:effectLst/>
              <a:uFillTx/>
              <a:latin typeface="Arial"/>
            </a:endParaRPr>
          </a:p>
        </p:txBody>
      </p:sp>
      <p:sp>
        <p:nvSpPr>
          <p:cNvPr id="696"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697"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03</a:t>
            </a:r>
            <a:endParaRPr lang="en-US" sz="1200" b="0" u="none" strike="noStrike">
              <a:solidFill>
                <a:srgbClr val="000000"/>
              </a:solidFill>
              <a:effectLst/>
              <a:uFillTx/>
              <a:latin typeface="Arial"/>
            </a:endParaRPr>
          </a:p>
        </p:txBody>
      </p:sp>
      <p:sp>
        <p:nvSpPr>
          <p:cNvPr id="698"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First 3 weeks: about 3,000 checkpoints, 22,000 citations. Both waves: 6,364 and 58,883.</a:t>
            </a:r>
            <a:endParaRPr lang="en-US" sz="1500" b="0" u="none" strike="noStrike">
              <a:solidFill>
                <a:srgbClr val="000000"/>
              </a:solidFill>
              <a:effectLst/>
              <a:uFillTx/>
              <a:latin typeface="Arial"/>
            </a:endParaRPr>
          </a:p>
        </p:txBody>
      </p:sp>
      <p:sp>
        <p:nvSpPr>
          <p:cNvPr id="699"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0"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01" name=""/>
          <p:cNvPicPr/>
          <p:nvPr/>
        </p:nvPicPr>
        <p:blipFill>
          <a:blip r:embed="rId1"/>
          <a:stretch/>
        </p:blipFill>
        <p:spPr>
          <a:xfrm>
            <a:off x="6788160" y="1752480"/>
            <a:ext cx="4101480" cy="3038040"/>
          </a:xfrm>
          <a:prstGeom prst="rect">
            <a:avLst/>
          </a:prstGeom>
          <a:noFill/>
          <a:ln w="0">
            <a:noFill/>
          </a:ln>
        </p:spPr>
      </p:pic>
      <p:sp>
        <p:nvSpPr>
          <p:cNvPr id="702"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Click It or Ticket TV spot, 2003 — NHTSA</a:t>
            </a:r>
            <a:endParaRPr lang="en-US" sz="1130" b="0" u="none" strike="noStrike">
              <a:solidFill>
                <a:srgbClr val="000000"/>
              </a:solidFill>
              <a:effectLst/>
              <a:uFillTx/>
              <a:latin typeface="Arial"/>
            </a:endParaRPr>
          </a:p>
        </p:txBody>
      </p:sp>
      <p:sp>
        <p:nvSpPr>
          <p:cNvPr id="703"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4"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705"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In North Carolina, observed driver belt use rose from 64% before the program to 80% in Nov. 1993 and 81% by Aug. 1994.</a:t>
            </a:r>
            <a:endParaRPr lang="en-US" sz="1280" b="0" u="none" strike="noStrike">
              <a:solidFill>
                <a:srgbClr val="000000"/>
              </a:solidFill>
              <a:effectLst/>
              <a:uFillTx/>
              <a:latin typeface="Arial"/>
            </a:endParaRPr>
          </a:p>
        </p:txBody>
      </p:sp>
      <p:sp>
        <p:nvSpPr>
          <p:cNvPr id="706"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7"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708"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Before-after roadside counts; publicity and enforcement ran together.</a:t>
            </a:r>
            <a:endParaRPr lang="en-US" sz="1200" b="0" u="none" strike="noStrike">
              <a:solidFill>
                <a:srgbClr val="000000"/>
              </a:solidFill>
              <a:effectLst/>
              <a:uFillTx/>
              <a:latin typeface="Arial"/>
            </a:endParaRPr>
          </a:p>
        </p:txBody>
      </p:sp>
      <p:sp>
        <p:nvSpPr>
          <p:cNvPr id="709"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710"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clickitorticket.org  ·  iihs.org  ·  web.archive.org</a:t>
            </a:r>
            <a:endParaRPr lang="en-US" sz="900" b="0" u="none" strike="noStrike">
              <a:solidFill>
                <a:srgbClr val="000000"/>
              </a:solidFill>
              <a:effectLst/>
              <a:uFillTx/>
              <a:latin typeface="Arial"/>
            </a:endParaRPr>
          </a:p>
        </p:txBody>
      </p:sp>
      <p:sp>
        <p:nvSpPr>
          <p:cNvPr id="711"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23</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712" name="PlaceHolder 1"/>
          <p:cNvSpPr>
            <a:spLocks noGrp="1"/>
          </p:cNvSpPr>
          <p:nvPr>
            <p:ph type="sldNum" idx="30"/>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713" name=""/>
          <p:cNvSpPr/>
          <p:nvPr/>
        </p:nvSpPr>
        <p:spPr>
          <a:xfrm>
            <a:off x="0" y="0"/>
            <a:ext cx="132840" cy="685764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14" name=""/>
          <p:cNvSpPr/>
          <p:nvPr/>
        </p:nvSpPr>
        <p:spPr>
          <a:xfrm>
            <a:off x="666720" y="447840"/>
            <a:ext cx="100962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CLOSER LOOK  ·  1993 onward  ·  NORTH CAROLINA → UNITED STATES</a:t>
            </a:r>
            <a:endParaRPr lang="en-US" sz="1200" b="0" u="none" strike="noStrike">
              <a:solidFill>
                <a:srgbClr val="000000"/>
              </a:solidFill>
              <a:effectLst/>
              <a:uFillTx/>
              <a:latin typeface="Arial"/>
            </a:endParaRPr>
          </a:p>
        </p:txBody>
      </p:sp>
      <p:sp>
        <p:nvSpPr>
          <p:cNvPr id="715" name=""/>
          <p:cNvSpPr/>
          <p:nvPr/>
        </p:nvSpPr>
        <p:spPr>
          <a:xfrm>
            <a:off x="666720" y="91440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820" b="1" u="none" strike="noStrike">
                <a:solidFill>
                  <a:srgbClr val="17232B"/>
                </a:solidFill>
                <a:effectLst/>
                <a:uFillTx/>
                <a:latin typeface="Calibri"/>
                <a:ea typeface="Calibri"/>
              </a:rPr>
              <a:t>Click It or Ticket</a:t>
            </a:r>
            <a:endParaRPr lang="en-US" sz="3820" b="0" u="none" strike="noStrike">
              <a:solidFill>
                <a:srgbClr val="000000"/>
              </a:solidFill>
              <a:effectLst/>
              <a:uFillTx/>
              <a:latin typeface="Arial"/>
            </a:endParaRPr>
          </a:p>
        </p:txBody>
      </p:sp>
      <p:sp>
        <p:nvSpPr>
          <p:cNvPr id="716" name=""/>
          <p:cNvSpPr/>
          <p:nvPr/>
        </p:nvSpPr>
        <p:spPr>
          <a:xfrm>
            <a:off x="5905440" y="1685880"/>
            <a:ext cx="528588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THE OPERATING CHAIN</a:t>
            </a:r>
            <a:endParaRPr lang="en-US" sz="1350" b="0" u="none" strike="noStrike">
              <a:solidFill>
                <a:srgbClr val="000000"/>
              </a:solidFill>
              <a:effectLst/>
              <a:uFillTx/>
              <a:latin typeface="Arial"/>
            </a:endParaRPr>
          </a:p>
        </p:txBody>
      </p:sp>
      <p:sp>
        <p:nvSpPr>
          <p:cNvPr id="717" name=""/>
          <p:cNvSpPr/>
          <p:nvPr/>
        </p:nvSpPr>
        <p:spPr>
          <a:xfrm>
            <a:off x="5905440" y="19810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8" name=""/>
          <p:cNvSpPr/>
          <p:nvPr/>
        </p:nvSpPr>
        <p:spPr>
          <a:xfrm>
            <a:off x="6067440" y="20667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235C77"/>
                </a:solidFill>
                <a:effectLst/>
                <a:uFillTx/>
                <a:latin typeface="Calibri"/>
                <a:ea typeface="Calibri"/>
              </a:rPr>
              <a:t>PROMISE</a:t>
            </a:r>
            <a:endParaRPr lang="en-US" sz="1050" b="0" u="none" strike="noStrike">
              <a:solidFill>
                <a:srgbClr val="000000"/>
              </a:solidFill>
              <a:effectLst/>
              <a:uFillTx/>
              <a:latin typeface="Arial"/>
            </a:endParaRPr>
          </a:p>
        </p:txBody>
      </p:sp>
      <p:sp>
        <p:nvSpPr>
          <p:cNvPr id="719" name=""/>
          <p:cNvSpPr/>
          <p:nvPr/>
        </p:nvSpPr>
        <p:spPr>
          <a:xfrm>
            <a:off x="6067440" y="22766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Ads announced the plain consequence: an unbelted driver could get a ticket.</a:t>
            </a:r>
            <a:endParaRPr lang="en-US" sz="1430" b="0" u="none" strike="noStrike">
              <a:solidFill>
                <a:srgbClr val="000000"/>
              </a:solidFill>
              <a:effectLst/>
              <a:uFillTx/>
              <a:latin typeface="Arial"/>
            </a:endParaRPr>
          </a:p>
        </p:txBody>
      </p:sp>
      <p:sp>
        <p:nvSpPr>
          <p:cNvPr id="720" name=""/>
          <p:cNvSpPr/>
          <p:nvPr/>
        </p:nvSpPr>
        <p:spPr>
          <a:xfrm>
            <a:off x="5905440" y="281952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1" name=""/>
          <p:cNvSpPr/>
          <p:nvPr/>
        </p:nvSpPr>
        <p:spPr>
          <a:xfrm>
            <a:off x="6067440" y="290520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235C77"/>
                </a:solidFill>
                <a:effectLst/>
                <a:uFillTx/>
                <a:latin typeface="Calibri"/>
                <a:ea typeface="Calibri"/>
              </a:rPr>
              <a:t>TIMING</a:t>
            </a:r>
            <a:endParaRPr lang="en-US" sz="1050" b="0" u="none" strike="noStrike">
              <a:solidFill>
                <a:srgbClr val="000000"/>
              </a:solidFill>
              <a:effectLst/>
              <a:uFillTx/>
              <a:latin typeface="Arial"/>
            </a:endParaRPr>
          </a:p>
        </p:txBody>
      </p:sp>
      <p:sp>
        <p:nvSpPr>
          <p:cNvPr id="722" name=""/>
          <p:cNvSpPr/>
          <p:nvPr/>
        </p:nvSpPr>
        <p:spPr>
          <a:xfrm>
            <a:off x="6067440" y="311472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North Carolina paid for eight weeks of ads in 1993; a second wave ran in July 1994.</a:t>
            </a:r>
            <a:endParaRPr lang="en-US" sz="1430" b="0" u="none" strike="noStrike">
              <a:solidFill>
                <a:srgbClr val="000000"/>
              </a:solidFill>
              <a:effectLst/>
              <a:uFillTx/>
              <a:latin typeface="Arial"/>
            </a:endParaRPr>
          </a:p>
        </p:txBody>
      </p:sp>
      <p:sp>
        <p:nvSpPr>
          <p:cNvPr id="723" name=""/>
          <p:cNvSpPr/>
          <p:nvPr/>
        </p:nvSpPr>
        <p:spPr>
          <a:xfrm>
            <a:off x="5905440" y="365760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4" name=""/>
          <p:cNvSpPr/>
          <p:nvPr/>
        </p:nvSpPr>
        <p:spPr>
          <a:xfrm>
            <a:off x="6067440" y="374328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235C77"/>
                </a:solidFill>
                <a:effectLst/>
                <a:uFillTx/>
                <a:latin typeface="Calibri"/>
                <a:ea typeface="Calibri"/>
              </a:rPr>
              <a:t>DELIVERY</a:t>
            </a:r>
            <a:endParaRPr lang="en-US" sz="1050" b="0" u="none" strike="noStrike">
              <a:solidFill>
                <a:srgbClr val="000000"/>
              </a:solidFill>
              <a:effectLst/>
              <a:uFillTx/>
              <a:latin typeface="Arial"/>
            </a:endParaRPr>
          </a:p>
        </p:txBody>
      </p:sp>
      <p:sp>
        <p:nvSpPr>
          <p:cNvPr id="725" name=""/>
          <p:cNvSpPr/>
          <p:nvPr/>
        </p:nvSpPr>
        <p:spPr>
          <a:xfrm>
            <a:off x="6067440" y="395280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About 3,000 checkpoints in 100 counties in three weeks; 6,364 across both waves.</a:t>
            </a:r>
            <a:endParaRPr lang="en-US" sz="1430" b="0" u="none" strike="noStrike">
              <a:solidFill>
                <a:srgbClr val="000000"/>
              </a:solidFill>
              <a:effectLst/>
              <a:uFillTx/>
              <a:latin typeface="Arial"/>
            </a:endParaRPr>
          </a:p>
        </p:txBody>
      </p:sp>
      <p:sp>
        <p:nvSpPr>
          <p:cNvPr id="726" name=""/>
          <p:cNvSpPr/>
          <p:nvPr/>
        </p:nvSpPr>
        <p:spPr>
          <a:xfrm>
            <a:off x="5905440" y="44956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7" name=""/>
          <p:cNvSpPr/>
          <p:nvPr/>
        </p:nvSpPr>
        <p:spPr>
          <a:xfrm>
            <a:off x="6067440" y="45813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235C77"/>
                </a:solidFill>
                <a:effectLst/>
                <a:uFillTx/>
                <a:latin typeface="Calibri"/>
                <a:ea typeface="Calibri"/>
              </a:rPr>
              <a:t>PROOF</a:t>
            </a:r>
            <a:endParaRPr lang="en-US" sz="1050" b="0" u="none" strike="noStrike">
              <a:solidFill>
                <a:srgbClr val="000000"/>
              </a:solidFill>
              <a:effectLst/>
              <a:uFillTx/>
              <a:latin typeface="Arial"/>
            </a:endParaRPr>
          </a:p>
        </p:txBody>
      </p:sp>
      <p:sp>
        <p:nvSpPr>
          <p:cNvPr id="728" name=""/>
          <p:cNvSpPr/>
          <p:nvPr/>
        </p:nvSpPr>
        <p:spPr>
          <a:xfrm>
            <a:off x="6067440" y="47912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About 22,000 belt citations in the first three weeks; 58,883 across both waves.</a:t>
            </a:r>
            <a:endParaRPr lang="en-US" sz="1430" b="0" u="none" strike="noStrike">
              <a:solidFill>
                <a:srgbClr val="000000"/>
              </a:solidFill>
              <a:effectLst/>
              <a:uFillTx/>
              <a:latin typeface="Arial"/>
            </a:endParaRPr>
          </a:p>
        </p:txBody>
      </p:sp>
      <p:sp>
        <p:nvSpPr>
          <p:cNvPr id="729" name=""/>
          <p:cNvSpPr/>
          <p:nvPr/>
        </p:nvSpPr>
        <p:spPr>
          <a:xfrm>
            <a:off x="666720" y="1666800"/>
            <a:ext cx="4952520" cy="3676320"/>
          </a:xfrm>
          <a:prstGeom prst="roundRect">
            <a:avLst>
              <a:gd name="adj" fmla="val 2073"/>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0" name=""/>
          <p:cNvSpPr/>
          <p:nvPr/>
        </p:nvSpPr>
        <p:spPr>
          <a:xfrm>
            <a:off x="819000" y="1819440"/>
            <a:ext cx="4647960" cy="2904840"/>
          </a:xfrm>
          <a:prstGeom prst="roundRect">
            <a:avLst>
              <a:gd name="adj" fmla="val 2623"/>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31" name=""/>
          <p:cNvPicPr/>
          <p:nvPr/>
        </p:nvPicPr>
        <p:blipFill>
          <a:blip r:embed="rId1"/>
          <a:stretch/>
        </p:blipFill>
        <p:spPr>
          <a:xfrm>
            <a:off x="1766880" y="1895400"/>
            <a:ext cx="2752200" cy="2752200"/>
          </a:xfrm>
          <a:prstGeom prst="rect">
            <a:avLst/>
          </a:prstGeom>
          <a:noFill/>
          <a:ln w="0">
            <a:noFill/>
          </a:ln>
        </p:spPr>
      </p:pic>
      <p:sp>
        <p:nvSpPr>
          <p:cNvPr id="732" name=""/>
          <p:cNvSpPr/>
          <p:nvPr/>
        </p:nvSpPr>
        <p:spPr>
          <a:xfrm>
            <a:off x="847800" y="4829040"/>
            <a:ext cx="460980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Click It or Ticket end card, 2003 — NHTSA</a:t>
            </a:r>
            <a:endParaRPr lang="en-US" sz="1130" b="0" u="none" strike="noStrike">
              <a:solidFill>
                <a:srgbClr val="000000"/>
              </a:solidFill>
              <a:effectLst/>
              <a:uFillTx/>
              <a:latin typeface="Arial"/>
            </a:endParaRPr>
          </a:p>
        </p:txBody>
      </p:sp>
      <p:sp>
        <p:nvSpPr>
          <p:cNvPr id="733" name=""/>
          <p:cNvSpPr/>
          <p:nvPr/>
        </p:nvSpPr>
        <p:spPr>
          <a:xfrm>
            <a:off x="666720" y="5495760"/>
            <a:ext cx="10858320" cy="847440"/>
          </a:xfrm>
          <a:prstGeom prst="roundRect">
            <a:avLst>
              <a:gd name="adj" fmla="val 8989"/>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4" name=""/>
          <p:cNvSpPr/>
          <p:nvPr/>
        </p:nvSpPr>
        <p:spPr>
          <a:xfrm>
            <a:off x="838080" y="5610240"/>
            <a:ext cx="2571480" cy="2091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DESIGN LESSON</a:t>
            </a:r>
            <a:endParaRPr lang="en-US" sz="1130" b="0" u="none" strike="noStrike">
              <a:solidFill>
                <a:srgbClr val="000000"/>
              </a:solidFill>
              <a:effectLst/>
              <a:uFillTx/>
              <a:latin typeface="Arial"/>
            </a:endParaRPr>
          </a:p>
        </p:txBody>
      </p:sp>
      <p:sp>
        <p:nvSpPr>
          <p:cNvPr id="735" name=""/>
          <p:cNvSpPr/>
          <p:nvPr/>
        </p:nvSpPr>
        <p:spPr>
          <a:xfrm>
            <a:off x="838080" y="5867280"/>
            <a:ext cx="1028664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message worked as an announcement of a real, coordinated enforcement action.</a:t>
            </a:r>
            <a:endParaRPr lang="en-US" sz="1500" b="0" u="none" strike="noStrike">
              <a:solidFill>
                <a:srgbClr val="000000"/>
              </a:solidFill>
              <a:effectLst/>
              <a:uFillTx/>
              <a:latin typeface="Arial"/>
            </a:endParaRPr>
          </a:p>
        </p:txBody>
      </p:sp>
      <p:sp>
        <p:nvSpPr>
          <p:cNvPr id="736"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737"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clickitorticket.org  ·  iihs.org  ·  web.archive.org</a:t>
            </a:r>
            <a:endParaRPr lang="en-US" sz="900" b="0" u="none" strike="noStrike">
              <a:solidFill>
                <a:srgbClr val="000000"/>
              </a:solidFill>
              <a:effectLst/>
              <a:uFillTx/>
              <a:latin typeface="Arial"/>
            </a:endParaRPr>
          </a:p>
        </p:txBody>
      </p:sp>
      <p:sp>
        <p:nvSpPr>
          <p:cNvPr id="738"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24</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739" name="PlaceHolder 1"/>
          <p:cNvSpPr>
            <a:spLocks noGrp="1"/>
          </p:cNvSpPr>
          <p:nvPr>
            <p:ph type="sldNum" idx="31"/>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740"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41"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16 / 35</a:t>
            </a:r>
            <a:endParaRPr lang="en-US" sz="1200" b="0" u="none" strike="noStrike">
              <a:solidFill>
                <a:srgbClr val="000000"/>
              </a:solidFill>
              <a:effectLst/>
              <a:uFillTx/>
              <a:latin typeface="Arial"/>
            </a:endParaRPr>
          </a:p>
        </p:txBody>
      </p:sp>
      <p:sp>
        <p:nvSpPr>
          <p:cNvPr id="742"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UNITED STATES</a:t>
            </a:r>
            <a:endParaRPr lang="en-US" sz="1200" b="0" u="none" strike="noStrike">
              <a:solidFill>
                <a:srgbClr val="000000"/>
              </a:solidFill>
              <a:effectLst/>
              <a:uFillTx/>
              <a:latin typeface="Arial"/>
            </a:endParaRPr>
          </a:p>
        </p:txBody>
      </p:sp>
      <p:sp>
        <p:nvSpPr>
          <p:cNvPr id="743"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1994</a:t>
            </a:r>
            <a:endParaRPr lang="en-US" sz="1350" b="0" u="none" strike="noStrike">
              <a:solidFill>
                <a:srgbClr val="000000"/>
              </a:solidFill>
              <a:effectLst/>
              <a:uFillTx/>
              <a:latin typeface="Arial"/>
            </a:endParaRPr>
          </a:p>
        </p:txBody>
      </p:sp>
      <p:sp>
        <p:nvSpPr>
          <p:cNvPr id="744"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Squash It!</a:t>
            </a:r>
            <a:endParaRPr lang="en-US" sz="3600" b="0" u="none" strike="noStrike">
              <a:solidFill>
                <a:srgbClr val="000000"/>
              </a:solidFill>
              <a:effectLst/>
              <a:uFillTx/>
              <a:latin typeface="Arial"/>
            </a:endParaRPr>
          </a:p>
        </p:txBody>
      </p:sp>
      <p:sp>
        <p:nvSpPr>
          <p:cNvPr id="745"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746"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747"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748"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Teens thought peers expected a fight, not a walk-away</a:t>
            </a:r>
            <a:endParaRPr lang="en-US" sz="1350" b="0" u="none" strike="noStrike">
              <a:solidFill>
                <a:srgbClr val="000000"/>
              </a:solidFill>
              <a:effectLst/>
              <a:uFillTx/>
              <a:latin typeface="Arial"/>
            </a:endParaRPr>
          </a:p>
        </p:txBody>
      </p:sp>
      <p:sp>
        <p:nvSpPr>
          <p:cNvPr id="749"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750"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Walking away could show control</a:t>
            </a:r>
            <a:endParaRPr lang="en-US" sz="1350" b="0" u="none" strike="noStrike">
              <a:solidFill>
                <a:srgbClr val="000000"/>
              </a:solidFill>
              <a:effectLst/>
              <a:uFillTx/>
              <a:latin typeface="Arial"/>
            </a:endParaRPr>
          </a:p>
        </p:txBody>
      </p:sp>
      <p:sp>
        <p:nvSpPr>
          <p:cNvPr id="751"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752"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753"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754"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Harvard built on “squash it,” a phrase Black teens already used for walking away.</a:t>
            </a:r>
            <a:endParaRPr lang="en-US" sz="1500" b="0" u="none" strike="noStrike">
              <a:solidFill>
                <a:srgbClr val="000000"/>
              </a:solidFill>
              <a:effectLst/>
              <a:uFillTx/>
              <a:latin typeface="Arial"/>
            </a:endParaRPr>
          </a:p>
        </p:txBody>
      </p:sp>
      <p:sp>
        <p:nvSpPr>
          <p:cNvPr id="755"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756"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757"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Producers of nine TV series, including ER and 90210, worked the message into scripts.</a:t>
            </a:r>
            <a:endParaRPr lang="en-US" sz="1500" b="0" u="none" strike="noStrike">
              <a:solidFill>
                <a:srgbClr val="000000"/>
              </a:solidFill>
              <a:effectLst/>
              <a:uFillTx/>
              <a:latin typeface="Arial"/>
            </a:endParaRPr>
          </a:p>
        </p:txBody>
      </p:sp>
      <p:sp>
        <p:nvSpPr>
          <p:cNvPr id="758"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759"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760"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MTV artists and sports figures repeated the phrase in short ads.</a:t>
            </a:r>
            <a:endParaRPr lang="en-US" sz="1500" b="0" u="none" strike="noStrike">
              <a:solidFill>
                <a:srgbClr val="000000"/>
              </a:solidFill>
              <a:effectLst/>
              <a:uFillTx/>
              <a:latin typeface="Arial"/>
            </a:endParaRPr>
          </a:p>
        </p:txBody>
      </p:sp>
      <p:sp>
        <p:nvSpPr>
          <p:cNvPr id="761"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2"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63" name=""/>
          <p:cNvPicPr/>
          <p:nvPr/>
        </p:nvPicPr>
        <p:blipFill>
          <a:blip r:embed="rId1"/>
          <a:stretch/>
        </p:blipFill>
        <p:spPr>
          <a:xfrm>
            <a:off x="6585120" y="1752480"/>
            <a:ext cx="4507560" cy="3038040"/>
          </a:xfrm>
          <a:prstGeom prst="rect">
            <a:avLst/>
          </a:prstGeom>
          <a:noFill/>
          <a:ln w="0">
            <a:noFill/>
          </a:ln>
        </p:spPr>
      </p:pic>
      <p:sp>
        <p:nvSpPr>
          <p:cNvPr id="764"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Squash It! forum stage, C-SPAN, 1997 — Harvard Chan CHC</a:t>
            </a:r>
            <a:endParaRPr lang="en-US" sz="1130" b="0" u="none" strike="noStrike">
              <a:solidFill>
                <a:srgbClr val="000000"/>
              </a:solidFill>
              <a:effectLst/>
              <a:uFillTx/>
              <a:latin typeface="Arial"/>
            </a:endParaRPr>
          </a:p>
        </p:txBody>
      </p:sp>
      <p:sp>
        <p:nvSpPr>
          <p:cNvPr id="765"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6"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767"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In surveys, use of “squash it” to avoid a fight rose from 48% to 60% among Black youth.</a:t>
            </a:r>
            <a:endParaRPr lang="en-US" sz="1280" b="0" u="none" strike="noStrike">
              <a:solidFill>
                <a:srgbClr val="000000"/>
              </a:solidFill>
              <a:effectLst/>
              <a:uFillTx/>
              <a:latin typeface="Arial"/>
            </a:endParaRPr>
          </a:p>
        </p:txBody>
      </p:sp>
      <p:sp>
        <p:nvSpPr>
          <p:cNvPr id="768"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9"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770"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Harvard surveys, 1995 vs. 1997; no comparison group; many other efforts ran too.</a:t>
            </a:r>
            <a:endParaRPr lang="en-US" sz="1200" b="0" u="none" strike="noStrike">
              <a:solidFill>
                <a:srgbClr val="000000"/>
              </a:solidFill>
              <a:effectLst/>
              <a:uFillTx/>
              <a:latin typeface="Arial"/>
            </a:endParaRPr>
          </a:p>
        </p:txBody>
      </p:sp>
      <p:sp>
        <p:nvSpPr>
          <p:cNvPr id="771"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772"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hsph.harvard.edu  ·  guides.library.harvard.edu</a:t>
            </a:r>
            <a:endParaRPr lang="en-US" sz="900" b="0" u="none" strike="noStrike">
              <a:solidFill>
                <a:srgbClr val="000000"/>
              </a:solidFill>
              <a:effectLst/>
              <a:uFillTx/>
              <a:latin typeface="Arial"/>
            </a:endParaRPr>
          </a:p>
        </p:txBody>
      </p:sp>
      <p:sp>
        <p:nvSpPr>
          <p:cNvPr id="773"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25</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774" name="PlaceHolder 1"/>
          <p:cNvSpPr>
            <a:spLocks noGrp="1"/>
          </p:cNvSpPr>
          <p:nvPr>
            <p:ph type="sldNum" idx="32"/>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775"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76"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17 / 35</a:t>
            </a:r>
            <a:endParaRPr lang="en-US" sz="1200" b="0" u="none" strike="noStrike">
              <a:solidFill>
                <a:srgbClr val="000000"/>
              </a:solidFill>
              <a:effectLst/>
              <a:uFillTx/>
              <a:latin typeface="Arial"/>
            </a:endParaRPr>
          </a:p>
        </p:txBody>
      </p:sp>
      <p:sp>
        <p:nvSpPr>
          <p:cNvPr id="777"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SOUTH AFRICA</a:t>
            </a:r>
            <a:endParaRPr lang="en-US" sz="1200" b="0" u="none" strike="noStrike">
              <a:solidFill>
                <a:srgbClr val="000000"/>
              </a:solidFill>
              <a:effectLst/>
              <a:uFillTx/>
              <a:latin typeface="Arial"/>
            </a:endParaRPr>
          </a:p>
        </p:txBody>
      </p:sp>
      <p:sp>
        <p:nvSpPr>
          <p:cNvPr id="778"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1994</a:t>
            </a:r>
            <a:endParaRPr lang="en-US" sz="1350" b="0" u="none" strike="noStrike">
              <a:solidFill>
                <a:srgbClr val="000000"/>
              </a:solidFill>
              <a:effectLst/>
              <a:uFillTx/>
              <a:latin typeface="Arial"/>
            </a:endParaRPr>
          </a:p>
        </p:txBody>
      </p:sp>
      <p:sp>
        <p:nvSpPr>
          <p:cNvPr id="779"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Soul City</a:t>
            </a:r>
            <a:endParaRPr lang="en-US" sz="3600" b="0" u="none" strike="noStrike">
              <a:solidFill>
                <a:srgbClr val="000000"/>
              </a:solidFill>
              <a:effectLst/>
              <a:uFillTx/>
              <a:latin typeface="Arial"/>
            </a:endParaRPr>
          </a:p>
        </p:txBody>
      </p:sp>
      <p:sp>
        <p:nvSpPr>
          <p:cNvPr id="780"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781"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782"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783"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Partner violence could be dismissed as private</a:t>
            </a:r>
            <a:endParaRPr lang="en-US" sz="1350" b="0" u="none" strike="noStrike">
              <a:solidFill>
                <a:srgbClr val="000000"/>
              </a:solidFill>
              <a:effectLst/>
              <a:uFillTx/>
              <a:latin typeface="Arial"/>
            </a:endParaRPr>
          </a:p>
        </p:txBody>
      </p:sp>
      <p:sp>
        <p:nvSpPr>
          <p:cNvPr id="784"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785"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Neighbors could recognize and oppose it</a:t>
            </a:r>
            <a:endParaRPr lang="en-US" sz="1350" b="0" u="none" strike="noStrike">
              <a:solidFill>
                <a:srgbClr val="000000"/>
              </a:solidFill>
              <a:effectLst/>
              <a:uFillTx/>
              <a:latin typeface="Arial"/>
            </a:endParaRPr>
          </a:p>
        </p:txBody>
      </p:sp>
      <p:sp>
        <p:nvSpPr>
          <p:cNvPr id="786"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787"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788"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789"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Season four’s 13-part TV drama followed Matlakala as her husband turned abusive.</a:t>
            </a:r>
            <a:endParaRPr lang="en-US" sz="1500" b="0" u="none" strike="noStrike">
              <a:solidFill>
                <a:srgbClr val="000000"/>
              </a:solidFill>
              <a:effectLst/>
              <a:uFillTx/>
              <a:latin typeface="Arial"/>
            </a:endParaRPr>
          </a:p>
        </p:txBody>
      </p:sp>
      <p:sp>
        <p:nvSpPr>
          <p:cNvPr id="790"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791"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792"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Radio, print, and community events carried the topic beyond TV.</a:t>
            </a:r>
            <a:endParaRPr lang="en-US" sz="1500" b="0" u="none" strike="noStrike">
              <a:solidFill>
                <a:srgbClr val="000000"/>
              </a:solidFill>
              <a:effectLst/>
              <a:uFillTx/>
              <a:latin typeface="Arial"/>
            </a:endParaRPr>
          </a:p>
        </p:txBody>
      </p:sp>
      <p:sp>
        <p:nvSpPr>
          <p:cNvPr id="793"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794"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795"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network of 1,500+ activists and groups marched and pressed to enact the Domestic Violence Act.</a:t>
            </a:r>
            <a:endParaRPr lang="en-US" sz="1500" b="0" u="none" strike="noStrike">
              <a:solidFill>
                <a:srgbClr val="000000"/>
              </a:solidFill>
              <a:effectLst/>
              <a:uFillTx/>
              <a:latin typeface="Arial"/>
            </a:endParaRPr>
          </a:p>
        </p:txBody>
      </p:sp>
      <p:sp>
        <p:nvSpPr>
          <p:cNvPr id="796"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7"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98" name=""/>
          <p:cNvPicPr/>
          <p:nvPr/>
        </p:nvPicPr>
        <p:blipFill>
          <a:blip r:embed="rId1"/>
          <a:stretch/>
        </p:blipFill>
        <p:spPr>
          <a:xfrm>
            <a:off x="6381720" y="2064600"/>
            <a:ext cx="4914720" cy="2414160"/>
          </a:xfrm>
          <a:prstGeom prst="rect">
            <a:avLst/>
          </a:prstGeom>
          <a:noFill/>
          <a:ln w="0">
            <a:noFill/>
          </a:ln>
        </p:spPr>
      </p:pic>
      <p:sp>
        <p:nvSpPr>
          <p:cNvPr id="799"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1999 press coverage of the Matlakala story and an anti-violence march — Soul City 4 evaluation</a:t>
            </a:r>
            <a:endParaRPr lang="en-US" sz="1130" b="0" u="none" strike="noStrike">
              <a:solidFill>
                <a:srgbClr val="000000"/>
              </a:solidFill>
              <a:effectLst/>
              <a:uFillTx/>
              <a:latin typeface="Arial"/>
            </a:endParaRPr>
          </a:p>
        </p:txBody>
      </p:sp>
      <p:sp>
        <p:nvSpPr>
          <p:cNvPr id="800"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1"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802"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After season four, more people said domestic violence should not be treated as a private matter: 56% rose to 66%.</a:t>
            </a:r>
            <a:endParaRPr lang="en-US" sz="1280" b="0" u="none" strike="noStrike">
              <a:solidFill>
                <a:srgbClr val="000000"/>
              </a:solidFill>
              <a:effectLst/>
              <a:uFillTx/>
              <a:latin typeface="Arial"/>
            </a:endParaRPr>
          </a:p>
        </p:txBody>
      </p:sp>
      <p:sp>
        <p:nvSpPr>
          <p:cNvPr id="803"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4"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805"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Before-and-after survey; other causes possible.</a:t>
            </a:r>
            <a:endParaRPr lang="en-US" sz="1200" b="0" u="none" strike="noStrike">
              <a:solidFill>
                <a:srgbClr val="000000"/>
              </a:solidFill>
              <a:effectLst/>
              <a:uFillTx/>
              <a:latin typeface="Arial"/>
            </a:endParaRPr>
          </a:p>
        </p:txBody>
      </p:sp>
      <p:sp>
        <p:nvSpPr>
          <p:cNvPr id="806"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807"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soulcity.org.za  ·  web.archive.org</a:t>
            </a:r>
            <a:endParaRPr lang="en-US" sz="900" b="0" u="none" strike="noStrike">
              <a:solidFill>
                <a:srgbClr val="000000"/>
              </a:solidFill>
              <a:effectLst/>
              <a:uFillTx/>
              <a:latin typeface="Arial"/>
            </a:endParaRPr>
          </a:p>
        </p:txBody>
      </p:sp>
      <p:sp>
        <p:nvSpPr>
          <p:cNvPr id="808"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26</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809" name="PlaceHolder 1"/>
          <p:cNvSpPr>
            <a:spLocks noGrp="1"/>
          </p:cNvSpPr>
          <p:nvPr>
            <p:ph type="sldNum" idx="33"/>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810"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11"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18 / 35</a:t>
            </a:r>
            <a:endParaRPr lang="en-US" sz="1200" b="0" u="none" strike="noStrike">
              <a:solidFill>
                <a:srgbClr val="000000"/>
              </a:solidFill>
              <a:effectLst/>
              <a:uFillTx/>
              <a:latin typeface="Arial"/>
            </a:endParaRPr>
          </a:p>
        </p:txBody>
      </p:sp>
      <p:sp>
        <p:nvSpPr>
          <p:cNvPr id="812"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UNITED STATES</a:t>
            </a:r>
            <a:endParaRPr lang="en-US" sz="1200" b="0" u="none" strike="noStrike">
              <a:solidFill>
                <a:srgbClr val="000000"/>
              </a:solidFill>
              <a:effectLst/>
              <a:uFillTx/>
              <a:latin typeface="Arial"/>
            </a:endParaRPr>
          </a:p>
        </p:txBody>
      </p:sp>
      <p:sp>
        <p:nvSpPr>
          <p:cNvPr id="813"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1996</a:t>
            </a:r>
            <a:endParaRPr lang="en-US" sz="1350" b="0" u="none" strike="noStrike">
              <a:solidFill>
                <a:srgbClr val="000000"/>
              </a:solidFill>
              <a:effectLst/>
              <a:uFillTx/>
              <a:latin typeface="Arial"/>
            </a:endParaRPr>
          </a:p>
        </p:txBody>
      </p:sp>
      <p:sp>
        <p:nvSpPr>
          <p:cNvPr id="814"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Following ER</a:t>
            </a:r>
            <a:endParaRPr lang="en-US" sz="3600" b="0" u="none" strike="noStrike">
              <a:solidFill>
                <a:srgbClr val="000000"/>
              </a:solidFill>
              <a:effectLst/>
              <a:uFillTx/>
              <a:latin typeface="Arial"/>
            </a:endParaRPr>
          </a:p>
        </p:txBody>
      </p:sp>
      <p:sp>
        <p:nvSpPr>
          <p:cNvPr id="815"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816"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817"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818"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A fictional health plot ended with the episode</a:t>
            </a:r>
            <a:endParaRPr lang="en-US" sz="1350" b="0" u="none" strike="noStrike">
              <a:solidFill>
                <a:srgbClr val="000000"/>
              </a:solidFill>
              <a:effectLst/>
              <a:uFillTx/>
              <a:latin typeface="Arial"/>
            </a:endParaRPr>
          </a:p>
        </p:txBody>
      </p:sp>
      <p:sp>
        <p:nvSpPr>
          <p:cNvPr id="819"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820"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Viewers could connect it to real information</a:t>
            </a:r>
            <a:endParaRPr lang="en-US" sz="1350" b="0" u="none" strike="noStrike">
              <a:solidFill>
                <a:srgbClr val="000000"/>
              </a:solidFill>
              <a:effectLst/>
              <a:uFillTx/>
              <a:latin typeface="Arial"/>
            </a:endParaRPr>
          </a:p>
        </p:txBody>
      </p:sp>
      <p:sp>
        <p:nvSpPr>
          <p:cNvPr id="821"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822"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823"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824"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90-second health news segments ran on NBC stations right after ER.</a:t>
            </a:r>
            <a:endParaRPr lang="en-US" sz="1500" b="0" u="none" strike="noStrike">
              <a:solidFill>
                <a:srgbClr val="000000"/>
              </a:solidFill>
              <a:effectLst/>
              <a:uFillTx/>
              <a:latin typeface="Arial"/>
            </a:endParaRPr>
          </a:p>
        </p:txBody>
      </p:sp>
      <p:sp>
        <p:nvSpPr>
          <p:cNvPr id="825"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826"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827"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Each segment took up the medical issue shown in that night’s episode.</a:t>
            </a:r>
            <a:endParaRPr lang="en-US" sz="1500" b="0" u="none" strike="noStrike">
              <a:solidFill>
                <a:srgbClr val="000000"/>
              </a:solidFill>
              <a:effectLst/>
              <a:uFillTx/>
              <a:latin typeface="Arial"/>
            </a:endParaRPr>
          </a:p>
        </p:txBody>
      </p:sp>
      <p:sp>
        <p:nvSpPr>
          <p:cNvPr id="828"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829"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830"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Segments told viewers how to prevent it and where to get more information.</a:t>
            </a:r>
            <a:endParaRPr lang="en-US" sz="1500" b="0" u="none" strike="noStrike">
              <a:solidFill>
                <a:srgbClr val="000000"/>
              </a:solidFill>
              <a:effectLst/>
              <a:uFillTx/>
              <a:latin typeface="Arial"/>
            </a:endParaRPr>
          </a:p>
        </p:txBody>
      </p:sp>
      <p:sp>
        <p:nvSpPr>
          <p:cNvPr id="831"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2"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33" name=""/>
          <p:cNvPicPr/>
          <p:nvPr/>
        </p:nvPicPr>
        <p:blipFill>
          <a:blip r:embed="rId1"/>
          <a:stretch/>
        </p:blipFill>
        <p:spPr>
          <a:xfrm>
            <a:off x="6381720" y="1946520"/>
            <a:ext cx="4914720" cy="2650320"/>
          </a:xfrm>
          <a:prstGeom prst="rect">
            <a:avLst/>
          </a:prstGeom>
          <a:noFill/>
          <a:ln w="0">
            <a:noFill/>
          </a:ln>
        </p:spPr>
      </p:pic>
      <p:sp>
        <p:nvSpPr>
          <p:cNvPr id="834"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ER cast promotional image, mid-1990s — NBC</a:t>
            </a:r>
            <a:endParaRPr lang="en-US" sz="1130" b="0" u="none" strike="noStrike">
              <a:solidFill>
                <a:srgbClr val="000000"/>
              </a:solidFill>
              <a:effectLst/>
              <a:uFillTx/>
              <a:latin typeface="Arial"/>
            </a:endParaRPr>
          </a:p>
        </p:txBody>
      </p:sp>
      <p:sp>
        <p:nvSpPr>
          <p:cNvPr id="835"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6"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837"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In a test with 458 jurors, an ER tie-in raised attention to a familiar health story but not a novel one.</a:t>
            </a:r>
            <a:endParaRPr lang="en-US" sz="1280" b="0" u="none" strike="noStrike">
              <a:solidFill>
                <a:srgbClr val="000000"/>
              </a:solidFill>
              <a:effectLst/>
              <a:uFillTx/>
              <a:latin typeface="Arial"/>
            </a:endParaRPr>
          </a:p>
        </p:txBody>
      </p:sp>
      <p:sp>
        <p:nvSpPr>
          <p:cNvPr id="838"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9"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840"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Viewers were assigned by chance; health behavior was not tested.</a:t>
            </a:r>
            <a:endParaRPr lang="en-US" sz="1200" b="0" u="none" strike="noStrike">
              <a:solidFill>
                <a:srgbClr val="000000"/>
              </a:solidFill>
              <a:effectLst/>
              <a:uFillTx/>
              <a:latin typeface="Arial"/>
            </a:endParaRPr>
          </a:p>
        </p:txBody>
      </p:sp>
      <p:sp>
        <p:nvSpPr>
          <p:cNvPr id="841"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842"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fastcompany.com  ·  pubmed.ncbi.nlm.nih.gov</a:t>
            </a:r>
            <a:endParaRPr lang="en-US" sz="900" b="0" u="none" strike="noStrike">
              <a:solidFill>
                <a:srgbClr val="000000"/>
              </a:solidFill>
              <a:effectLst/>
              <a:uFillTx/>
              <a:latin typeface="Arial"/>
            </a:endParaRPr>
          </a:p>
        </p:txBody>
      </p:sp>
      <p:sp>
        <p:nvSpPr>
          <p:cNvPr id="843"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27</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844" name="PlaceHolder 1"/>
          <p:cNvSpPr>
            <a:spLocks noGrp="1"/>
          </p:cNvSpPr>
          <p:nvPr>
            <p:ph type="sldNum" idx="34"/>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845" name=""/>
          <p:cNvSpPr/>
          <p:nvPr/>
        </p:nvSpPr>
        <p:spPr>
          <a:xfrm>
            <a:off x="0" y="0"/>
            <a:ext cx="132840" cy="6857640"/>
          </a:xfrm>
          <a:prstGeom prst="rect">
            <a:avLst/>
          </a:prstGeom>
          <a:solidFill>
            <a:srgbClr val="5A6D40"/>
          </a:solidFill>
          <a:ln w="0">
            <a:solidFill>
              <a:srgbClr val="5A6D40"/>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46"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19 / 35</a:t>
            </a:r>
            <a:endParaRPr lang="en-US" sz="1200" b="0" u="none" strike="noStrike">
              <a:solidFill>
                <a:srgbClr val="000000"/>
              </a:solidFill>
              <a:effectLst/>
              <a:uFillTx/>
              <a:latin typeface="Arial"/>
            </a:endParaRPr>
          </a:p>
        </p:txBody>
      </p:sp>
      <p:sp>
        <p:nvSpPr>
          <p:cNvPr id="847"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5A6D40"/>
                </a:solidFill>
                <a:effectLst/>
                <a:uFillTx/>
                <a:latin typeface="Calibri"/>
                <a:ea typeface="Calibri"/>
              </a:rPr>
              <a:t>COMMUNITY  ·  SENEGAL</a:t>
            </a:r>
            <a:endParaRPr lang="en-US" sz="1200" b="0" u="none" strike="noStrike">
              <a:solidFill>
                <a:srgbClr val="000000"/>
              </a:solidFill>
              <a:effectLst/>
              <a:uFillTx/>
              <a:latin typeface="Arial"/>
            </a:endParaRPr>
          </a:p>
        </p:txBody>
      </p:sp>
      <p:sp>
        <p:nvSpPr>
          <p:cNvPr id="848"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5A6D40"/>
                </a:solidFill>
                <a:effectLst/>
                <a:uFillTx/>
                <a:latin typeface="Calibri"/>
                <a:ea typeface="Calibri"/>
              </a:rPr>
              <a:t>1997 onward</a:t>
            </a:r>
            <a:endParaRPr lang="en-US" sz="1350" b="0" u="none" strike="noStrike">
              <a:solidFill>
                <a:srgbClr val="000000"/>
              </a:solidFill>
              <a:effectLst/>
              <a:uFillTx/>
              <a:latin typeface="Arial"/>
            </a:endParaRPr>
          </a:p>
        </p:txBody>
      </p:sp>
      <p:sp>
        <p:nvSpPr>
          <p:cNvPr id="849"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Tostan public declarations</a:t>
            </a:r>
            <a:endParaRPr lang="en-US" sz="3600" b="0" u="none" strike="noStrike">
              <a:solidFill>
                <a:srgbClr val="000000"/>
              </a:solidFill>
              <a:effectLst/>
              <a:uFillTx/>
              <a:latin typeface="Arial"/>
            </a:endParaRPr>
          </a:p>
        </p:txBody>
      </p:sp>
      <p:sp>
        <p:nvSpPr>
          <p:cNvPr id="850" name=""/>
          <p:cNvSpPr/>
          <p:nvPr/>
        </p:nvSpPr>
        <p:spPr>
          <a:xfrm>
            <a:off x="666720" y="1609560"/>
            <a:ext cx="5181120" cy="18720"/>
          </a:xfrm>
          <a:prstGeom prst="rect">
            <a:avLst/>
          </a:prstGeom>
          <a:solidFill>
            <a:srgbClr val="5A6D40"/>
          </a:solidFill>
          <a:ln w="0">
            <a:solidFill>
              <a:srgbClr val="5A6D40"/>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851"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5A6D40"/>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852"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853"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Families expected female genital cutting to continue</a:t>
            </a:r>
            <a:endParaRPr lang="en-US" sz="1350" b="0" u="none" strike="noStrike">
              <a:solidFill>
                <a:srgbClr val="000000"/>
              </a:solidFill>
              <a:effectLst/>
              <a:uFillTx/>
              <a:latin typeface="Arial"/>
            </a:endParaRPr>
          </a:p>
        </p:txBody>
      </p:sp>
      <p:sp>
        <p:nvSpPr>
          <p:cNvPr id="854"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855"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Linked villages could agree to stop together</a:t>
            </a:r>
            <a:endParaRPr lang="en-US" sz="1350" b="0" u="none" strike="noStrike">
              <a:solidFill>
                <a:srgbClr val="000000"/>
              </a:solidFill>
              <a:effectLst/>
              <a:uFillTx/>
              <a:latin typeface="Arial"/>
            </a:endParaRPr>
          </a:p>
        </p:txBody>
      </p:sp>
      <p:sp>
        <p:nvSpPr>
          <p:cNvPr id="856"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857"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5A6D40"/>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858"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5A6D40"/>
                </a:solidFill>
                <a:effectLst/>
                <a:uFillTx/>
                <a:latin typeface="Calibri"/>
                <a:ea typeface="Calibri"/>
              </a:rPr>
              <a:t>01</a:t>
            </a:r>
            <a:endParaRPr lang="en-US" sz="1200" b="0" u="none" strike="noStrike">
              <a:solidFill>
                <a:srgbClr val="000000"/>
              </a:solidFill>
              <a:effectLst/>
              <a:uFillTx/>
              <a:latin typeface="Arial"/>
            </a:endParaRPr>
          </a:p>
        </p:txBody>
      </p:sp>
      <p:sp>
        <p:nvSpPr>
          <p:cNvPr id="859"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Community education and discussion came before any declaration.</a:t>
            </a:r>
            <a:endParaRPr lang="en-US" sz="1500" b="0" u="none" strike="noStrike">
              <a:solidFill>
                <a:srgbClr val="000000"/>
              </a:solidFill>
              <a:effectLst/>
              <a:uFillTx/>
              <a:latin typeface="Arial"/>
            </a:endParaRPr>
          </a:p>
        </p:txBody>
      </p:sp>
      <p:sp>
        <p:nvSpPr>
          <p:cNvPr id="860"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861"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5A6D40"/>
                </a:solidFill>
                <a:effectLst/>
                <a:uFillTx/>
                <a:latin typeface="Calibri"/>
                <a:ea typeface="Calibri"/>
              </a:rPr>
              <a:t>02</a:t>
            </a:r>
            <a:endParaRPr lang="en-US" sz="1200" b="0" u="none" strike="noStrike">
              <a:solidFill>
                <a:srgbClr val="000000"/>
              </a:solidFill>
              <a:effectLst/>
              <a:uFillTx/>
              <a:latin typeface="Arial"/>
            </a:endParaRPr>
          </a:p>
        </p:txBody>
      </p:sp>
      <p:sp>
        <p:nvSpPr>
          <p:cNvPr id="862"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Villages connected through marriage spoke with one another before committing.</a:t>
            </a:r>
            <a:endParaRPr lang="en-US" sz="1500" b="0" u="none" strike="noStrike">
              <a:solidFill>
                <a:srgbClr val="000000"/>
              </a:solidFill>
              <a:effectLst/>
              <a:uFillTx/>
              <a:latin typeface="Arial"/>
            </a:endParaRPr>
          </a:p>
        </p:txBody>
      </p:sp>
      <p:sp>
        <p:nvSpPr>
          <p:cNvPr id="863"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864"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5A6D40"/>
                </a:solidFill>
                <a:effectLst/>
                <a:uFillTx/>
                <a:latin typeface="Calibri"/>
                <a:ea typeface="Calibri"/>
              </a:rPr>
              <a:t>03</a:t>
            </a:r>
            <a:endParaRPr lang="en-US" sz="1200" b="0" u="none" strike="noStrike">
              <a:solidFill>
                <a:srgbClr val="000000"/>
              </a:solidFill>
              <a:effectLst/>
              <a:uFillTx/>
              <a:latin typeface="Arial"/>
            </a:endParaRPr>
          </a:p>
        </p:txBody>
      </p:sp>
      <p:sp>
        <p:nvSpPr>
          <p:cNvPr id="865"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public ceremony made the shared decision visible and reduced fear of acting alone.</a:t>
            </a:r>
            <a:endParaRPr lang="en-US" sz="1500" b="0" u="none" strike="noStrike">
              <a:solidFill>
                <a:srgbClr val="000000"/>
              </a:solidFill>
              <a:effectLst/>
              <a:uFillTx/>
              <a:latin typeface="Arial"/>
            </a:endParaRPr>
          </a:p>
        </p:txBody>
      </p:sp>
      <p:sp>
        <p:nvSpPr>
          <p:cNvPr id="866"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67"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68" name=""/>
          <p:cNvPicPr/>
          <p:nvPr/>
        </p:nvPicPr>
        <p:blipFill>
          <a:blip r:embed="rId1"/>
          <a:stretch/>
        </p:blipFill>
        <p:spPr>
          <a:xfrm>
            <a:off x="6712560" y="1752480"/>
            <a:ext cx="4253040" cy="3038040"/>
          </a:xfrm>
          <a:prstGeom prst="rect">
            <a:avLst/>
          </a:prstGeom>
          <a:noFill/>
          <a:ln w="0">
            <a:noFill/>
          </a:ln>
        </p:spPr>
      </p:pic>
      <p:sp>
        <p:nvSpPr>
          <p:cNvPr id="869"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Public declaration march, Mbour, Senegal, 2011 — Tostan</a:t>
            </a:r>
            <a:endParaRPr lang="en-US" sz="1130" b="0" u="none" strike="noStrike">
              <a:solidFill>
                <a:srgbClr val="000000"/>
              </a:solidFill>
              <a:effectLst/>
              <a:uFillTx/>
              <a:latin typeface="Arial"/>
            </a:endParaRPr>
          </a:p>
        </p:txBody>
      </p:sp>
      <p:sp>
        <p:nvSpPr>
          <p:cNvPr id="870"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1"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5A6D40"/>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872"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Cutting fell by more than half in participating villages over nearly a decade.</a:t>
            </a:r>
            <a:endParaRPr lang="en-US" sz="1280" b="0" u="none" strike="noStrike">
              <a:solidFill>
                <a:srgbClr val="000000"/>
              </a:solidFill>
              <a:effectLst/>
              <a:uFillTx/>
              <a:latin typeface="Arial"/>
            </a:endParaRPr>
          </a:p>
        </p:txBody>
      </p:sp>
      <p:sp>
        <p:nvSpPr>
          <p:cNvPr id="873"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4"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5A6D40"/>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875"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UNICEF 2008 study vs. comparison villages; not randomized; starting rates differed.</a:t>
            </a:r>
            <a:endParaRPr lang="en-US" sz="1200" b="0" u="none" strike="noStrike">
              <a:solidFill>
                <a:srgbClr val="000000"/>
              </a:solidFill>
              <a:effectLst/>
              <a:uFillTx/>
              <a:latin typeface="Arial"/>
            </a:endParaRPr>
          </a:p>
        </p:txBody>
      </p:sp>
      <p:sp>
        <p:nvSpPr>
          <p:cNvPr id="876"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877"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tostan.org  ·  excisionparlonsen.org</a:t>
            </a:r>
            <a:endParaRPr lang="en-US" sz="900" b="0" u="none" strike="noStrike">
              <a:solidFill>
                <a:srgbClr val="000000"/>
              </a:solidFill>
              <a:effectLst/>
              <a:uFillTx/>
              <a:latin typeface="Arial"/>
            </a:endParaRPr>
          </a:p>
        </p:txBody>
      </p:sp>
      <p:sp>
        <p:nvSpPr>
          <p:cNvPr id="878"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28</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879" name="PlaceHolder 1"/>
          <p:cNvSpPr>
            <a:spLocks noGrp="1"/>
          </p:cNvSpPr>
          <p:nvPr>
            <p:ph type="sldNum" idx="35"/>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880" name=""/>
          <p:cNvSpPr/>
          <p:nvPr/>
        </p:nvSpPr>
        <p:spPr>
          <a:xfrm>
            <a:off x="0" y="0"/>
            <a:ext cx="132840" cy="6857640"/>
          </a:xfrm>
          <a:prstGeom prst="rect">
            <a:avLst/>
          </a:prstGeom>
          <a:solidFill>
            <a:srgbClr val="5A6D40"/>
          </a:solidFill>
          <a:ln w="0">
            <a:solidFill>
              <a:srgbClr val="5A6D40"/>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81" name=""/>
          <p:cNvSpPr/>
          <p:nvPr/>
        </p:nvSpPr>
        <p:spPr>
          <a:xfrm>
            <a:off x="666720" y="447840"/>
            <a:ext cx="100962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5A6D40"/>
                </a:solidFill>
                <a:effectLst/>
                <a:uFillTx/>
                <a:latin typeface="Calibri"/>
                <a:ea typeface="Calibri"/>
              </a:rPr>
              <a:t>CLOSER LOOK  ·  1997 onward  ·  SENEGAL</a:t>
            </a:r>
            <a:endParaRPr lang="en-US" sz="1200" b="0" u="none" strike="noStrike">
              <a:solidFill>
                <a:srgbClr val="000000"/>
              </a:solidFill>
              <a:effectLst/>
              <a:uFillTx/>
              <a:latin typeface="Arial"/>
            </a:endParaRPr>
          </a:p>
        </p:txBody>
      </p:sp>
      <p:sp>
        <p:nvSpPr>
          <p:cNvPr id="882" name=""/>
          <p:cNvSpPr/>
          <p:nvPr/>
        </p:nvSpPr>
        <p:spPr>
          <a:xfrm>
            <a:off x="666720" y="91440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820" b="1" u="none" strike="noStrike">
                <a:solidFill>
                  <a:srgbClr val="17232B"/>
                </a:solidFill>
                <a:effectLst/>
                <a:uFillTx/>
                <a:latin typeface="Calibri"/>
                <a:ea typeface="Calibri"/>
              </a:rPr>
              <a:t>Tostan public declarations</a:t>
            </a:r>
            <a:endParaRPr lang="en-US" sz="3820" b="0" u="none" strike="noStrike">
              <a:solidFill>
                <a:srgbClr val="000000"/>
              </a:solidFill>
              <a:effectLst/>
              <a:uFillTx/>
              <a:latin typeface="Arial"/>
            </a:endParaRPr>
          </a:p>
        </p:txBody>
      </p:sp>
      <p:sp>
        <p:nvSpPr>
          <p:cNvPr id="883" name=""/>
          <p:cNvSpPr/>
          <p:nvPr/>
        </p:nvSpPr>
        <p:spPr>
          <a:xfrm>
            <a:off x="5905440" y="1685880"/>
            <a:ext cx="528588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5A6D40"/>
                </a:solidFill>
                <a:effectLst/>
                <a:uFillTx/>
                <a:latin typeface="Calibri"/>
                <a:ea typeface="Calibri"/>
              </a:rPr>
              <a:t>THE OPERATING CHAIN</a:t>
            </a:r>
            <a:endParaRPr lang="en-US" sz="1350" b="0" u="none" strike="noStrike">
              <a:solidFill>
                <a:srgbClr val="000000"/>
              </a:solidFill>
              <a:effectLst/>
              <a:uFillTx/>
              <a:latin typeface="Arial"/>
            </a:endParaRPr>
          </a:p>
        </p:txBody>
      </p:sp>
      <p:sp>
        <p:nvSpPr>
          <p:cNvPr id="884" name=""/>
          <p:cNvSpPr/>
          <p:nvPr/>
        </p:nvSpPr>
        <p:spPr>
          <a:xfrm>
            <a:off x="5905440" y="19810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5" name=""/>
          <p:cNvSpPr/>
          <p:nvPr/>
        </p:nvSpPr>
        <p:spPr>
          <a:xfrm>
            <a:off x="6067440" y="20667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5A6D40"/>
                </a:solidFill>
                <a:effectLst/>
                <a:uFillTx/>
                <a:latin typeface="Calibri"/>
                <a:ea typeface="Calibri"/>
              </a:rPr>
              <a:t>PREPARE</a:t>
            </a:r>
            <a:endParaRPr lang="en-US" sz="1050" b="0" u="none" strike="noStrike">
              <a:solidFill>
                <a:srgbClr val="000000"/>
              </a:solidFill>
              <a:effectLst/>
              <a:uFillTx/>
              <a:latin typeface="Arial"/>
            </a:endParaRPr>
          </a:p>
        </p:txBody>
      </p:sp>
      <p:sp>
        <p:nvSpPr>
          <p:cNvPr id="886" name=""/>
          <p:cNvSpPr/>
          <p:nvPr/>
        </p:nvSpPr>
        <p:spPr>
          <a:xfrm>
            <a:off x="6067440" y="22766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Community education gave people time to discuss health, rights, and the practice.</a:t>
            </a:r>
            <a:endParaRPr lang="en-US" sz="1430" b="0" u="none" strike="noStrike">
              <a:solidFill>
                <a:srgbClr val="000000"/>
              </a:solidFill>
              <a:effectLst/>
              <a:uFillTx/>
              <a:latin typeface="Arial"/>
            </a:endParaRPr>
          </a:p>
        </p:txBody>
      </p:sp>
      <p:sp>
        <p:nvSpPr>
          <p:cNvPr id="887" name=""/>
          <p:cNvSpPr/>
          <p:nvPr/>
        </p:nvSpPr>
        <p:spPr>
          <a:xfrm>
            <a:off x="5905440" y="281952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8" name=""/>
          <p:cNvSpPr/>
          <p:nvPr/>
        </p:nvSpPr>
        <p:spPr>
          <a:xfrm>
            <a:off x="6067440" y="290520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5A6D40"/>
                </a:solidFill>
                <a:effectLst/>
                <a:uFillTx/>
                <a:latin typeface="Calibri"/>
                <a:ea typeface="Calibri"/>
              </a:rPr>
              <a:t>CONNECT</a:t>
            </a:r>
            <a:endParaRPr lang="en-US" sz="1050" b="0" u="none" strike="noStrike">
              <a:solidFill>
                <a:srgbClr val="000000"/>
              </a:solidFill>
              <a:effectLst/>
              <a:uFillTx/>
              <a:latin typeface="Arial"/>
            </a:endParaRPr>
          </a:p>
        </p:txBody>
      </p:sp>
      <p:sp>
        <p:nvSpPr>
          <p:cNvPr id="889" name=""/>
          <p:cNvSpPr/>
          <p:nvPr/>
        </p:nvSpPr>
        <p:spPr>
          <a:xfrm>
            <a:off x="6067440" y="311472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Villages linked through marriage met before making a joint commitment.</a:t>
            </a:r>
            <a:endParaRPr lang="en-US" sz="1430" b="0" u="none" strike="noStrike">
              <a:solidFill>
                <a:srgbClr val="000000"/>
              </a:solidFill>
              <a:effectLst/>
              <a:uFillTx/>
              <a:latin typeface="Arial"/>
            </a:endParaRPr>
          </a:p>
        </p:txBody>
      </p:sp>
      <p:sp>
        <p:nvSpPr>
          <p:cNvPr id="890" name=""/>
          <p:cNvSpPr/>
          <p:nvPr/>
        </p:nvSpPr>
        <p:spPr>
          <a:xfrm>
            <a:off x="5905440" y="365760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1" name=""/>
          <p:cNvSpPr/>
          <p:nvPr/>
        </p:nvSpPr>
        <p:spPr>
          <a:xfrm>
            <a:off x="6067440" y="374328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5A6D40"/>
                </a:solidFill>
                <a:effectLst/>
                <a:uFillTx/>
                <a:latin typeface="Calibri"/>
                <a:ea typeface="Calibri"/>
              </a:rPr>
              <a:t>DECLARE</a:t>
            </a:r>
            <a:endParaRPr lang="en-US" sz="1050" b="0" u="none" strike="noStrike">
              <a:solidFill>
                <a:srgbClr val="000000"/>
              </a:solidFill>
              <a:effectLst/>
              <a:uFillTx/>
              <a:latin typeface="Arial"/>
            </a:endParaRPr>
          </a:p>
        </p:txBody>
      </p:sp>
      <p:sp>
        <p:nvSpPr>
          <p:cNvPr id="892" name=""/>
          <p:cNvSpPr/>
          <p:nvPr/>
        </p:nvSpPr>
        <p:spPr>
          <a:xfrm>
            <a:off x="6067440" y="395280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430" b="0" u="none" strike="noStrike">
                <a:solidFill>
                  <a:srgbClr val="17232B"/>
                </a:solidFill>
                <a:effectLst/>
                <a:uFillTx/>
                <a:latin typeface="Calibri"/>
                <a:ea typeface="Calibri"/>
              </a:rPr>
              <a:t>Representatives announced the collective decision in public.</a:t>
            </a:r>
            <a:endParaRPr lang="en-US" sz="1430" b="0" u="none" strike="noStrike">
              <a:solidFill>
                <a:srgbClr val="000000"/>
              </a:solidFill>
              <a:effectLst/>
              <a:uFillTx/>
              <a:latin typeface="Arial"/>
            </a:endParaRPr>
          </a:p>
        </p:txBody>
      </p:sp>
      <p:sp>
        <p:nvSpPr>
          <p:cNvPr id="893" name=""/>
          <p:cNvSpPr/>
          <p:nvPr/>
        </p:nvSpPr>
        <p:spPr>
          <a:xfrm>
            <a:off x="5905440" y="44956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4" name=""/>
          <p:cNvSpPr/>
          <p:nvPr/>
        </p:nvSpPr>
        <p:spPr>
          <a:xfrm>
            <a:off x="6067440" y="45813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5A6D40"/>
                </a:solidFill>
                <a:effectLst/>
                <a:uFillTx/>
                <a:latin typeface="Calibri"/>
                <a:ea typeface="Calibri"/>
              </a:rPr>
              <a:t>SUSTAIN</a:t>
            </a:r>
            <a:endParaRPr lang="en-US" sz="1050" b="0" u="none" strike="noStrike">
              <a:solidFill>
                <a:srgbClr val="000000"/>
              </a:solidFill>
              <a:effectLst/>
              <a:uFillTx/>
              <a:latin typeface="Arial"/>
            </a:endParaRPr>
          </a:p>
        </p:txBody>
      </p:sp>
      <p:sp>
        <p:nvSpPr>
          <p:cNvPr id="895" name=""/>
          <p:cNvSpPr/>
          <p:nvPr/>
        </p:nvSpPr>
        <p:spPr>
          <a:xfrm>
            <a:off x="6067440" y="47912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The public commitment signaled that families would not have to act alone.</a:t>
            </a:r>
            <a:endParaRPr lang="en-US" sz="1430" b="0" u="none" strike="noStrike">
              <a:solidFill>
                <a:srgbClr val="000000"/>
              </a:solidFill>
              <a:effectLst/>
              <a:uFillTx/>
              <a:latin typeface="Arial"/>
            </a:endParaRPr>
          </a:p>
        </p:txBody>
      </p:sp>
      <p:sp>
        <p:nvSpPr>
          <p:cNvPr id="896" name=""/>
          <p:cNvSpPr/>
          <p:nvPr/>
        </p:nvSpPr>
        <p:spPr>
          <a:xfrm>
            <a:off x="666720" y="1666800"/>
            <a:ext cx="4952520" cy="3676320"/>
          </a:xfrm>
          <a:prstGeom prst="roundRect">
            <a:avLst>
              <a:gd name="adj" fmla="val 2073"/>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7" name=""/>
          <p:cNvSpPr/>
          <p:nvPr/>
        </p:nvSpPr>
        <p:spPr>
          <a:xfrm>
            <a:off x="819000" y="1819440"/>
            <a:ext cx="4647960" cy="2904840"/>
          </a:xfrm>
          <a:prstGeom prst="roundRect">
            <a:avLst>
              <a:gd name="adj" fmla="val 2623"/>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98" name=""/>
          <p:cNvPicPr/>
          <p:nvPr/>
        </p:nvPicPr>
        <p:blipFill>
          <a:blip r:embed="rId1"/>
          <a:stretch/>
        </p:blipFill>
        <p:spPr>
          <a:xfrm>
            <a:off x="895320" y="2295360"/>
            <a:ext cx="4495320" cy="1952640"/>
          </a:xfrm>
          <a:prstGeom prst="rect">
            <a:avLst/>
          </a:prstGeom>
          <a:noFill/>
          <a:ln w="0">
            <a:noFill/>
          </a:ln>
        </p:spPr>
      </p:pic>
      <p:sp>
        <p:nvSpPr>
          <p:cNvPr id="899" name=""/>
          <p:cNvSpPr/>
          <p:nvPr/>
        </p:nvSpPr>
        <p:spPr>
          <a:xfrm>
            <a:off x="847800" y="4829040"/>
            <a:ext cx="460980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Community meeting, Keur Simbara, Senegal, 2013 — DFID (CC BY 2.0)</a:t>
            </a:r>
            <a:endParaRPr lang="en-US" sz="1130" b="0" u="none" strike="noStrike">
              <a:solidFill>
                <a:srgbClr val="000000"/>
              </a:solidFill>
              <a:effectLst/>
              <a:uFillTx/>
              <a:latin typeface="Arial"/>
            </a:endParaRPr>
          </a:p>
        </p:txBody>
      </p:sp>
      <p:sp>
        <p:nvSpPr>
          <p:cNvPr id="900" name=""/>
          <p:cNvSpPr/>
          <p:nvPr/>
        </p:nvSpPr>
        <p:spPr>
          <a:xfrm>
            <a:off x="666720" y="5495760"/>
            <a:ext cx="10858320" cy="847440"/>
          </a:xfrm>
          <a:prstGeom prst="roundRect">
            <a:avLst>
              <a:gd name="adj" fmla="val 8989"/>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01" name=""/>
          <p:cNvSpPr/>
          <p:nvPr/>
        </p:nvSpPr>
        <p:spPr>
          <a:xfrm>
            <a:off x="838080" y="5610240"/>
            <a:ext cx="2571480" cy="2091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5A6D40"/>
                </a:solidFill>
                <a:effectLst/>
                <a:uFillTx/>
                <a:latin typeface="Calibri"/>
                <a:ea typeface="Calibri"/>
              </a:rPr>
              <a:t>DESIGN LESSON</a:t>
            </a:r>
            <a:endParaRPr lang="en-US" sz="1130" b="0" u="none" strike="noStrike">
              <a:solidFill>
                <a:srgbClr val="000000"/>
              </a:solidFill>
              <a:effectLst/>
              <a:uFillTx/>
              <a:latin typeface="Arial"/>
            </a:endParaRPr>
          </a:p>
        </p:txBody>
      </p:sp>
      <p:sp>
        <p:nvSpPr>
          <p:cNvPr id="902" name=""/>
          <p:cNvSpPr/>
          <p:nvPr/>
        </p:nvSpPr>
        <p:spPr>
          <a:xfrm>
            <a:off x="838080" y="5867280"/>
            <a:ext cx="1028664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declaration becomes useful after the connected groups have reached the same decision.</a:t>
            </a:r>
            <a:endParaRPr lang="en-US" sz="1500" b="0" u="none" strike="noStrike">
              <a:solidFill>
                <a:srgbClr val="000000"/>
              </a:solidFill>
              <a:effectLst/>
              <a:uFillTx/>
              <a:latin typeface="Arial"/>
            </a:endParaRPr>
          </a:p>
        </p:txBody>
      </p:sp>
      <p:sp>
        <p:nvSpPr>
          <p:cNvPr id="903"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04"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tostan.org  ·  excisionparlonsen.org</a:t>
            </a:r>
            <a:endParaRPr lang="en-US" sz="900" b="0" u="none" strike="noStrike">
              <a:solidFill>
                <a:srgbClr val="000000"/>
              </a:solidFill>
              <a:effectLst/>
              <a:uFillTx/>
              <a:latin typeface="Arial"/>
            </a:endParaRPr>
          </a:p>
        </p:txBody>
      </p:sp>
      <p:sp>
        <p:nvSpPr>
          <p:cNvPr id="905"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29</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906" name="PlaceHolder 1"/>
          <p:cNvSpPr>
            <a:spLocks noGrp="1"/>
          </p:cNvSpPr>
          <p:nvPr>
            <p:ph type="sldNum" idx="36"/>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907"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08"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20 / 35</a:t>
            </a:r>
            <a:endParaRPr lang="en-US" sz="1200" b="0" u="none" strike="noStrike">
              <a:solidFill>
                <a:srgbClr val="000000"/>
              </a:solidFill>
              <a:effectLst/>
              <a:uFillTx/>
              <a:latin typeface="Arial"/>
            </a:endParaRPr>
          </a:p>
        </p:txBody>
      </p:sp>
      <p:sp>
        <p:nvSpPr>
          <p:cNvPr id="909"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UNITED STATES</a:t>
            </a:r>
            <a:endParaRPr lang="en-US" sz="1200" b="0" u="none" strike="noStrike">
              <a:solidFill>
                <a:srgbClr val="000000"/>
              </a:solidFill>
              <a:effectLst/>
              <a:uFillTx/>
              <a:latin typeface="Arial"/>
            </a:endParaRPr>
          </a:p>
        </p:txBody>
      </p:sp>
      <p:sp>
        <p:nvSpPr>
          <p:cNvPr id="910"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1998</a:t>
            </a:r>
            <a:endParaRPr lang="en-US" sz="1350" b="0" u="none" strike="noStrike">
              <a:solidFill>
                <a:srgbClr val="000000"/>
              </a:solidFill>
              <a:effectLst/>
              <a:uFillTx/>
              <a:latin typeface="Arial"/>
            </a:endParaRPr>
          </a:p>
        </p:txBody>
      </p:sp>
      <p:sp>
        <p:nvSpPr>
          <p:cNvPr id="911"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Rap-It-Up</a:t>
            </a:r>
            <a:endParaRPr lang="en-US" sz="3600" b="0" u="none" strike="noStrike">
              <a:solidFill>
                <a:srgbClr val="000000"/>
              </a:solidFill>
              <a:effectLst/>
              <a:uFillTx/>
              <a:latin typeface="Arial"/>
            </a:endParaRPr>
          </a:p>
        </p:txBody>
      </p:sp>
      <p:sp>
        <p:nvSpPr>
          <p:cNvPr id="912"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913"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914"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915"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HIV questions could stay unspoken</a:t>
            </a:r>
            <a:endParaRPr lang="en-US" sz="1350" b="0" u="none" strike="noStrike">
              <a:solidFill>
                <a:srgbClr val="000000"/>
              </a:solidFill>
              <a:effectLst/>
              <a:uFillTx/>
              <a:latin typeface="Arial"/>
            </a:endParaRPr>
          </a:p>
        </p:txBody>
      </p:sp>
      <p:sp>
        <p:nvSpPr>
          <p:cNvPr id="916"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917"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Young viewers could ask and seek testing</a:t>
            </a:r>
            <a:endParaRPr lang="en-US" sz="1350" b="0" u="none" strike="noStrike">
              <a:solidFill>
                <a:srgbClr val="000000"/>
              </a:solidFill>
              <a:effectLst/>
              <a:uFillTx/>
              <a:latin typeface="Arial"/>
            </a:endParaRPr>
          </a:p>
        </p:txBody>
      </p:sp>
      <p:sp>
        <p:nvSpPr>
          <p:cNvPr id="918"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19"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920"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921"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BET carried messages through entertainment and short announcements.</a:t>
            </a:r>
            <a:endParaRPr lang="en-US" sz="1500" b="0" u="none" strike="noStrike">
              <a:solidFill>
                <a:srgbClr val="000000"/>
              </a:solidFill>
              <a:effectLst/>
              <a:uFillTx/>
              <a:latin typeface="Arial"/>
            </a:endParaRPr>
          </a:p>
        </p:txBody>
      </p:sp>
      <p:sp>
        <p:nvSpPr>
          <p:cNvPr id="922"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23"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924"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Kaiser and BET co-produced HIV messages aimed at Black viewers.</a:t>
            </a:r>
            <a:endParaRPr lang="en-US" sz="1500" b="0" u="none" strike="noStrike">
              <a:solidFill>
                <a:srgbClr val="000000"/>
              </a:solidFill>
              <a:effectLst/>
              <a:uFillTx/>
              <a:latin typeface="Arial"/>
            </a:endParaRPr>
          </a:p>
        </p:txBody>
      </p:sp>
      <p:sp>
        <p:nvSpPr>
          <p:cNvPr id="925"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26"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927"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Ads pointed to a free phone line and website with testing-center information.</a:t>
            </a:r>
            <a:endParaRPr lang="en-US" sz="1500" b="0" u="none" strike="noStrike">
              <a:solidFill>
                <a:srgbClr val="000000"/>
              </a:solidFill>
              <a:effectLst/>
              <a:uFillTx/>
              <a:latin typeface="Arial"/>
            </a:endParaRPr>
          </a:p>
        </p:txBody>
      </p:sp>
      <p:sp>
        <p:nvSpPr>
          <p:cNvPr id="928"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29"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30" name=""/>
          <p:cNvPicPr/>
          <p:nvPr/>
        </p:nvPicPr>
        <p:blipFill>
          <a:blip r:embed="rId1"/>
          <a:stretch/>
        </p:blipFill>
        <p:spPr>
          <a:xfrm>
            <a:off x="6873120" y="1752480"/>
            <a:ext cx="3931920" cy="3038040"/>
          </a:xfrm>
          <a:prstGeom prst="rect">
            <a:avLst/>
          </a:prstGeom>
          <a:noFill/>
          <a:ln w="0">
            <a:noFill/>
          </a:ln>
        </p:spPr>
      </p:pic>
      <p:sp>
        <p:nvSpPr>
          <p:cNvPr id="931"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Rap-It-Up PSA with hotline number, early 2000s — BET/KFF</a:t>
            </a:r>
            <a:endParaRPr lang="en-US" sz="1130" b="0" u="none" strike="noStrike">
              <a:solidFill>
                <a:srgbClr val="000000"/>
              </a:solidFill>
              <a:effectLst/>
              <a:uFillTx/>
              <a:latin typeface="Arial"/>
            </a:endParaRPr>
          </a:p>
        </p:txBody>
      </p:sp>
      <p:sp>
        <p:nvSpPr>
          <p:cNvPr id="932"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33"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934"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In a survey, 84% of young Black adults had seen some part of the BET campaign.</a:t>
            </a:r>
            <a:endParaRPr lang="en-US" sz="1280" b="0" u="none" strike="noStrike">
              <a:solidFill>
                <a:srgbClr val="000000"/>
              </a:solidFill>
              <a:effectLst/>
              <a:uFillTx/>
              <a:latin typeface="Arial"/>
            </a:endParaRPr>
          </a:p>
        </p:txBody>
      </p:sp>
      <p:sp>
        <p:nvSpPr>
          <p:cNvPr id="935"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36"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937"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Audience survey; reach, not behavior change.</a:t>
            </a:r>
            <a:endParaRPr lang="en-US" sz="1200" b="0" u="none" strike="noStrike">
              <a:solidFill>
                <a:srgbClr val="000000"/>
              </a:solidFill>
              <a:effectLst/>
              <a:uFillTx/>
              <a:latin typeface="Arial"/>
            </a:endParaRPr>
          </a:p>
        </p:txBody>
      </p:sp>
      <p:sp>
        <p:nvSpPr>
          <p:cNvPr id="938"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39"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kff.org  ·  youtube.com</a:t>
            </a:r>
            <a:endParaRPr lang="en-US" sz="900" b="0" u="none" strike="noStrike">
              <a:solidFill>
                <a:srgbClr val="000000"/>
              </a:solidFill>
              <a:effectLst/>
              <a:uFillTx/>
              <a:latin typeface="Arial"/>
            </a:endParaRPr>
          </a:p>
        </p:txBody>
      </p:sp>
      <p:sp>
        <p:nvSpPr>
          <p:cNvPr id="940"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30</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941" name="PlaceHolder 1"/>
          <p:cNvSpPr>
            <a:spLocks noGrp="1"/>
          </p:cNvSpPr>
          <p:nvPr>
            <p:ph type="sldNum" idx="37"/>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942" name=""/>
          <p:cNvSpPr/>
          <p:nvPr/>
        </p:nvSpPr>
        <p:spPr>
          <a:xfrm>
            <a:off x="0" y="0"/>
            <a:ext cx="132840" cy="685764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43"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21 / 35</a:t>
            </a:r>
            <a:endParaRPr lang="en-US" sz="1200" b="0" u="none" strike="noStrike">
              <a:solidFill>
                <a:srgbClr val="000000"/>
              </a:solidFill>
              <a:effectLst/>
              <a:uFillTx/>
              <a:latin typeface="Arial"/>
            </a:endParaRPr>
          </a:p>
        </p:txBody>
      </p:sp>
      <p:sp>
        <p:nvSpPr>
          <p:cNvPr id="944"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PUBLIC CAMPAIGN  ·  UNITED STATES</a:t>
            </a:r>
            <a:endParaRPr lang="en-US" sz="1200" b="0" u="none" strike="noStrike">
              <a:solidFill>
                <a:srgbClr val="000000"/>
              </a:solidFill>
              <a:effectLst/>
              <a:uFillTx/>
              <a:latin typeface="Arial"/>
            </a:endParaRPr>
          </a:p>
        </p:txBody>
      </p:sp>
      <p:sp>
        <p:nvSpPr>
          <p:cNvPr id="945"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2000</a:t>
            </a:r>
            <a:endParaRPr lang="en-US" sz="1350" b="0" u="none" strike="noStrike">
              <a:solidFill>
                <a:srgbClr val="000000"/>
              </a:solidFill>
              <a:effectLst/>
              <a:uFillTx/>
              <a:latin typeface="Arial"/>
            </a:endParaRPr>
          </a:p>
        </p:txBody>
      </p:sp>
      <p:sp>
        <p:nvSpPr>
          <p:cNvPr id="946"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truth</a:t>
            </a:r>
            <a:endParaRPr lang="en-US" sz="3600" b="0" u="none" strike="noStrike">
              <a:solidFill>
                <a:srgbClr val="000000"/>
              </a:solidFill>
              <a:effectLst/>
              <a:uFillTx/>
              <a:latin typeface="Arial"/>
            </a:endParaRPr>
          </a:p>
        </p:txBody>
      </p:sp>
      <p:sp>
        <p:nvSpPr>
          <p:cNvPr id="947" name=""/>
          <p:cNvSpPr/>
          <p:nvPr/>
        </p:nvSpPr>
        <p:spPr>
          <a:xfrm>
            <a:off x="666720" y="1609560"/>
            <a:ext cx="5181120" cy="18720"/>
          </a:xfrm>
          <a:prstGeom prst="rect">
            <a:avLst/>
          </a:prstGeom>
          <a:solidFill>
            <a:srgbClr val="235C77"/>
          </a:solidFill>
          <a:ln w="0">
            <a:solidFill>
              <a:srgbClr val="235C77"/>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948"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949"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950"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Smoking could signal independence</a:t>
            </a:r>
            <a:endParaRPr lang="en-US" sz="1350" b="0" u="none" strike="noStrike">
              <a:solidFill>
                <a:srgbClr val="000000"/>
              </a:solidFill>
              <a:effectLst/>
              <a:uFillTx/>
              <a:latin typeface="Arial"/>
            </a:endParaRPr>
          </a:p>
        </p:txBody>
      </p:sp>
      <p:sp>
        <p:nvSpPr>
          <p:cNvPr id="951"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952"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Rejecting tobacco could signal independence</a:t>
            </a:r>
            <a:endParaRPr lang="en-US" sz="1350" b="0" u="none" strike="noStrike">
              <a:solidFill>
                <a:srgbClr val="000000"/>
              </a:solidFill>
              <a:effectLst/>
              <a:uFillTx/>
              <a:latin typeface="Arial"/>
            </a:endParaRPr>
          </a:p>
        </p:txBody>
      </p:sp>
      <p:sp>
        <p:nvSpPr>
          <p:cNvPr id="953"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54"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955"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01</a:t>
            </a:r>
            <a:endParaRPr lang="en-US" sz="1200" b="0" u="none" strike="noStrike">
              <a:solidFill>
                <a:srgbClr val="000000"/>
              </a:solidFill>
              <a:effectLst/>
              <a:uFillTx/>
              <a:latin typeface="Arial"/>
            </a:endParaRPr>
          </a:p>
        </p:txBody>
      </p:sp>
      <p:sp>
        <p:nvSpPr>
          <p:cNvPr id="956"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Youth-oriented ads exposed the tobacco industry’s conduct.</a:t>
            </a:r>
            <a:endParaRPr lang="en-US" sz="1500" b="0" u="none" strike="noStrike">
              <a:solidFill>
                <a:srgbClr val="000000"/>
              </a:solidFill>
              <a:effectLst/>
              <a:uFillTx/>
              <a:latin typeface="Arial"/>
            </a:endParaRPr>
          </a:p>
        </p:txBody>
      </p:sp>
      <p:sp>
        <p:nvSpPr>
          <p:cNvPr id="957"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58"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02</a:t>
            </a:r>
            <a:endParaRPr lang="en-US" sz="1200" b="0" u="none" strike="noStrike">
              <a:solidFill>
                <a:srgbClr val="000000"/>
              </a:solidFill>
              <a:effectLst/>
              <a:uFillTx/>
              <a:latin typeface="Arial"/>
            </a:endParaRPr>
          </a:p>
        </p:txBody>
      </p:sp>
      <p:sp>
        <p:nvSpPr>
          <p:cNvPr id="959"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One brand voice, not adult warnings, cast rejecting tobacco as independence.</a:t>
            </a:r>
            <a:endParaRPr lang="en-US" sz="1500" b="0" u="none" strike="noStrike">
              <a:solidFill>
                <a:srgbClr val="000000"/>
              </a:solidFill>
              <a:effectLst/>
              <a:uFillTx/>
              <a:latin typeface="Arial"/>
            </a:endParaRPr>
          </a:p>
        </p:txBody>
      </p:sp>
      <p:sp>
        <p:nvSpPr>
          <p:cNvPr id="960"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61"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03</a:t>
            </a:r>
            <a:endParaRPr lang="en-US" sz="1200" b="0" u="none" strike="noStrike">
              <a:solidFill>
                <a:srgbClr val="000000"/>
              </a:solidFill>
              <a:effectLst/>
              <a:uFillTx/>
              <a:latin typeface="Arial"/>
            </a:endParaRPr>
          </a:p>
        </p:txBody>
      </p:sp>
      <p:sp>
        <p:nvSpPr>
          <p:cNvPr id="962"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campaign kept evolving: new ads, a website, events, and summer tours.</a:t>
            </a:r>
            <a:endParaRPr lang="en-US" sz="1500" b="0" u="none" strike="noStrike">
              <a:solidFill>
                <a:srgbClr val="000000"/>
              </a:solidFill>
              <a:effectLst/>
              <a:uFillTx/>
              <a:latin typeface="Arial"/>
            </a:endParaRPr>
          </a:p>
        </p:txBody>
      </p:sp>
      <p:sp>
        <p:nvSpPr>
          <p:cNvPr id="963"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4"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65" name=""/>
          <p:cNvPicPr/>
          <p:nvPr/>
        </p:nvPicPr>
        <p:blipFill>
          <a:blip r:embed="rId1"/>
          <a:stretch/>
        </p:blipFill>
        <p:spPr>
          <a:xfrm>
            <a:off x="6813720" y="1752480"/>
            <a:ext cx="4051080" cy="3038040"/>
          </a:xfrm>
          <a:prstGeom prst="rect">
            <a:avLst/>
          </a:prstGeom>
          <a:noFill/>
          <a:ln w="0">
            <a:noFill/>
          </a:ln>
        </p:spPr>
      </p:pic>
      <p:sp>
        <p:nvSpPr>
          <p:cNvPr id="966"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'Body Bags' truth TV spot, 2000 - American Legacy Foundation</a:t>
            </a:r>
            <a:endParaRPr lang="en-US" sz="1130" b="0" u="none" strike="noStrike">
              <a:solidFill>
                <a:srgbClr val="000000"/>
              </a:solidFill>
              <a:effectLst/>
              <a:uFillTx/>
              <a:latin typeface="Arial"/>
            </a:endParaRPr>
          </a:p>
        </p:txBody>
      </p:sp>
      <p:sp>
        <p:nvSpPr>
          <p:cNvPr id="967"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8"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969"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By 2002, researchers estimated about 300,000 fewer youth smokers than there would have been without truth.</a:t>
            </a:r>
            <a:endParaRPr lang="en-US" sz="1280" b="0" u="none" strike="noStrike">
              <a:solidFill>
                <a:srgbClr val="000000"/>
              </a:solidFill>
              <a:effectLst/>
              <a:uFillTx/>
              <a:latin typeface="Arial"/>
            </a:endParaRPr>
          </a:p>
        </p:txBody>
      </p:sp>
      <p:sp>
        <p:nvSpPr>
          <p:cNvPr id="970"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1"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972"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Estimate linking school survey trends to ad exposure by market; not a trial.</a:t>
            </a:r>
            <a:endParaRPr lang="en-US" sz="1200" b="0" u="none" strike="noStrike">
              <a:solidFill>
                <a:srgbClr val="000000"/>
              </a:solidFill>
              <a:effectLst/>
              <a:uFillTx/>
              <a:latin typeface="Arial"/>
            </a:endParaRPr>
          </a:p>
        </p:txBody>
      </p:sp>
      <p:sp>
        <p:nvSpPr>
          <p:cNvPr id="973"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74"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truthinitiative.org  ·  thensmc.com  ·  crimesolutions.ojp.gov</a:t>
            </a:r>
            <a:endParaRPr lang="en-US" sz="900" b="0" u="none" strike="noStrike">
              <a:solidFill>
                <a:srgbClr val="000000"/>
              </a:solidFill>
              <a:effectLst/>
              <a:uFillTx/>
              <a:latin typeface="Arial"/>
            </a:endParaRPr>
          </a:p>
        </p:txBody>
      </p:sp>
      <p:sp>
        <p:nvSpPr>
          <p:cNvPr id="975"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31</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976" name="PlaceHolder 1"/>
          <p:cNvSpPr>
            <a:spLocks noGrp="1"/>
          </p:cNvSpPr>
          <p:nvPr>
            <p:ph type="sldNum" idx="38"/>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977"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78"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22 / 35</a:t>
            </a:r>
            <a:endParaRPr lang="en-US" sz="1200" b="0" u="none" strike="noStrike">
              <a:solidFill>
                <a:srgbClr val="000000"/>
              </a:solidFill>
              <a:effectLst/>
              <a:uFillTx/>
              <a:latin typeface="Arial"/>
            </a:endParaRPr>
          </a:p>
        </p:txBody>
      </p:sp>
      <p:sp>
        <p:nvSpPr>
          <p:cNvPr id="979"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NICARAGUA</a:t>
            </a:r>
            <a:endParaRPr lang="en-US" sz="1200" b="0" u="none" strike="noStrike">
              <a:solidFill>
                <a:srgbClr val="000000"/>
              </a:solidFill>
              <a:effectLst/>
              <a:uFillTx/>
              <a:latin typeface="Arial"/>
            </a:endParaRPr>
          </a:p>
        </p:txBody>
      </p:sp>
      <p:sp>
        <p:nvSpPr>
          <p:cNvPr id="980"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2001</a:t>
            </a:r>
            <a:endParaRPr lang="en-US" sz="1350" b="0" u="none" strike="noStrike">
              <a:solidFill>
                <a:srgbClr val="000000"/>
              </a:solidFill>
              <a:effectLst/>
              <a:uFillTx/>
              <a:latin typeface="Arial"/>
            </a:endParaRPr>
          </a:p>
        </p:txBody>
      </p:sp>
      <p:sp>
        <p:nvSpPr>
          <p:cNvPr id="981"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Sexto Sentido</a:t>
            </a:r>
            <a:endParaRPr lang="en-US" sz="3600" b="0" u="none" strike="noStrike">
              <a:solidFill>
                <a:srgbClr val="000000"/>
              </a:solidFill>
              <a:effectLst/>
              <a:uFillTx/>
              <a:latin typeface="Arial"/>
            </a:endParaRPr>
          </a:p>
        </p:txBody>
      </p:sp>
      <p:sp>
        <p:nvSpPr>
          <p:cNvPr id="982"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983"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984"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985"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Sensitive topics stayed private</a:t>
            </a:r>
            <a:endParaRPr lang="en-US" sz="1350" b="0" u="none" strike="noStrike">
              <a:solidFill>
                <a:srgbClr val="000000"/>
              </a:solidFill>
              <a:effectLst/>
              <a:uFillTx/>
              <a:latin typeface="Arial"/>
            </a:endParaRPr>
          </a:p>
        </p:txBody>
      </p:sp>
      <p:sp>
        <p:nvSpPr>
          <p:cNvPr id="986"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987"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Young people could talk and seek help</a:t>
            </a:r>
            <a:endParaRPr lang="en-US" sz="1350" b="0" u="none" strike="noStrike">
              <a:solidFill>
                <a:srgbClr val="000000"/>
              </a:solidFill>
              <a:effectLst/>
              <a:uFillTx/>
              <a:latin typeface="Arial"/>
            </a:endParaRPr>
          </a:p>
        </p:txBody>
      </p:sp>
      <p:sp>
        <p:nvSpPr>
          <p:cNvPr id="988"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89"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990"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991"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weekly TV soap wove storylines on sexuality, gender violence, and HIV.</a:t>
            </a:r>
            <a:endParaRPr lang="en-US" sz="1500" b="0" u="none" strike="noStrike">
              <a:solidFill>
                <a:srgbClr val="000000"/>
              </a:solidFill>
              <a:effectLst/>
              <a:uFillTx/>
              <a:latin typeface="Arial"/>
            </a:endParaRPr>
          </a:p>
        </p:txBody>
      </p:sp>
      <p:sp>
        <p:nvSpPr>
          <p:cNvPr id="992"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93"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994"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nightly youth call-in radio show and local youth training took the TV issues further.</a:t>
            </a:r>
            <a:endParaRPr lang="en-US" sz="1500" b="0" u="none" strike="noStrike">
              <a:solidFill>
                <a:srgbClr val="000000"/>
              </a:solidFill>
              <a:effectLst/>
              <a:uFillTx/>
              <a:latin typeface="Arial"/>
            </a:endParaRPr>
          </a:p>
        </p:txBody>
      </p:sp>
      <p:sp>
        <p:nvSpPr>
          <p:cNvPr id="995"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96"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997"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program sought discussion and service use, not viewing alone.</a:t>
            </a:r>
            <a:endParaRPr lang="en-US" sz="1500" b="0" u="none" strike="noStrike">
              <a:solidFill>
                <a:srgbClr val="000000"/>
              </a:solidFill>
              <a:effectLst/>
              <a:uFillTx/>
              <a:latin typeface="Arial"/>
            </a:endParaRPr>
          </a:p>
        </p:txBody>
      </p:sp>
      <p:sp>
        <p:nvSpPr>
          <p:cNvPr id="998"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99"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000" name=""/>
          <p:cNvPicPr/>
          <p:nvPr/>
        </p:nvPicPr>
        <p:blipFill>
          <a:blip r:embed="rId1"/>
          <a:stretch/>
        </p:blipFill>
        <p:spPr>
          <a:xfrm>
            <a:off x="6662880" y="1752480"/>
            <a:ext cx="4352040" cy="3038040"/>
          </a:xfrm>
          <a:prstGeom prst="rect">
            <a:avLst/>
          </a:prstGeom>
          <a:noFill/>
          <a:ln w="0">
            <a:noFill/>
          </a:ln>
        </p:spPr>
      </p:pic>
      <p:sp>
        <p:nvSpPr>
          <p:cNvPr id="1001"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Sexto Sentido cast, c. 2001-05 - Puntos de Encuentro</a:t>
            </a:r>
            <a:endParaRPr lang="en-US" sz="1130" b="0" u="none" strike="noStrike">
              <a:solidFill>
                <a:srgbClr val="000000"/>
              </a:solidFill>
              <a:effectLst/>
              <a:uFillTx/>
              <a:latin typeface="Arial"/>
            </a:endParaRPr>
          </a:p>
        </p:txBody>
      </p:sp>
      <p:sp>
        <p:nvSpPr>
          <p:cNvPr id="1002"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03"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004"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Youth who watched more talked more about HIV and violence, and were 48% likelier to seek help for violence.</a:t>
            </a:r>
            <a:endParaRPr lang="en-US" sz="1280" b="0" u="none" strike="noStrike">
              <a:solidFill>
                <a:srgbClr val="000000"/>
              </a:solidFill>
              <a:effectLst/>
              <a:uFillTx/>
              <a:latin typeface="Arial"/>
            </a:endParaRPr>
          </a:p>
        </p:txBody>
      </p:sp>
      <p:sp>
        <p:nvSpPr>
          <p:cNvPr id="1005"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06"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007"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Same youth surveyed yearly, 2003-05; heavier viewers may have been predisposed.</a:t>
            </a:r>
            <a:endParaRPr lang="en-US" sz="1200" b="0" u="none" strike="noStrike">
              <a:solidFill>
                <a:srgbClr val="000000"/>
              </a:solidFill>
              <a:effectLst/>
              <a:uFillTx/>
              <a:latin typeface="Arial"/>
            </a:endParaRPr>
          </a:p>
        </p:txBody>
      </p:sp>
      <p:sp>
        <p:nvSpPr>
          <p:cNvPr id="1008"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009"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web.archive.org  ·  knowledgecommons.popcouncil.org</a:t>
            </a:r>
            <a:endParaRPr lang="en-US" sz="900" b="0" u="none" strike="noStrike">
              <a:solidFill>
                <a:srgbClr val="000000"/>
              </a:solidFill>
              <a:effectLst/>
              <a:uFillTx/>
              <a:latin typeface="Arial"/>
            </a:endParaRPr>
          </a:p>
        </p:txBody>
      </p:sp>
      <p:sp>
        <p:nvSpPr>
          <p:cNvPr id="1010"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32</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011" name="PlaceHolder 1"/>
          <p:cNvSpPr>
            <a:spLocks noGrp="1"/>
          </p:cNvSpPr>
          <p:nvPr>
            <p:ph type="sldNum" idx="39"/>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012" name=""/>
          <p:cNvSpPr/>
          <p:nvPr/>
        </p:nvSpPr>
        <p:spPr>
          <a:xfrm>
            <a:off x="0" y="0"/>
            <a:ext cx="132840" cy="685764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13"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23 / 35</a:t>
            </a:r>
            <a:endParaRPr lang="en-US" sz="1200" b="0" u="none" strike="noStrike">
              <a:solidFill>
                <a:srgbClr val="000000"/>
              </a:solidFill>
              <a:effectLst/>
              <a:uFillTx/>
              <a:latin typeface="Arial"/>
            </a:endParaRPr>
          </a:p>
        </p:txBody>
      </p:sp>
      <p:sp>
        <p:nvSpPr>
          <p:cNvPr id="1014"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PUBLIC CAMPAIGN  ·  UNITED STATES</a:t>
            </a:r>
            <a:endParaRPr lang="en-US" sz="1200" b="0" u="none" strike="noStrike">
              <a:solidFill>
                <a:srgbClr val="000000"/>
              </a:solidFill>
              <a:effectLst/>
              <a:uFillTx/>
              <a:latin typeface="Arial"/>
            </a:endParaRPr>
          </a:p>
        </p:txBody>
      </p:sp>
      <p:sp>
        <p:nvSpPr>
          <p:cNvPr id="1015"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2002</a:t>
            </a:r>
            <a:endParaRPr lang="en-US" sz="1350" b="0" u="none" strike="noStrike">
              <a:solidFill>
                <a:srgbClr val="000000"/>
              </a:solidFill>
              <a:effectLst/>
              <a:uFillTx/>
              <a:latin typeface="Arial"/>
            </a:endParaRPr>
          </a:p>
        </p:txBody>
      </p:sp>
      <p:sp>
        <p:nvSpPr>
          <p:cNvPr id="1016"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VERB</a:t>
            </a:r>
            <a:endParaRPr lang="en-US" sz="3600" b="0" u="none" strike="noStrike">
              <a:solidFill>
                <a:srgbClr val="000000"/>
              </a:solidFill>
              <a:effectLst/>
              <a:uFillTx/>
              <a:latin typeface="Arial"/>
            </a:endParaRPr>
          </a:p>
        </p:txBody>
      </p:sp>
      <p:sp>
        <p:nvSpPr>
          <p:cNvPr id="1017" name=""/>
          <p:cNvSpPr/>
          <p:nvPr/>
        </p:nvSpPr>
        <p:spPr>
          <a:xfrm>
            <a:off x="666720" y="1609560"/>
            <a:ext cx="5181120" cy="18720"/>
          </a:xfrm>
          <a:prstGeom prst="rect">
            <a:avLst/>
          </a:prstGeom>
          <a:solidFill>
            <a:srgbClr val="235C77"/>
          </a:solidFill>
          <a:ln w="0">
            <a:solidFill>
              <a:srgbClr val="235C77"/>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018"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019"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020"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Activity messages leaned on health facts</a:t>
            </a:r>
            <a:endParaRPr lang="en-US" sz="1350" b="0" u="none" strike="noStrike">
              <a:solidFill>
                <a:srgbClr val="000000"/>
              </a:solidFill>
              <a:effectLst/>
              <a:uFillTx/>
              <a:latin typeface="Arial"/>
            </a:endParaRPr>
          </a:p>
        </p:txBody>
      </p:sp>
      <p:sp>
        <p:nvSpPr>
          <p:cNvPr id="1021"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022"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Children could find an activity they enjoyed</a:t>
            </a:r>
            <a:endParaRPr lang="en-US" sz="1350" b="0" u="none" strike="noStrike">
              <a:solidFill>
                <a:srgbClr val="000000"/>
              </a:solidFill>
              <a:effectLst/>
              <a:uFillTx/>
              <a:latin typeface="Arial"/>
            </a:endParaRPr>
          </a:p>
        </p:txBody>
      </p:sp>
      <p:sp>
        <p:nvSpPr>
          <p:cNvPr id="1023"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024"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025"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01</a:t>
            </a:r>
            <a:endParaRPr lang="en-US" sz="1200" b="0" u="none" strike="noStrike">
              <a:solidFill>
                <a:srgbClr val="000000"/>
              </a:solidFill>
              <a:effectLst/>
              <a:uFillTx/>
              <a:latin typeface="Arial"/>
            </a:endParaRPr>
          </a:p>
        </p:txBody>
      </p:sp>
      <p:sp>
        <p:nvSpPr>
          <p:cNvPr id="1026"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CDC asked 9- to 13-year-olds to discover activities they liked: “VERB. It’s what you do.”</a:t>
            </a:r>
            <a:endParaRPr lang="en-US" sz="1500" b="0" u="none" strike="noStrike">
              <a:solidFill>
                <a:srgbClr val="000000"/>
              </a:solidFill>
              <a:effectLst/>
              <a:uFillTx/>
              <a:latin typeface="Arial"/>
            </a:endParaRPr>
          </a:p>
        </p:txBody>
      </p:sp>
      <p:sp>
        <p:nvSpPr>
          <p:cNvPr id="1027"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028"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02</a:t>
            </a:r>
            <a:endParaRPr lang="en-US" sz="1200" b="0" u="none" strike="noStrike">
              <a:solidFill>
                <a:srgbClr val="000000"/>
              </a:solidFill>
              <a:effectLst/>
              <a:uFillTx/>
              <a:latin typeface="Arial"/>
            </a:endParaRPr>
          </a:p>
        </p:txBody>
      </p:sp>
      <p:sp>
        <p:nvSpPr>
          <p:cNvPr id="1029"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Children tested ads; paid placements reached them on TV, radio, and in print.</a:t>
            </a:r>
            <a:endParaRPr lang="en-US" sz="1500" b="0" u="none" strike="noStrike">
              <a:solidFill>
                <a:srgbClr val="000000"/>
              </a:solidFill>
              <a:effectLst/>
              <a:uFillTx/>
              <a:latin typeface="Arial"/>
            </a:endParaRPr>
          </a:p>
        </p:txBody>
      </p:sp>
      <p:sp>
        <p:nvSpPr>
          <p:cNvPr id="1030"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031"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03</a:t>
            </a:r>
            <a:endParaRPr lang="en-US" sz="1200" b="0" u="none" strike="noStrike">
              <a:solidFill>
                <a:srgbClr val="000000"/>
              </a:solidFill>
              <a:effectLst/>
              <a:uFillTx/>
              <a:latin typeface="Arial"/>
            </a:endParaRPr>
          </a:p>
        </p:txBody>
      </p:sp>
      <p:sp>
        <p:nvSpPr>
          <p:cNvPr id="1032"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Parents and local programs were enlisted to make activity easier to try.</a:t>
            </a:r>
            <a:endParaRPr lang="en-US" sz="1500" b="0" u="none" strike="noStrike">
              <a:solidFill>
                <a:srgbClr val="000000"/>
              </a:solidFill>
              <a:effectLst/>
              <a:uFillTx/>
              <a:latin typeface="Arial"/>
            </a:endParaRPr>
          </a:p>
        </p:txBody>
      </p:sp>
      <p:sp>
        <p:nvSpPr>
          <p:cNvPr id="1033"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34"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035" name=""/>
          <p:cNvPicPr/>
          <p:nvPr/>
        </p:nvPicPr>
        <p:blipFill>
          <a:blip r:embed="rId1"/>
          <a:stretch/>
        </p:blipFill>
        <p:spPr>
          <a:xfrm>
            <a:off x="6688440" y="1752480"/>
            <a:ext cx="4301280" cy="3038040"/>
          </a:xfrm>
          <a:prstGeom prst="rect">
            <a:avLst/>
          </a:prstGeom>
          <a:noFill/>
          <a:ln w="0">
            <a:noFill/>
          </a:ln>
        </p:spPr>
      </p:pic>
      <p:sp>
        <p:nvSpPr>
          <p:cNvPr id="1036"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'Hip-Hop Scotch' VERB print ad, 2003 - CDC</a:t>
            </a:r>
            <a:endParaRPr lang="en-US" sz="1130" b="0" u="none" strike="noStrike">
              <a:solidFill>
                <a:srgbClr val="000000"/>
              </a:solidFill>
              <a:effectLst/>
              <a:uFillTx/>
              <a:latin typeface="Arial"/>
            </a:endParaRPr>
          </a:p>
        </p:txBody>
      </p:sp>
      <p:sp>
        <p:nvSpPr>
          <p:cNvPr id="1037"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38"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039"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After one year, 9- and 10-year-olds aware of VERB reported 34% more free-time activity sessions a week than unaware peers.</a:t>
            </a:r>
            <a:endParaRPr lang="en-US" sz="1280" b="0" u="none" strike="noStrike">
              <a:solidFill>
                <a:srgbClr val="000000"/>
              </a:solidFill>
              <a:effectLst/>
              <a:uFillTx/>
              <a:latin typeface="Arial"/>
            </a:endParaRPr>
          </a:p>
        </p:txBody>
      </p:sp>
      <p:sp>
        <p:nvSpPr>
          <p:cNvPr id="1040"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1"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042"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Same children surveyed 2002 and 2003; aware vs. unaware; self-reported.</a:t>
            </a:r>
            <a:endParaRPr lang="en-US" sz="1200" b="0" u="none" strike="noStrike">
              <a:solidFill>
                <a:srgbClr val="000000"/>
              </a:solidFill>
              <a:effectLst/>
              <a:uFillTx/>
              <a:latin typeface="Arial"/>
            </a:endParaRPr>
          </a:p>
        </p:txBody>
      </p:sp>
      <p:sp>
        <p:nvSpPr>
          <p:cNvPr id="1043"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044"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cdc.gov  ·  web.archive.org  ·  pubmed.ncbi.nlm.nih.gov</a:t>
            </a:r>
            <a:endParaRPr lang="en-US" sz="900" b="0" u="none" strike="noStrike">
              <a:solidFill>
                <a:srgbClr val="000000"/>
              </a:solidFill>
              <a:effectLst/>
              <a:uFillTx/>
              <a:latin typeface="Arial"/>
            </a:endParaRPr>
          </a:p>
        </p:txBody>
      </p:sp>
      <p:sp>
        <p:nvSpPr>
          <p:cNvPr id="1045"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33</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046" name="PlaceHolder 1"/>
          <p:cNvSpPr>
            <a:spLocks noGrp="1"/>
          </p:cNvSpPr>
          <p:nvPr>
            <p:ph type="sldNum" idx="40"/>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047"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48"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24 / 35</a:t>
            </a:r>
            <a:endParaRPr lang="en-US" sz="1200" b="0" u="none" strike="noStrike">
              <a:solidFill>
                <a:srgbClr val="000000"/>
              </a:solidFill>
              <a:effectLst/>
              <a:uFillTx/>
              <a:latin typeface="Arial"/>
            </a:endParaRPr>
          </a:p>
        </p:txBody>
      </p:sp>
      <p:sp>
        <p:nvSpPr>
          <p:cNvPr id="1049"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UNITED STATES</a:t>
            </a:r>
            <a:endParaRPr lang="en-US" sz="1200" b="0" u="none" strike="noStrike">
              <a:solidFill>
                <a:srgbClr val="000000"/>
              </a:solidFill>
              <a:effectLst/>
              <a:uFillTx/>
              <a:latin typeface="Arial"/>
            </a:endParaRPr>
          </a:p>
        </p:txBody>
      </p:sp>
      <p:sp>
        <p:nvSpPr>
          <p:cNvPr id="1050"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2003</a:t>
            </a:r>
            <a:endParaRPr lang="en-US" sz="1350" b="0" u="none" strike="noStrike">
              <a:solidFill>
                <a:srgbClr val="000000"/>
              </a:solidFill>
              <a:effectLst/>
              <a:uFillTx/>
              <a:latin typeface="Arial"/>
            </a:endParaRPr>
          </a:p>
        </p:txBody>
      </p:sp>
      <p:sp>
        <p:nvSpPr>
          <p:cNvPr id="1051"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KNOW HIV/AIDS</a:t>
            </a:r>
            <a:endParaRPr lang="en-US" sz="3600" b="0" u="none" strike="noStrike">
              <a:solidFill>
                <a:srgbClr val="000000"/>
              </a:solidFill>
              <a:effectLst/>
              <a:uFillTx/>
              <a:latin typeface="Arial"/>
            </a:endParaRPr>
          </a:p>
        </p:txBody>
      </p:sp>
      <p:sp>
        <p:nvSpPr>
          <p:cNvPr id="1052"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053"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054"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055"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HIV messages sat in scattered, separate channels</a:t>
            </a:r>
            <a:endParaRPr lang="en-US" sz="1350" b="0" u="none" strike="noStrike">
              <a:solidFill>
                <a:srgbClr val="000000"/>
              </a:solidFill>
              <a:effectLst/>
              <a:uFillTx/>
              <a:latin typeface="Arial"/>
            </a:endParaRPr>
          </a:p>
        </p:txBody>
      </p:sp>
      <p:sp>
        <p:nvSpPr>
          <p:cNvPr id="1056"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057"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People could find information and testing advice</a:t>
            </a:r>
            <a:endParaRPr lang="en-US" sz="1350" b="0" u="none" strike="noStrike">
              <a:solidFill>
                <a:srgbClr val="000000"/>
              </a:solidFill>
              <a:effectLst/>
              <a:uFillTx/>
              <a:latin typeface="Arial"/>
            </a:endParaRPr>
          </a:p>
        </p:txBody>
      </p:sp>
      <p:sp>
        <p:nvSpPr>
          <p:cNvPr id="1058"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059"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060"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1061"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Kaiser supplied health expertise; Viacom, including CBS, supplied creative reach.</a:t>
            </a:r>
            <a:endParaRPr lang="en-US" sz="1500" b="0" u="none" strike="noStrike">
              <a:solidFill>
                <a:srgbClr val="000000"/>
              </a:solidFill>
              <a:effectLst/>
              <a:uFillTx/>
              <a:latin typeface="Arial"/>
            </a:endParaRPr>
          </a:p>
        </p:txBody>
      </p:sp>
      <p:sp>
        <p:nvSpPr>
          <p:cNvPr id="1062"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063"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1064"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Ads ran across TV, radio, outdoor, online, and print properties.</a:t>
            </a:r>
            <a:endParaRPr lang="en-US" sz="1500" b="0" u="none" strike="noStrike">
              <a:solidFill>
                <a:srgbClr val="000000"/>
              </a:solidFill>
              <a:effectLst/>
              <a:uFillTx/>
              <a:latin typeface="Arial"/>
            </a:endParaRPr>
          </a:p>
        </p:txBody>
      </p:sp>
      <p:sp>
        <p:nvSpPr>
          <p:cNvPr id="1065"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066"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1067"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Entertainment plots and a free guide added context and next-step information.</a:t>
            </a:r>
            <a:endParaRPr lang="en-US" sz="1500" b="0" u="none" strike="noStrike">
              <a:solidFill>
                <a:srgbClr val="000000"/>
              </a:solidFill>
              <a:effectLst/>
              <a:uFillTx/>
              <a:latin typeface="Arial"/>
            </a:endParaRPr>
          </a:p>
        </p:txBody>
      </p:sp>
      <p:sp>
        <p:nvSpPr>
          <p:cNvPr id="1068"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69"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070" name=""/>
          <p:cNvPicPr/>
          <p:nvPr/>
        </p:nvPicPr>
        <p:blipFill>
          <a:blip r:embed="rId1"/>
          <a:stretch/>
        </p:blipFill>
        <p:spPr>
          <a:xfrm>
            <a:off x="6832080" y="1752480"/>
            <a:ext cx="4014000" cy="3038040"/>
          </a:xfrm>
          <a:prstGeom prst="rect">
            <a:avLst/>
          </a:prstGeom>
          <a:noFill/>
          <a:ln w="0">
            <a:noFill/>
          </a:ln>
        </p:spPr>
      </p:pic>
      <p:sp>
        <p:nvSpPr>
          <p:cNvPr id="1071"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'Meet the new face of HIV' KNOW HIV/AIDS poster, 2003 - KFF/Viacom</a:t>
            </a:r>
            <a:endParaRPr lang="en-US" sz="1130" b="0" u="none" strike="noStrike">
              <a:solidFill>
                <a:srgbClr val="000000"/>
              </a:solidFill>
              <a:effectLst/>
              <a:uFillTx/>
              <a:latin typeface="Arial"/>
            </a:endParaRPr>
          </a:p>
        </p:txBody>
      </p:sp>
      <p:sp>
        <p:nvSpPr>
          <p:cNvPr id="1072"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73"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074"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Viacom committed over $120 million in first-year ad placements; KFF records report reach, not a change in testing.</a:t>
            </a:r>
            <a:endParaRPr lang="en-US" sz="1280" b="0" u="none" strike="noStrike">
              <a:solidFill>
                <a:srgbClr val="000000"/>
              </a:solidFill>
              <a:effectLst/>
              <a:uFillTx/>
              <a:latin typeface="Arial"/>
            </a:endParaRPr>
          </a:p>
        </p:txBody>
      </p:sp>
      <p:sp>
        <p:nvSpPr>
          <p:cNvPr id="1075"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76"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077"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Campaign record; behavior effect not established.</a:t>
            </a:r>
            <a:endParaRPr lang="en-US" sz="1200" b="0" u="none" strike="noStrike">
              <a:solidFill>
                <a:srgbClr val="000000"/>
              </a:solidFill>
              <a:effectLst/>
              <a:uFillTx/>
              <a:latin typeface="Arial"/>
            </a:endParaRPr>
          </a:p>
        </p:txBody>
      </p:sp>
      <p:sp>
        <p:nvSpPr>
          <p:cNvPr id="1078"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079"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kff.org</a:t>
            </a:r>
            <a:endParaRPr lang="en-US" sz="900" b="0" u="none" strike="noStrike">
              <a:solidFill>
                <a:srgbClr val="000000"/>
              </a:solidFill>
              <a:effectLst/>
              <a:uFillTx/>
              <a:latin typeface="Arial"/>
            </a:endParaRPr>
          </a:p>
        </p:txBody>
      </p:sp>
      <p:sp>
        <p:nvSpPr>
          <p:cNvPr id="1080"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34</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081" name="PlaceHolder 1"/>
          <p:cNvSpPr>
            <a:spLocks noGrp="1"/>
          </p:cNvSpPr>
          <p:nvPr>
            <p:ph type="sldNum" idx="41"/>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082" name=""/>
          <p:cNvSpPr/>
          <p:nvPr/>
        </p:nvSpPr>
        <p:spPr>
          <a:xfrm>
            <a:off x="0" y="0"/>
            <a:ext cx="132840" cy="6857640"/>
          </a:xfrm>
          <a:prstGeom prst="rect">
            <a:avLst/>
          </a:prstGeom>
          <a:solidFill>
            <a:srgbClr val="5A6D40"/>
          </a:solidFill>
          <a:ln w="0">
            <a:solidFill>
              <a:srgbClr val="5A6D40"/>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83"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25 / 35</a:t>
            </a:r>
            <a:endParaRPr lang="en-US" sz="1200" b="0" u="none" strike="noStrike">
              <a:solidFill>
                <a:srgbClr val="000000"/>
              </a:solidFill>
              <a:effectLst/>
              <a:uFillTx/>
              <a:latin typeface="Arial"/>
            </a:endParaRPr>
          </a:p>
        </p:txBody>
      </p:sp>
      <p:sp>
        <p:nvSpPr>
          <p:cNvPr id="1084"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5A6D40"/>
                </a:solidFill>
                <a:effectLst/>
                <a:uFillTx/>
                <a:latin typeface="Calibri"/>
                <a:ea typeface="Calibri"/>
              </a:rPr>
              <a:t>COMMUNITY  ·  UGANDA</a:t>
            </a:r>
            <a:endParaRPr lang="en-US" sz="1200" b="0" u="none" strike="noStrike">
              <a:solidFill>
                <a:srgbClr val="000000"/>
              </a:solidFill>
              <a:effectLst/>
              <a:uFillTx/>
              <a:latin typeface="Arial"/>
            </a:endParaRPr>
          </a:p>
        </p:txBody>
      </p:sp>
      <p:sp>
        <p:nvSpPr>
          <p:cNvPr id="1085"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5A6D40"/>
                </a:solidFill>
                <a:effectLst/>
                <a:uFillTx/>
                <a:latin typeface="Calibri"/>
                <a:ea typeface="Calibri"/>
              </a:rPr>
              <a:t>2007 onward</a:t>
            </a:r>
            <a:endParaRPr lang="en-US" sz="1350" b="0" u="none" strike="noStrike">
              <a:solidFill>
                <a:srgbClr val="000000"/>
              </a:solidFill>
              <a:effectLst/>
              <a:uFillTx/>
              <a:latin typeface="Arial"/>
            </a:endParaRPr>
          </a:p>
        </p:txBody>
      </p:sp>
      <p:sp>
        <p:nvSpPr>
          <p:cNvPr id="1086"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SASA!</a:t>
            </a:r>
            <a:endParaRPr lang="en-US" sz="3600" b="0" u="none" strike="noStrike">
              <a:solidFill>
                <a:srgbClr val="000000"/>
              </a:solidFill>
              <a:effectLst/>
              <a:uFillTx/>
              <a:latin typeface="Arial"/>
            </a:endParaRPr>
          </a:p>
        </p:txBody>
      </p:sp>
      <p:sp>
        <p:nvSpPr>
          <p:cNvPr id="1087" name=""/>
          <p:cNvSpPr/>
          <p:nvPr/>
        </p:nvSpPr>
        <p:spPr>
          <a:xfrm>
            <a:off x="666720" y="1609560"/>
            <a:ext cx="5181120" cy="18720"/>
          </a:xfrm>
          <a:prstGeom prst="rect">
            <a:avLst/>
          </a:prstGeom>
          <a:solidFill>
            <a:srgbClr val="5A6D40"/>
          </a:solidFill>
          <a:ln w="0">
            <a:solidFill>
              <a:srgbClr val="5A6D40"/>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088"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5A6D40"/>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089"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090"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Partner violence could be accepted or ignored</a:t>
            </a:r>
            <a:endParaRPr lang="en-US" sz="1350" b="0" u="none" strike="noStrike">
              <a:solidFill>
                <a:srgbClr val="000000"/>
              </a:solidFill>
              <a:effectLst/>
              <a:uFillTx/>
              <a:latin typeface="Arial"/>
            </a:endParaRPr>
          </a:p>
        </p:txBody>
      </p:sp>
      <p:sp>
        <p:nvSpPr>
          <p:cNvPr id="1091"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092"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Neighbors could question and act on it</a:t>
            </a:r>
            <a:endParaRPr lang="en-US" sz="1350" b="0" u="none" strike="noStrike">
              <a:solidFill>
                <a:srgbClr val="000000"/>
              </a:solidFill>
              <a:effectLst/>
              <a:uFillTx/>
              <a:latin typeface="Arial"/>
            </a:endParaRPr>
          </a:p>
        </p:txBody>
      </p:sp>
      <p:sp>
        <p:nvSpPr>
          <p:cNvPr id="1093"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094"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5A6D40"/>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095"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5A6D40"/>
                </a:solidFill>
                <a:effectLst/>
                <a:uFillTx/>
                <a:latin typeface="Calibri"/>
                <a:ea typeface="Calibri"/>
              </a:rPr>
              <a:t>01</a:t>
            </a:r>
            <a:endParaRPr lang="en-US" sz="1200" b="0" u="none" strike="noStrike">
              <a:solidFill>
                <a:srgbClr val="000000"/>
              </a:solidFill>
              <a:effectLst/>
              <a:uFillTx/>
              <a:latin typeface="Arial"/>
            </a:endParaRPr>
          </a:p>
        </p:txBody>
      </p:sp>
      <p:sp>
        <p:nvSpPr>
          <p:cNvPr id="1096"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Local residents were selected, trained, and supported as activists.</a:t>
            </a:r>
            <a:endParaRPr lang="en-US" sz="1500" b="0" u="none" strike="noStrike">
              <a:solidFill>
                <a:srgbClr val="000000"/>
              </a:solidFill>
              <a:effectLst/>
              <a:uFillTx/>
              <a:latin typeface="Arial"/>
            </a:endParaRPr>
          </a:p>
        </p:txBody>
      </p:sp>
      <p:sp>
        <p:nvSpPr>
          <p:cNvPr id="1097"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098"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5A6D40"/>
                </a:solidFill>
                <a:effectLst/>
                <a:uFillTx/>
                <a:latin typeface="Calibri"/>
                <a:ea typeface="Calibri"/>
              </a:rPr>
              <a:t>02</a:t>
            </a:r>
            <a:endParaRPr lang="en-US" sz="1200" b="0" u="none" strike="noStrike">
              <a:solidFill>
                <a:srgbClr val="000000"/>
              </a:solidFill>
              <a:effectLst/>
              <a:uFillTx/>
              <a:latin typeface="Arial"/>
            </a:endParaRPr>
          </a:p>
        </p:txBody>
      </p:sp>
      <p:sp>
        <p:nvSpPr>
          <p:cNvPr id="1099"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In Awareness, activists got neighbors questioning men's </a:t>
            </a:r>
            <a:r>
              <a:rPr lang="en-US" sz="1500" b="0" u="none" strike="noStrike">
                <a:solidFill>
                  <a:srgbClr val="17232B"/>
                </a:solidFill>
                <a:effectLst/>
                <a:uFillTx/>
                <a:latin typeface="Calibri"/>
                <a:ea typeface="Calibri"/>
              </a:rPr>
              <a:t>power over women where they gathered.</a:t>
            </a:r>
            <a:endParaRPr lang="en-US" sz="1500" b="0" u="none" strike="noStrike">
              <a:solidFill>
                <a:srgbClr val="000000"/>
              </a:solidFill>
              <a:effectLst/>
              <a:uFillTx/>
              <a:latin typeface="Arial"/>
            </a:endParaRPr>
          </a:p>
        </p:txBody>
      </p:sp>
      <p:sp>
        <p:nvSpPr>
          <p:cNvPr id="1100"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101"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5A6D40"/>
                </a:solidFill>
                <a:effectLst/>
                <a:uFillTx/>
                <a:latin typeface="Calibri"/>
                <a:ea typeface="Calibri"/>
              </a:rPr>
              <a:t>03</a:t>
            </a:r>
            <a:endParaRPr lang="en-US" sz="1200" b="0" u="none" strike="noStrike">
              <a:solidFill>
                <a:srgbClr val="000000"/>
              </a:solidFill>
              <a:effectLst/>
              <a:uFillTx/>
              <a:latin typeface="Arial"/>
            </a:endParaRPr>
          </a:p>
        </p:txBody>
      </p:sp>
      <p:sp>
        <p:nvSpPr>
          <p:cNvPr id="1102"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Support built help for people changing; Action had them try and celebrate new behavior.</a:t>
            </a:r>
            <a:endParaRPr lang="en-US" sz="1500" b="0" u="none" strike="noStrike">
              <a:solidFill>
                <a:srgbClr val="000000"/>
              </a:solidFill>
              <a:effectLst/>
              <a:uFillTx/>
              <a:latin typeface="Arial"/>
            </a:endParaRPr>
          </a:p>
        </p:txBody>
      </p:sp>
      <p:sp>
        <p:nvSpPr>
          <p:cNvPr id="1103"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04"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105" name=""/>
          <p:cNvPicPr/>
          <p:nvPr/>
        </p:nvPicPr>
        <p:blipFill>
          <a:blip r:embed="rId1"/>
          <a:stretch/>
        </p:blipFill>
        <p:spPr>
          <a:xfrm>
            <a:off x="6689880" y="1752480"/>
            <a:ext cx="4298040" cy="3038040"/>
          </a:xfrm>
          <a:prstGeom prst="rect">
            <a:avLst/>
          </a:prstGeom>
          <a:noFill/>
          <a:ln w="0">
            <a:noFill/>
          </a:ln>
        </p:spPr>
      </p:pic>
      <p:sp>
        <p:nvSpPr>
          <p:cNvPr id="1106"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SASA! Awareness Power Poster, 2008 - Raising Voices</a:t>
            </a:r>
            <a:endParaRPr lang="en-US" sz="1130" b="0" u="none" strike="noStrike">
              <a:solidFill>
                <a:srgbClr val="000000"/>
              </a:solidFill>
              <a:effectLst/>
              <a:uFillTx/>
              <a:latin typeface="Arial"/>
            </a:endParaRPr>
          </a:p>
        </p:txBody>
      </p:sp>
      <p:sp>
        <p:nvSpPr>
          <p:cNvPr id="1107"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08"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5A6D40"/>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109"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Women in participating communities were about half as likely to say partner violence was acceptable.</a:t>
            </a:r>
            <a:endParaRPr lang="en-US" sz="1280" b="0" u="none" strike="noStrike">
              <a:solidFill>
                <a:srgbClr val="000000"/>
              </a:solidFill>
              <a:effectLst/>
              <a:uFillTx/>
              <a:latin typeface="Arial"/>
            </a:endParaRPr>
          </a:p>
        </p:txBody>
      </p:sp>
      <p:sp>
        <p:nvSpPr>
          <p:cNvPr id="1110"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11"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5A6D40"/>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112"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8 communities randomized; the 52% drop in physical violence was not significant.</a:t>
            </a:r>
            <a:endParaRPr lang="en-US" sz="1200" b="0" u="none" strike="noStrike">
              <a:solidFill>
                <a:srgbClr val="000000"/>
              </a:solidFill>
              <a:effectLst/>
              <a:uFillTx/>
              <a:latin typeface="Arial"/>
            </a:endParaRPr>
          </a:p>
        </p:txBody>
      </p:sp>
      <p:sp>
        <p:nvSpPr>
          <p:cNvPr id="1113"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114"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raisingvoices.org  ·  pmc.ncbi.nlm.nih.gov  ·  bmcmedicine.biomedcentral.com</a:t>
            </a:r>
            <a:endParaRPr lang="en-US" sz="900" b="0" u="none" strike="noStrike">
              <a:solidFill>
                <a:srgbClr val="000000"/>
              </a:solidFill>
              <a:effectLst/>
              <a:uFillTx/>
              <a:latin typeface="Arial"/>
            </a:endParaRPr>
          </a:p>
        </p:txBody>
      </p:sp>
      <p:sp>
        <p:nvSpPr>
          <p:cNvPr id="1115"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35</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116" name="PlaceHolder 1"/>
          <p:cNvSpPr>
            <a:spLocks noGrp="1"/>
          </p:cNvSpPr>
          <p:nvPr>
            <p:ph type="sldNum" idx="42"/>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117" name=""/>
          <p:cNvSpPr/>
          <p:nvPr/>
        </p:nvSpPr>
        <p:spPr>
          <a:xfrm>
            <a:off x="0" y="0"/>
            <a:ext cx="132840" cy="6857640"/>
          </a:xfrm>
          <a:prstGeom prst="rect">
            <a:avLst/>
          </a:prstGeom>
          <a:solidFill>
            <a:srgbClr val="5A6D40"/>
          </a:solidFill>
          <a:ln w="0">
            <a:solidFill>
              <a:srgbClr val="5A6D40"/>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18" name=""/>
          <p:cNvSpPr/>
          <p:nvPr/>
        </p:nvSpPr>
        <p:spPr>
          <a:xfrm>
            <a:off x="666720" y="447840"/>
            <a:ext cx="100962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5A6D40"/>
                </a:solidFill>
                <a:effectLst/>
                <a:uFillTx/>
                <a:latin typeface="Calibri"/>
                <a:ea typeface="Calibri"/>
              </a:rPr>
              <a:t>CLOSER LOOK  ·  2007 onward  ·  UGANDA</a:t>
            </a:r>
            <a:endParaRPr lang="en-US" sz="1200" b="0" u="none" strike="noStrike">
              <a:solidFill>
                <a:srgbClr val="000000"/>
              </a:solidFill>
              <a:effectLst/>
              <a:uFillTx/>
              <a:latin typeface="Arial"/>
            </a:endParaRPr>
          </a:p>
        </p:txBody>
      </p:sp>
      <p:sp>
        <p:nvSpPr>
          <p:cNvPr id="1119" name=""/>
          <p:cNvSpPr/>
          <p:nvPr/>
        </p:nvSpPr>
        <p:spPr>
          <a:xfrm>
            <a:off x="666720" y="91440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820" b="1" u="none" strike="noStrike">
                <a:solidFill>
                  <a:srgbClr val="17232B"/>
                </a:solidFill>
                <a:effectLst/>
                <a:uFillTx/>
                <a:latin typeface="Calibri"/>
                <a:ea typeface="Calibri"/>
              </a:rPr>
              <a:t>SASA!</a:t>
            </a:r>
            <a:endParaRPr lang="en-US" sz="3820" b="0" u="none" strike="noStrike">
              <a:solidFill>
                <a:srgbClr val="000000"/>
              </a:solidFill>
              <a:effectLst/>
              <a:uFillTx/>
              <a:latin typeface="Arial"/>
            </a:endParaRPr>
          </a:p>
        </p:txBody>
      </p:sp>
      <p:sp>
        <p:nvSpPr>
          <p:cNvPr id="1120" name=""/>
          <p:cNvSpPr/>
          <p:nvPr/>
        </p:nvSpPr>
        <p:spPr>
          <a:xfrm>
            <a:off x="5905440" y="1685880"/>
            <a:ext cx="528588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5A6D40"/>
                </a:solidFill>
                <a:effectLst/>
                <a:uFillTx/>
                <a:latin typeface="Calibri"/>
                <a:ea typeface="Calibri"/>
              </a:rPr>
              <a:t>THE OPERATING CHAIN</a:t>
            </a:r>
            <a:endParaRPr lang="en-US" sz="1350" b="0" u="none" strike="noStrike">
              <a:solidFill>
                <a:srgbClr val="000000"/>
              </a:solidFill>
              <a:effectLst/>
              <a:uFillTx/>
              <a:latin typeface="Arial"/>
            </a:endParaRPr>
          </a:p>
        </p:txBody>
      </p:sp>
      <p:sp>
        <p:nvSpPr>
          <p:cNvPr id="1121" name=""/>
          <p:cNvSpPr/>
          <p:nvPr/>
        </p:nvSpPr>
        <p:spPr>
          <a:xfrm>
            <a:off x="5905440" y="19810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22" name=""/>
          <p:cNvSpPr/>
          <p:nvPr/>
        </p:nvSpPr>
        <p:spPr>
          <a:xfrm>
            <a:off x="6067440" y="20667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5A6D40"/>
                </a:solidFill>
                <a:effectLst/>
                <a:uFillTx/>
                <a:latin typeface="Calibri"/>
                <a:ea typeface="Calibri"/>
              </a:rPr>
              <a:t>START</a:t>
            </a:r>
            <a:endParaRPr lang="en-US" sz="1050" b="0" u="none" strike="noStrike">
              <a:solidFill>
                <a:srgbClr val="000000"/>
              </a:solidFill>
              <a:effectLst/>
              <a:uFillTx/>
              <a:latin typeface="Arial"/>
            </a:endParaRPr>
          </a:p>
        </p:txBody>
      </p:sp>
      <p:sp>
        <p:nvSpPr>
          <p:cNvPr id="1123" name=""/>
          <p:cNvSpPr/>
          <p:nvPr/>
        </p:nvSpPr>
        <p:spPr>
          <a:xfrm>
            <a:off x="6067440" y="22766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Staff mapped the community and recruited local women and men as activists.</a:t>
            </a:r>
            <a:endParaRPr lang="en-US" sz="1430" b="0" u="none" strike="noStrike">
              <a:solidFill>
                <a:srgbClr val="000000"/>
              </a:solidFill>
              <a:effectLst/>
              <a:uFillTx/>
              <a:latin typeface="Arial"/>
            </a:endParaRPr>
          </a:p>
        </p:txBody>
      </p:sp>
      <p:sp>
        <p:nvSpPr>
          <p:cNvPr id="1124" name=""/>
          <p:cNvSpPr/>
          <p:nvPr/>
        </p:nvSpPr>
        <p:spPr>
          <a:xfrm>
            <a:off x="5905440" y="281952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25" name=""/>
          <p:cNvSpPr/>
          <p:nvPr/>
        </p:nvSpPr>
        <p:spPr>
          <a:xfrm>
            <a:off x="6067440" y="290520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5A6D40"/>
                </a:solidFill>
                <a:effectLst/>
                <a:uFillTx/>
                <a:latin typeface="Calibri"/>
                <a:ea typeface="Calibri"/>
              </a:rPr>
              <a:t>AWARENESS</a:t>
            </a:r>
            <a:endParaRPr lang="en-US" sz="1050" b="0" u="none" strike="noStrike">
              <a:solidFill>
                <a:srgbClr val="000000"/>
              </a:solidFill>
              <a:effectLst/>
              <a:uFillTx/>
              <a:latin typeface="Arial"/>
            </a:endParaRPr>
          </a:p>
        </p:txBody>
      </p:sp>
      <p:sp>
        <p:nvSpPr>
          <p:cNvPr id="1126" name=""/>
          <p:cNvSpPr/>
          <p:nvPr/>
        </p:nvSpPr>
        <p:spPr>
          <a:xfrm>
            <a:off x="6067440" y="311472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Activists raised questions about power through familiar, informal conversations.</a:t>
            </a:r>
            <a:endParaRPr lang="en-US" sz="1430" b="0" u="none" strike="noStrike">
              <a:solidFill>
                <a:srgbClr val="000000"/>
              </a:solidFill>
              <a:effectLst/>
              <a:uFillTx/>
              <a:latin typeface="Arial"/>
            </a:endParaRPr>
          </a:p>
        </p:txBody>
      </p:sp>
      <p:sp>
        <p:nvSpPr>
          <p:cNvPr id="1127" name=""/>
          <p:cNvSpPr/>
          <p:nvPr/>
        </p:nvSpPr>
        <p:spPr>
          <a:xfrm>
            <a:off x="5905440" y="365760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28" name=""/>
          <p:cNvSpPr/>
          <p:nvPr/>
        </p:nvSpPr>
        <p:spPr>
          <a:xfrm>
            <a:off x="6067440" y="374328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5A6D40"/>
                </a:solidFill>
                <a:effectLst/>
                <a:uFillTx/>
                <a:latin typeface="Calibri"/>
                <a:ea typeface="Calibri"/>
              </a:rPr>
              <a:t>SUPPORT</a:t>
            </a:r>
            <a:endParaRPr lang="en-US" sz="1050" b="0" u="none" strike="noStrike">
              <a:solidFill>
                <a:srgbClr val="000000"/>
              </a:solidFill>
              <a:effectLst/>
              <a:uFillTx/>
              <a:latin typeface="Arial"/>
            </a:endParaRPr>
          </a:p>
        </p:txBody>
      </p:sp>
      <p:sp>
        <p:nvSpPr>
          <p:cNvPr id="1129" name=""/>
          <p:cNvSpPr/>
          <p:nvPr/>
        </p:nvSpPr>
        <p:spPr>
          <a:xfrm>
            <a:off x="6067440" y="395280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430" b="0" u="none" strike="noStrike">
                <a:solidFill>
                  <a:srgbClr val="17232B"/>
                </a:solidFill>
                <a:effectLst/>
                <a:uFillTx/>
                <a:latin typeface="Calibri"/>
                <a:ea typeface="Calibri"/>
              </a:rPr>
              <a:t>Neighbors built skills and ties to support people who were changing.</a:t>
            </a:r>
            <a:endParaRPr lang="en-US" sz="1430" b="0" u="none" strike="noStrike">
              <a:solidFill>
                <a:srgbClr val="000000"/>
              </a:solidFill>
              <a:effectLst/>
              <a:uFillTx/>
              <a:latin typeface="Arial"/>
            </a:endParaRPr>
          </a:p>
        </p:txBody>
      </p:sp>
      <p:sp>
        <p:nvSpPr>
          <p:cNvPr id="1130" name=""/>
          <p:cNvSpPr/>
          <p:nvPr/>
        </p:nvSpPr>
        <p:spPr>
          <a:xfrm>
            <a:off x="5905440" y="44956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31" name=""/>
          <p:cNvSpPr/>
          <p:nvPr/>
        </p:nvSpPr>
        <p:spPr>
          <a:xfrm>
            <a:off x="6067440" y="45813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5A6D40"/>
                </a:solidFill>
                <a:effectLst/>
                <a:uFillTx/>
                <a:latin typeface="Calibri"/>
                <a:ea typeface="Calibri"/>
              </a:rPr>
              <a:t>ACTION</a:t>
            </a:r>
            <a:endParaRPr lang="en-US" sz="1050" b="0" u="none" strike="noStrike">
              <a:solidFill>
                <a:srgbClr val="000000"/>
              </a:solidFill>
              <a:effectLst/>
              <a:uFillTx/>
              <a:latin typeface="Arial"/>
            </a:endParaRPr>
          </a:p>
        </p:txBody>
      </p:sp>
      <p:sp>
        <p:nvSpPr>
          <p:cNvPr id="1132" name=""/>
          <p:cNvSpPr/>
          <p:nvPr/>
        </p:nvSpPr>
        <p:spPr>
          <a:xfrm>
            <a:off x="6067440" y="47912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430" b="0" u="none" strike="noStrike">
                <a:solidFill>
                  <a:srgbClr val="17232B"/>
                </a:solidFill>
                <a:effectLst/>
                <a:uFillTx/>
                <a:latin typeface="Calibri"/>
                <a:ea typeface="Calibri"/>
              </a:rPr>
              <a:t>People practiced and publicly recognized changed behavior.</a:t>
            </a:r>
            <a:endParaRPr lang="en-US" sz="1430" b="0" u="none" strike="noStrike">
              <a:solidFill>
                <a:srgbClr val="000000"/>
              </a:solidFill>
              <a:effectLst/>
              <a:uFillTx/>
              <a:latin typeface="Arial"/>
            </a:endParaRPr>
          </a:p>
        </p:txBody>
      </p:sp>
      <p:sp>
        <p:nvSpPr>
          <p:cNvPr id="1133" name=""/>
          <p:cNvSpPr/>
          <p:nvPr/>
        </p:nvSpPr>
        <p:spPr>
          <a:xfrm>
            <a:off x="666720" y="1666800"/>
            <a:ext cx="4952520" cy="3676320"/>
          </a:xfrm>
          <a:prstGeom prst="roundRect">
            <a:avLst>
              <a:gd name="adj" fmla="val 2073"/>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34" name=""/>
          <p:cNvSpPr/>
          <p:nvPr/>
        </p:nvSpPr>
        <p:spPr>
          <a:xfrm>
            <a:off x="819000" y="1819440"/>
            <a:ext cx="4647960" cy="2904840"/>
          </a:xfrm>
          <a:prstGeom prst="roundRect">
            <a:avLst>
              <a:gd name="adj" fmla="val 2623"/>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135" name=""/>
          <p:cNvPicPr/>
          <p:nvPr/>
        </p:nvPicPr>
        <p:blipFill>
          <a:blip r:embed="rId1"/>
          <a:stretch/>
        </p:blipFill>
        <p:spPr>
          <a:xfrm>
            <a:off x="1309680" y="1895400"/>
            <a:ext cx="3666960" cy="2752200"/>
          </a:xfrm>
          <a:prstGeom prst="rect">
            <a:avLst/>
          </a:prstGeom>
          <a:noFill/>
          <a:ln w="0">
            <a:noFill/>
          </a:ln>
        </p:spPr>
      </p:pic>
      <p:sp>
        <p:nvSpPr>
          <p:cNvPr id="1136" name=""/>
          <p:cNvSpPr/>
          <p:nvPr/>
        </p:nvSpPr>
        <p:spPr>
          <a:xfrm>
            <a:off x="847800" y="4829040"/>
            <a:ext cx="460980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SASA! Action Community Poster, 2008 - Raising Voices</a:t>
            </a:r>
            <a:endParaRPr lang="en-US" sz="1130" b="0" u="none" strike="noStrike">
              <a:solidFill>
                <a:srgbClr val="000000"/>
              </a:solidFill>
              <a:effectLst/>
              <a:uFillTx/>
              <a:latin typeface="Arial"/>
            </a:endParaRPr>
          </a:p>
        </p:txBody>
      </p:sp>
      <p:sp>
        <p:nvSpPr>
          <p:cNvPr id="1137" name=""/>
          <p:cNvSpPr/>
          <p:nvPr/>
        </p:nvSpPr>
        <p:spPr>
          <a:xfrm>
            <a:off x="666720" y="5495760"/>
            <a:ext cx="10858320" cy="847440"/>
          </a:xfrm>
          <a:prstGeom prst="roundRect">
            <a:avLst>
              <a:gd name="adj" fmla="val 8989"/>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38" name=""/>
          <p:cNvSpPr/>
          <p:nvPr/>
        </p:nvSpPr>
        <p:spPr>
          <a:xfrm>
            <a:off x="838080" y="5610240"/>
            <a:ext cx="2571480" cy="2091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5A6D40"/>
                </a:solidFill>
                <a:effectLst/>
                <a:uFillTx/>
                <a:latin typeface="Calibri"/>
                <a:ea typeface="Calibri"/>
              </a:rPr>
              <a:t>DESIGN LESSON</a:t>
            </a:r>
            <a:endParaRPr lang="en-US" sz="1130" b="0" u="none" strike="noStrike">
              <a:solidFill>
                <a:srgbClr val="000000"/>
              </a:solidFill>
              <a:effectLst/>
              <a:uFillTx/>
              <a:latin typeface="Arial"/>
            </a:endParaRPr>
          </a:p>
        </p:txBody>
      </p:sp>
      <p:sp>
        <p:nvSpPr>
          <p:cNvPr id="1139" name=""/>
          <p:cNvSpPr/>
          <p:nvPr/>
        </p:nvSpPr>
        <p:spPr>
          <a:xfrm>
            <a:off x="838080" y="5867280"/>
            <a:ext cx="1028664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Change moved through sustained, phased activism in local networks, not one-off messages.</a:t>
            </a:r>
            <a:endParaRPr lang="en-US" sz="1500" b="0" u="none" strike="noStrike">
              <a:solidFill>
                <a:srgbClr val="000000"/>
              </a:solidFill>
              <a:effectLst/>
              <a:uFillTx/>
              <a:latin typeface="Arial"/>
            </a:endParaRPr>
          </a:p>
        </p:txBody>
      </p:sp>
      <p:sp>
        <p:nvSpPr>
          <p:cNvPr id="1140"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141"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raisingvoices.org  ·  pmc.ncbi.nlm.nih.gov  ·  bmcmedicine.biomedcentral.com</a:t>
            </a:r>
            <a:endParaRPr lang="en-US" sz="900" b="0" u="none" strike="noStrike">
              <a:solidFill>
                <a:srgbClr val="000000"/>
              </a:solidFill>
              <a:effectLst/>
              <a:uFillTx/>
              <a:latin typeface="Arial"/>
            </a:endParaRPr>
          </a:p>
        </p:txBody>
      </p:sp>
      <p:sp>
        <p:nvSpPr>
          <p:cNvPr id="1142"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36</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143" name="PlaceHolder 1"/>
          <p:cNvSpPr>
            <a:spLocks noGrp="1"/>
          </p:cNvSpPr>
          <p:nvPr>
            <p:ph type="sldNum" idx="43"/>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144" name=""/>
          <p:cNvSpPr/>
          <p:nvPr/>
        </p:nvSpPr>
        <p:spPr>
          <a:xfrm>
            <a:off x="0" y="0"/>
            <a:ext cx="132840" cy="6857640"/>
          </a:xfrm>
          <a:prstGeom prst="rect">
            <a:avLst/>
          </a:prstGeom>
          <a:solidFill>
            <a:srgbClr val="725E8B"/>
          </a:solidFill>
          <a:ln w="0">
            <a:solidFill>
              <a:srgbClr val="725E8B"/>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45"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26 / 35</a:t>
            </a:r>
            <a:endParaRPr lang="en-US" sz="1200" b="0" u="none" strike="noStrike">
              <a:solidFill>
                <a:srgbClr val="000000"/>
              </a:solidFill>
              <a:effectLst/>
              <a:uFillTx/>
              <a:latin typeface="Arial"/>
            </a:endParaRPr>
          </a:p>
        </p:txBody>
      </p:sp>
      <p:sp>
        <p:nvSpPr>
          <p:cNvPr id="1146"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725E8B"/>
                </a:solidFill>
                <a:effectLst/>
                <a:uFillTx/>
                <a:latin typeface="Calibri"/>
                <a:ea typeface="Calibri"/>
              </a:rPr>
              <a:t>PEER COMPARISON  ·  UNITED STATES</a:t>
            </a:r>
            <a:endParaRPr lang="en-US" sz="1200" b="0" u="none" strike="noStrike">
              <a:solidFill>
                <a:srgbClr val="000000"/>
              </a:solidFill>
              <a:effectLst/>
              <a:uFillTx/>
              <a:latin typeface="Arial"/>
            </a:endParaRPr>
          </a:p>
        </p:txBody>
      </p:sp>
      <p:sp>
        <p:nvSpPr>
          <p:cNvPr id="1147"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725E8B"/>
                </a:solidFill>
                <a:effectLst/>
                <a:uFillTx/>
                <a:latin typeface="Calibri"/>
                <a:ea typeface="Calibri"/>
              </a:rPr>
              <a:t>2008 onward</a:t>
            </a:r>
            <a:endParaRPr lang="en-US" sz="1350" b="0" u="none" strike="noStrike">
              <a:solidFill>
                <a:srgbClr val="000000"/>
              </a:solidFill>
              <a:effectLst/>
              <a:uFillTx/>
              <a:latin typeface="Arial"/>
            </a:endParaRPr>
          </a:p>
        </p:txBody>
      </p:sp>
      <p:sp>
        <p:nvSpPr>
          <p:cNvPr id="1148"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Opower Home Energy Reports</a:t>
            </a:r>
            <a:endParaRPr lang="en-US" sz="3600" b="0" u="none" strike="noStrike">
              <a:solidFill>
                <a:srgbClr val="000000"/>
              </a:solidFill>
              <a:effectLst/>
              <a:uFillTx/>
              <a:latin typeface="Arial"/>
            </a:endParaRPr>
          </a:p>
        </p:txBody>
      </p:sp>
      <p:sp>
        <p:nvSpPr>
          <p:cNvPr id="1149" name=""/>
          <p:cNvSpPr/>
          <p:nvPr/>
        </p:nvSpPr>
        <p:spPr>
          <a:xfrm>
            <a:off x="666720" y="1609560"/>
            <a:ext cx="5181120" cy="18720"/>
          </a:xfrm>
          <a:prstGeom prst="rect">
            <a:avLst/>
          </a:prstGeom>
          <a:solidFill>
            <a:srgbClr val="725E8B"/>
          </a:solidFill>
          <a:ln w="0">
            <a:solidFill>
              <a:srgbClr val="725E8B"/>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150"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725E8B"/>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151"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152"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Households likely misjudged their use vs. neighbors</a:t>
            </a:r>
            <a:endParaRPr lang="en-US" sz="1350" b="0" u="none" strike="noStrike">
              <a:solidFill>
                <a:srgbClr val="000000"/>
              </a:solidFill>
              <a:effectLst/>
              <a:uFillTx/>
              <a:latin typeface="Arial"/>
            </a:endParaRPr>
          </a:p>
        </p:txBody>
      </p:sp>
      <p:sp>
        <p:nvSpPr>
          <p:cNvPr id="1153"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154"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Neighbors’ use made saving concrete</a:t>
            </a:r>
            <a:endParaRPr lang="en-US" sz="1350" b="0" u="none" strike="noStrike">
              <a:solidFill>
                <a:srgbClr val="000000"/>
              </a:solidFill>
              <a:effectLst/>
              <a:uFillTx/>
              <a:latin typeface="Arial"/>
            </a:endParaRPr>
          </a:p>
        </p:txBody>
      </p:sp>
      <p:sp>
        <p:nvSpPr>
          <p:cNvPr id="1155"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156"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725E8B"/>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157"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725E8B"/>
                </a:solidFill>
                <a:effectLst/>
                <a:uFillTx/>
                <a:latin typeface="Calibri"/>
                <a:ea typeface="Calibri"/>
              </a:rPr>
              <a:t>01</a:t>
            </a:r>
            <a:endParaRPr lang="en-US" sz="1200" b="0" u="none" strike="noStrike">
              <a:solidFill>
                <a:srgbClr val="000000"/>
              </a:solidFill>
              <a:effectLst/>
              <a:uFillTx/>
              <a:latin typeface="Arial"/>
            </a:endParaRPr>
          </a:p>
        </p:txBody>
      </p:sp>
      <p:sp>
        <p:nvSpPr>
          <p:cNvPr id="1158"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OPOWER built each report from the home’s own meter reads and mailed it for the utility.</a:t>
            </a:r>
            <a:endParaRPr lang="en-US" sz="1500" b="0" u="none" strike="noStrike">
              <a:solidFill>
                <a:srgbClr val="000000"/>
              </a:solidFill>
              <a:effectLst/>
              <a:uFillTx/>
              <a:latin typeface="Arial"/>
            </a:endParaRPr>
          </a:p>
        </p:txBody>
      </p:sp>
      <p:sp>
        <p:nvSpPr>
          <p:cNvPr id="1159"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160"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725E8B"/>
                </a:solidFill>
                <a:effectLst/>
                <a:uFillTx/>
                <a:latin typeface="Calibri"/>
                <a:ea typeface="Calibri"/>
              </a:rPr>
              <a:t>02</a:t>
            </a:r>
            <a:endParaRPr lang="en-US" sz="1200" b="0" u="none" strike="noStrike">
              <a:solidFill>
                <a:srgbClr val="000000"/>
              </a:solidFill>
              <a:effectLst/>
              <a:uFillTx/>
              <a:latin typeface="Arial"/>
            </a:endParaRPr>
          </a:p>
        </p:txBody>
      </p:sp>
      <p:sp>
        <p:nvSpPr>
          <p:cNvPr id="1161"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bar chart compared the home with about 100 similar nearby homes and the most efficient 20%.</a:t>
            </a:r>
            <a:endParaRPr lang="en-US" sz="1500" b="0" u="none" strike="noStrike">
              <a:solidFill>
                <a:srgbClr val="000000"/>
              </a:solidFill>
              <a:effectLst/>
              <a:uFillTx/>
              <a:latin typeface="Arial"/>
            </a:endParaRPr>
          </a:p>
        </p:txBody>
      </p:sp>
      <p:sp>
        <p:nvSpPr>
          <p:cNvPr id="1162"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163"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725E8B"/>
                </a:solidFill>
                <a:effectLst/>
                <a:uFillTx/>
                <a:latin typeface="Calibri"/>
                <a:ea typeface="Calibri"/>
              </a:rPr>
              <a:t>03</a:t>
            </a:r>
            <a:endParaRPr lang="en-US" sz="1200" b="0" u="none" strike="noStrike">
              <a:solidFill>
                <a:srgbClr val="000000"/>
              </a:solidFill>
              <a:effectLst/>
              <a:uFillTx/>
              <a:latin typeface="Arial"/>
            </a:endParaRPr>
          </a:p>
        </p:txBody>
      </p:sp>
      <p:sp>
        <p:nvSpPr>
          <p:cNvPr id="1164"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Each report paired comparison with practical ways to save energy.</a:t>
            </a:r>
            <a:endParaRPr lang="en-US" sz="1500" b="0" u="none" strike="noStrike">
              <a:solidFill>
                <a:srgbClr val="000000"/>
              </a:solidFill>
              <a:effectLst/>
              <a:uFillTx/>
              <a:latin typeface="Arial"/>
            </a:endParaRPr>
          </a:p>
        </p:txBody>
      </p:sp>
      <p:sp>
        <p:nvSpPr>
          <p:cNvPr id="1165"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66"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167" name=""/>
          <p:cNvPicPr/>
          <p:nvPr/>
        </p:nvPicPr>
        <p:blipFill>
          <a:blip r:embed="rId1"/>
          <a:stretch/>
        </p:blipFill>
        <p:spPr>
          <a:xfrm>
            <a:off x="6381720" y="2593080"/>
            <a:ext cx="4914720" cy="1357200"/>
          </a:xfrm>
          <a:prstGeom prst="rect">
            <a:avLst/>
          </a:prstGeom>
          <a:noFill/>
          <a:ln w="0">
            <a:noFill/>
          </a:ln>
        </p:spPr>
      </p:pic>
      <p:sp>
        <p:nvSpPr>
          <p:cNvPr id="1168"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Home Energy Report comparison, c. 2009 — OPOWER via Allcott 2011</a:t>
            </a:r>
            <a:endParaRPr lang="en-US" sz="1130" b="0" u="none" strike="noStrike">
              <a:solidFill>
                <a:srgbClr val="000000"/>
              </a:solidFill>
              <a:effectLst/>
              <a:uFillTx/>
              <a:latin typeface="Arial"/>
            </a:endParaRPr>
          </a:p>
        </p:txBody>
      </p:sp>
      <p:sp>
        <p:nvSpPr>
          <p:cNvPr id="1169"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70"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725E8B"/>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171"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Households sent the reports used about 2% less electricity on average.</a:t>
            </a:r>
            <a:endParaRPr lang="en-US" sz="1280" b="0" u="none" strike="noStrike">
              <a:solidFill>
                <a:srgbClr val="000000"/>
              </a:solidFill>
              <a:effectLst/>
              <a:uFillTx/>
              <a:latin typeface="Arial"/>
            </a:endParaRPr>
          </a:p>
        </p:txBody>
      </p:sp>
      <p:sp>
        <p:nvSpPr>
          <p:cNvPr id="1172"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73"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725E8B"/>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174"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Nearly 600,000 households randomly assigned across 17 experiments.</a:t>
            </a:r>
            <a:endParaRPr lang="en-US" sz="1200" b="0" u="none" strike="noStrike">
              <a:solidFill>
                <a:srgbClr val="000000"/>
              </a:solidFill>
              <a:effectLst/>
              <a:uFillTx/>
              <a:latin typeface="Arial"/>
            </a:endParaRPr>
          </a:p>
        </p:txBody>
      </p:sp>
      <p:sp>
        <p:nvSpPr>
          <p:cNvPr id="1175"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176"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nber.org  ·  eml.berkeley.edu</a:t>
            </a:r>
            <a:endParaRPr lang="en-US" sz="900" b="0" u="none" strike="noStrike">
              <a:solidFill>
                <a:srgbClr val="000000"/>
              </a:solidFill>
              <a:effectLst/>
              <a:uFillTx/>
              <a:latin typeface="Arial"/>
            </a:endParaRPr>
          </a:p>
        </p:txBody>
      </p:sp>
      <p:sp>
        <p:nvSpPr>
          <p:cNvPr id="1177"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37</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178" name="PlaceHolder 1"/>
          <p:cNvSpPr>
            <a:spLocks noGrp="1"/>
          </p:cNvSpPr>
          <p:nvPr>
            <p:ph type="sldNum" idx="44"/>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179" name=""/>
          <p:cNvSpPr/>
          <p:nvPr/>
        </p:nvSpPr>
        <p:spPr>
          <a:xfrm>
            <a:off x="0" y="0"/>
            <a:ext cx="132840" cy="6857640"/>
          </a:xfrm>
          <a:prstGeom prst="rect">
            <a:avLst/>
          </a:prstGeom>
          <a:solidFill>
            <a:srgbClr val="725E8B"/>
          </a:solidFill>
          <a:ln w="0">
            <a:solidFill>
              <a:srgbClr val="725E8B"/>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80" name=""/>
          <p:cNvSpPr/>
          <p:nvPr/>
        </p:nvSpPr>
        <p:spPr>
          <a:xfrm>
            <a:off x="666720" y="447840"/>
            <a:ext cx="100962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725E8B"/>
                </a:solidFill>
                <a:effectLst/>
                <a:uFillTx/>
                <a:latin typeface="Calibri"/>
                <a:ea typeface="Calibri"/>
              </a:rPr>
              <a:t>CLOSER LOOK  ·  2008 onward  ·  UNITED STATES</a:t>
            </a:r>
            <a:endParaRPr lang="en-US" sz="1200" b="0" u="none" strike="noStrike">
              <a:solidFill>
                <a:srgbClr val="000000"/>
              </a:solidFill>
              <a:effectLst/>
              <a:uFillTx/>
              <a:latin typeface="Arial"/>
            </a:endParaRPr>
          </a:p>
        </p:txBody>
      </p:sp>
      <p:sp>
        <p:nvSpPr>
          <p:cNvPr id="1181" name=""/>
          <p:cNvSpPr/>
          <p:nvPr/>
        </p:nvSpPr>
        <p:spPr>
          <a:xfrm>
            <a:off x="666720" y="91440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820" b="1" u="none" strike="noStrike">
                <a:solidFill>
                  <a:srgbClr val="17232B"/>
                </a:solidFill>
                <a:effectLst/>
                <a:uFillTx/>
                <a:latin typeface="Calibri"/>
                <a:ea typeface="Calibri"/>
              </a:rPr>
              <a:t>Opower Home Energy Reports</a:t>
            </a:r>
            <a:endParaRPr lang="en-US" sz="3820" b="0" u="none" strike="noStrike">
              <a:solidFill>
                <a:srgbClr val="000000"/>
              </a:solidFill>
              <a:effectLst/>
              <a:uFillTx/>
              <a:latin typeface="Arial"/>
            </a:endParaRPr>
          </a:p>
        </p:txBody>
      </p:sp>
      <p:sp>
        <p:nvSpPr>
          <p:cNvPr id="1182" name=""/>
          <p:cNvSpPr/>
          <p:nvPr/>
        </p:nvSpPr>
        <p:spPr>
          <a:xfrm>
            <a:off x="5905440" y="1685880"/>
            <a:ext cx="528588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725E8B"/>
                </a:solidFill>
                <a:effectLst/>
                <a:uFillTx/>
                <a:latin typeface="Calibri"/>
                <a:ea typeface="Calibri"/>
              </a:rPr>
              <a:t>THE OPERATING CHAIN</a:t>
            </a:r>
            <a:endParaRPr lang="en-US" sz="1350" b="0" u="none" strike="noStrike">
              <a:solidFill>
                <a:srgbClr val="000000"/>
              </a:solidFill>
              <a:effectLst/>
              <a:uFillTx/>
              <a:latin typeface="Arial"/>
            </a:endParaRPr>
          </a:p>
        </p:txBody>
      </p:sp>
      <p:sp>
        <p:nvSpPr>
          <p:cNvPr id="1183" name=""/>
          <p:cNvSpPr/>
          <p:nvPr/>
        </p:nvSpPr>
        <p:spPr>
          <a:xfrm>
            <a:off x="5905440" y="19810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84" name=""/>
          <p:cNvSpPr/>
          <p:nvPr/>
        </p:nvSpPr>
        <p:spPr>
          <a:xfrm>
            <a:off x="6067440" y="20667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725E8B"/>
                </a:solidFill>
                <a:effectLst/>
                <a:uFillTx/>
                <a:latin typeface="Calibri"/>
                <a:ea typeface="Calibri"/>
              </a:rPr>
              <a:t>DATA</a:t>
            </a:r>
            <a:endParaRPr lang="en-US" sz="1050" b="0" u="none" strike="noStrike">
              <a:solidFill>
                <a:srgbClr val="000000"/>
              </a:solidFill>
              <a:effectLst/>
              <a:uFillTx/>
              <a:latin typeface="Arial"/>
            </a:endParaRPr>
          </a:p>
        </p:txBody>
      </p:sp>
      <p:sp>
        <p:nvSpPr>
          <p:cNvPr id="1185" name=""/>
          <p:cNvSpPr/>
          <p:nvPr/>
        </p:nvSpPr>
        <p:spPr>
          <a:xfrm>
            <a:off x="6067440" y="22766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430" b="0" u="none" strike="noStrike">
                <a:solidFill>
                  <a:srgbClr val="17232B"/>
                </a:solidFill>
                <a:effectLst/>
                <a:uFillTx/>
                <a:latin typeface="Calibri"/>
                <a:ea typeface="Calibri"/>
              </a:rPr>
              <a:t>Utilities sent each household’s meter reads to OPOWER.</a:t>
            </a:r>
            <a:endParaRPr lang="en-US" sz="1430" b="0" u="none" strike="noStrike">
              <a:solidFill>
                <a:srgbClr val="000000"/>
              </a:solidFill>
              <a:effectLst/>
              <a:uFillTx/>
              <a:latin typeface="Arial"/>
            </a:endParaRPr>
          </a:p>
        </p:txBody>
      </p:sp>
      <p:sp>
        <p:nvSpPr>
          <p:cNvPr id="1186" name=""/>
          <p:cNvSpPr/>
          <p:nvPr/>
        </p:nvSpPr>
        <p:spPr>
          <a:xfrm>
            <a:off x="5905440" y="281952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87" name=""/>
          <p:cNvSpPr/>
          <p:nvPr/>
        </p:nvSpPr>
        <p:spPr>
          <a:xfrm>
            <a:off x="6067440" y="290520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725E8B"/>
                </a:solidFill>
                <a:effectLst/>
                <a:uFillTx/>
                <a:latin typeface="Calibri"/>
                <a:ea typeface="Calibri"/>
              </a:rPr>
              <a:t>COMPARISON</a:t>
            </a:r>
            <a:endParaRPr lang="en-US" sz="1050" b="0" u="none" strike="noStrike">
              <a:solidFill>
                <a:srgbClr val="000000"/>
              </a:solidFill>
              <a:effectLst/>
              <a:uFillTx/>
              <a:latin typeface="Arial"/>
            </a:endParaRPr>
          </a:p>
        </p:txBody>
      </p:sp>
      <p:sp>
        <p:nvSpPr>
          <p:cNvPr id="1188" name=""/>
          <p:cNvSpPr/>
          <p:nvPr/>
        </p:nvSpPr>
        <p:spPr>
          <a:xfrm>
            <a:off x="6067440" y="311472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430" b="0" u="none" strike="noStrike">
                <a:solidFill>
                  <a:srgbClr val="17232B"/>
                </a:solidFill>
                <a:effectLst/>
                <a:uFillTx/>
                <a:latin typeface="Calibri"/>
                <a:ea typeface="Calibri"/>
              </a:rPr>
              <a:t>Mailed reports showed the home beside similar nearby homes.</a:t>
            </a:r>
            <a:endParaRPr lang="en-US" sz="1430" b="0" u="none" strike="noStrike">
              <a:solidFill>
                <a:srgbClr val="000000"/>
              </a:solidFill>
              <a:effectLst/>
              <a:uFillTx/>
              <a:latin typeface="Arial"/>
            </a:endParaRPr>
          </a:p>
        </p:txBody>
      </p:sp>
      <p:sp>
        <p:nvSpPr>
          <p:cNvPr id="1189" name=""/>
          <p:cNvSpPr/>
          <p:nvPr/>
        </p:nvSpPr>
        <p:spPr>
          <a:xfrm>
            <a:off x="5905440" y="365760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90" name=""/>
          <p:cNvSpPr/>
          <p:nvPr/>
        </p:nvSpPr>
        <p:spPr>
          <a:xfrm>
            <a:off x="6067440" y="374328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725E8B"/>
                </a:solidFill>
                <a:effectLst/>
                <a:uFillTx/>
                <a:latin typeface="Calibri"/>
                <a:ea typeface="Calibri"/>
              </a:rPr>
              <a:t>GUIDANCE</a:t>
            </a:r>
            <a:endParaRPr lang="en-US" sz="1050" b="0" u="none" strike="noStrike">
              <a:solidFill>
                <a:srgbClr val="000000"/>
              </a:solidFill>
              <a:effectLst/>
              <a:uFillTx/>
              <a:latin typeface="Arial"/>
            </a:endParaRPr>
          </a:p>
        </p:txBody>
      </p:sp>
      <p:sp>
        <p:nvSpPr>
          <p:cNvPr id="1191" name=""/>
          <p:cNvSpPr/>
          <p:nvPr/>
        </p:nvSpPr>
        <p:spPr>
          <a:xfrm>
            <a:off x="6067440" y="395280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430" b="0" u="none" strike="noStrike">
                <a:solidFill>
                  <a:srgbClr val="17232B"/>
                </a:solidFill>
                <a:effectLst/>
                <a:uFillTx/>
                <a:latin typeface="Calibri"/>
                <a:ea typeface="Calibri"/>
              </a:rPr>
              <a:t>The same report offered tips matched to the home’s past use.</a:t>
            </a:r>
            <a:endParaRPr lang="en-US" sz="1430" b="0" u="none" strike="noStrike">
              <a:solidFill>
                <a:srgbClr val="000000"/>
              </a:solidFill>
              <a:effectLst/>
              <a:uFillTx/>
              <a:latin typeface="Arial"/>
            </a:endParaRPr>
          </a:p>
        </p:txBody>
      </p:sp>
      <p:sp>
        <p:nvSpPr>
          <p:cNvPr id="1192" name=""/>
          <p:cNvSpPr/>
          <p:nvPr/>
        </p:nvSpPr>
        <p:spPr>
          <a:xfrm>
            <a:off x="5905440" y="44956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93" name=""/>
          <p:cNvSpPr/>
          <p:nvPr/>
        </p:nvSpPr>
        <p:spPr>
          <a:xfrm>
            <a:off x="6067440" y="45813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725E8B"/>
                </a:solidFill>
                <a:effectLst/>
                <a:uFillTx/>
                <a:latin typeface="Calibri"/>
                <a:ea typeface="Calibri"/>
              </a:rPr>
              <a:t>FEEDBACK</a:t>
            </a:r>
            <a:endParaRPr lang="en-US" sz="1050" b="0" u="none" strike="noStrike">
              <a:solidFill>
                <a:srgbClr val="000000"/>
              </a:solidFill>
              <a:effectLst/>
              <a:uFillTx/>
              <a:latin typeface="Arial"/>
            </a:endParaRPr>
          </a:p>
        </p:txBody>
      </p:sp>
      <p:sp>
        <p:nvSpPr>
          <p:cNvPr id="1194" name=""/>
          <p:cNvSpPr/>
          <p:nvPr/>
        </p:nvSpPr>
        <p:spPr>
          <a:xfrm>
            <a:off x="6067440" y="47912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Reports repeated monthly to quarterly, so households saw their use again.</a:t>
            </a:r>
            <a:endParaRPr lang="en-US" sz="1430" b="0" u="none" strike="noStrike">
              <a:solidFill>
                <a:srgbClr val="000000"/>
              </a:solidFill>
              <a:effectLst/>
              <a:uFillTx/>
              <a:latin typeface="Arial"/>
            </a:endParaRPr>
          </a:p>
        </p:txBody>
      </p:sp>
      <p:sp>
        <p:nvSpPr>
          <p:cNvPr id="1195" name=""/>
          <p:cNvSpPr/>
          <p:nvPr/>
        </p:nvSpPr>
        <p:spPr>
          <a:xfrm>
            <a:off x="666720" y="1666800"/>
            <a:ext cx="4952520" cy="3676320"/>
          </a:xfrm>
          <a:prstGeom prst="roundRect">
            <a:avLst>
              <a:gd name="adj" fmla="val 2073"/>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96" name=""/>
          <p:cNvSpPr/>
          <p:nvPr/>
        </p:nvSpPr>
        <p:spPr>
          <a:xfrm>
            <a:off x="819000" y="1819440"/>
            <a:ext cx="4647960" cy="2904840"/>
          </a:xfrm>
          <a:prstGeom prst="roundRect">
            <a:avLst>
              <a:gd name="adj" fmla="val 2623"/>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197" name=""/>
          <p:cNvPicPr/>
          <p:nvPr/>
        </p:nvPicPr>
        <p:blipFill>
          <a:blip r:embed="rId1"/>
          <a:stretch/>
        </p:blipFill>
        <p:spPr>
          <a:xfrm>
            <a:off x="1144800" y="1895400"/>
            <a:ext cx="3996720" cy="2752200"/>
          </a:xfrm>
          <a:prstGeom prst="rect">
            <a:avLst/>
          </a:prstGeom>
          <a:noFill/>
          <a:ln w="0">
            <a:noFill/>
          </a:ln>
        </p:spPr>
      </p:pic>
      <p:sp>
        <p:nvSpPr>
          <p:cNvPr id="1198" name=""/>
          <p:cNvSpPr/>
          <p:nvPr/>
        </p:nvSpPr>
        <p:spPr>
          <a:xfrm>
            <a:off x="847800" y="4829040"/>
            <a:ext cx="460980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Home Energy Report action steps, c. 2009 — OPOWER via Allcott 2011</a:t>
            </a:r>
            <a:endParaRPr lang="en-US" sz="1130" b="0" u="none" strike="noStrike">
              <a:solidFill>
                <a:srgbClr val="000000"/>
              </a:solidFill>
              <a:effectLst/>
              <a:uFillTx/>
              <a:latin typeface="Arial"/>
            </a:endParaRPr>
          </a:p>
        </p:txBody>
      </p:sp>
      <p:sp>
        <p:nvSpPr>
          <p:cNvPr id="1199" name=""/>
          <p:cNvSpPr/>
          <p:nvPr/>
        </p:nvSpPr>
        <p:spPr>
          <a:xfrm>
            <a:off x="666720" y="5495760"/>
            <a:ext cx="10858320" cy="847440"/>
          </a:xfrm>
          <a:prstGeom prst="roundRect">
            <a:avLst>
              <a:gd name="adj" fmla="val 8989"/>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00" name=""/>
          <p:cNvSpPr/>
          <p:nvPr/>
        </p:nvSpPr>
        <p:spPr>
          <a:xfrm>
            <a:off x="838080" y="5610240"/>
            <a:ext cx="2571480" cy="2091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725E8B"/>
                </a:solidFill>
                <a:effectLst/>
                <a:uFillTx/>
                <a:latin typeface="Calibri"/>
                <a:ea typeface="Calibri"/>
              </a:rPr>
              <a:t>DESIGN LESSON</a:t>
            </a:r>
            <a:endParaRPr lang="en-US" sz="1130" b="0" u="none" strike="noStrike">
              <a:solidFill>
                <a:srgbClr val="000000"/>
              </a:solidFill>
              <a:effectLst/>
              <a:uFillTx/>
              <a:latin typeface="Arial"/>
            </a:endParaRPr>
          </a:p>
        </p:txBody>
      </p:sp>
      <p:sp>
        <p:nvSpPr>
          <p:cNvPr id="1201" name=""/>
          <p:cNvSpPr/>
          <p:nvPr/>
        </p:nvSpPr>
        <p:spPr>
          <a:xfrm>
            <a:off x="838080" y="5867280"/>
            <a:ext cx="1028664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Pair the comparison with practical steps; Allcott credits the tips with keeping low users from using more.</a:t>
            </a:r>
            <a:endParaRPr lang="en-US" sz="1500" b="0" u="none" strike="noStrike">
              <a:solidFill>
                <a:srgbClr val="000000"/>
              </a:solidFill>
              <a:effectLst/>
              <a:uFillTx/>
              <a:latin typeface="Arial"/>
            </a:endParaRPr>
          </a:p>
        </p:txBody>
      </p:sp>
      <p:sp>
        <p:nvSpPr>
          <p:cNvPr id="1202"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203"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nber.org  ·  eml.berkeley.edu</a:t>
            </a:r>
            <a:endParaRPr lang="en-US" sz="900" b="0" u="none" strike="noStrike">
              <a:solidFill>
                <a:srgbClr val="000000"/>
              </a:solidFill>
              <a:effectLst/>
              <a:uFillTx/>
              <a:latin typeface="Arial"/>
            </a:endParaRPr>
          </a:p>
        </p:txBody>
      </p:sp>
      <p:sp>
        <p:nvSpPr>
          <p:cNvPr id="1204"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38</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205" name="PlaceHolder 1"/>
          <p:cNvSpPr>
            <a:spLocks noGrp="1"/>
          </p:cNvSpPr>
          <p:nvPr>
            <p:ph type="sldNum" idx="45"/>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206"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07"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27 / 35</a:t>
            </a:r>
            <a:endParaRPr lang="en-US" sz="1200" b="0" u="none" strike="noStrike">
              <a:solidFill>
                <a:srgbClr val="000000"/>
              </a:solidFill>
              <a:effectLst/>
              <a:uFillTx/>
              <a:latin typeface="Arial"/>
            </a:endParaRPr>
          </a:p>
        </p:txBody>
      </p:sp>
      <p:sp>
        <p:nvSpPr>
          <p:cNvPr id="1208"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INDIA</a:t>
            </a:r>
            <a:endParaRPr lang="en-US" sz="1200" b="0" u="none" strike="noStrike">
              <a:solidFill>
                <a:srgbClr val="000000"/>
              </a:solidFill>
              <a:effectLst/>
              <a:uFillTx/>
              <a:latin typeface="Arial"/>
            </a:endParaRPr>
          </a:p>
        </p:txBody>
      </p:sp>
      <p:sp>
        <p:nvSpPr>
          <p:cNvPr id="1209"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2008</a:t>
            </a:r>
            <a:endParaRPr lang="en-US" sz="1350" b="0" u="none" strike="noStrike">
              <a:solidFill>
                <a:srgbClr val="000000"/>
              </a:solidFill>
              <a:effectLst/>
              <a:uFillTx/>
              <a:latin typeface="Arial"/>
            </a:endParaRPr>
          </a:p>
        </p:txBody>
      </p:sp>
      <p:sp>
        <p:nvSpPr>
          <p:cNvPr id="1210"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Kyunki… Jeena Issi Ka Naam Hai</a:t>
            </a:r>
            <a:endParaRPr lang="en-US" sz="3600" b="0" u="none" strike="noStrike">
              <a:solidFill>
                <a:srgbClr val="000000"/>
              </a:solidFill>
              <a:effectLst/>
              <a:uFillTx/>
              <a:latin typeface="Arial"/>
            </a:endParaRPr>
          </a:p>
        </p:txBody>
      </p:sp>
      <p:sp>
        <p:nvSpPr>
          <p:cNvPr id="1211"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212"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213"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214"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Health advice felt separate from family life</a:t>
            </a:r>
            <a:endParaRPr lang="en-US" sz="1350" b="0" u="none" strike="noStrike">
              <a:solidFill>
                <a:srgbClr val="000000"/>
              </a:solidFill>
              <a:effectLst/>
              <a:uFillTx/>
              <a:latin typeface="Arial"/>
            </a:endParaRPr>
          </a:p>
        </p:txBody>
      </p:sp>
      <p:sp>
        <p:nvSpPr>
          <p:cNvPr id="1215"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216"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Families could see care practices in stories</a:t>
            </a:r>
            <a:endParaRPr lang="en-US" sz="1350" b="0" u="none" strike="noStrike">
              <a:solidFill>
                <a:srgbClr val="000000"/>
              </a:solidFill>
              <a:effectLst/>
              <a:uFillTx/>
              <a:latin typeface="Arial"/>
            </a:endParaRPr>
          </a:p>
        </p:txBody>
      </p:sp>
      <p:sp>
        <p:nvSpPr>
          <p:cNvPr id="1217"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218"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219"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1220"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UNICEF’s Facts for Life health messages were written into recurring village storylines.</a:t>
            </a:r>
            <a:endParaRPr lang="en-US" sz="1500" b="0" u="none" strike="noStrike">
              <a:solidFill>
                <a:srgbClr val="000000"/>
              </a:solidFill>
              <a:effectLst/>
              <a:uFillTx/>
              <a:latin typeface="Arial"/>
            </a:endParaRPr>
          </a:p>
        </p:txBody>
      </p:sp>
      <p:sp>
        <p:nvSpPr>
          <p:cNvPr id="1221"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222"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1223"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Doordarshan aired it in prime time; its primary audience was women aged 15 to 34.</a:t>
            </a:r>
            <a:endParaRPr lang="en-US" sz="1500" b="0" u="none" strike="noStrike">
              <a:solidFill>
                <a:srgbClr val="000000"/>
              </a:solidFill>
              <a:effectLst/>
              <a:uFillTx/>
              <a:latin typeface="Arial"/>
            </a:endParaRPr>
          </a:p>
        </p:txBody>
      </p:sp>
      <p:sp>
        <p:nvSpPr>
          <p:cNvPr id="1224"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225"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1226"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Frontline health workers, including nurse Savita, were lead characters viewers discussed.</a:t>
            </a:r>
            <a:endParaRPr lang="en-US" sz="1500" b="0" u="none" strike="noStrike">
              <a:solidFill>
                <a:srgbClr val="000000"/>
              </a:solidFill>
              <a:effectLst/>
              <a:uFillTx/>
              <a:latin typeface="Arial"/>
            </a:endParaRPr>
          </a:p>
        </p:txBody>
      </p:sp>
      <p:sp>
        <p:nvSpPr>
          <p:cNvPr id="1227"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28"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229" name=""/>
          <p:cNvPicPr/>
          <p:nvPr/>
        </p:nvPicPr>
        <p:blipFill>
          <a:blip r:embed="rId1"/>
          <a:stretch/>
        </p:blipFill>
        <p:spPr>
          <a:xfrm>
            <a:off x="7349760" y="1752480"/>
            <a:ext cx="2978640" cy="3038040"/>
          </a:xfrm>
          <a:prstGeom prst="rect">
            <a:avLst/>
          </a:prstGeom>
          <a:noFill/>
          <a:ln w="0">
            <a:noFill/>
          </a:ln>
        </p:spPr>
      </p:pic>
      <p:sp>
        <p:nvSpPr>
          <p:cNvPr id="1230"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Nurse Savita viewer postcard, 2008–11 — UNICEF India</a:t>
            </a:r>
            <a:endParaRPr lang="en-US" sz="1130" b="0" u="none" strike="noStrike">
              <a:solidFill>
                <a:srgbClr val="000000"/>
              </a:solidFill>
              <a:effectLst/>
              <a:uFillTx/>
              <a:latin typeface="Arial"/>
            </a:endParaRPr>
          </a:p>
        </p:txBody>
      </p:sp>
      <p:sp>
        <p:nvSpPr>
          <p:cNvPr id="1231"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32"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233"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UNICEF reported 145 million viewers and increased health knowledge among women.</a:t>
            </a:r>
            <a:endParaRPr lang="en-US" sz="1280" b="0" u="none" strike="noStrike">
              <a:solidFill>
                <a:srgbClr val="000000"/>
              </a:solidFill>
              <a:effectLst/>
              <a:uFillTx/>
              <a:latin typeface="Arial"/>
            </a:endParaRPr>
          </a:p>
        </p:txBody>
      </p:sp>
      <p:sp>
        <p:nvSpPr>
          <p:cNvPr id="1234"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35"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236"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UNICEF-commissioned pre-post surveys vs. non-viewers; not randomized.</a:t>
            </a:r>
            <a:endParaRPr lang="en-US" sz="1200" b="0" u="none" strike="noStrike">
              <a:solidFill>
                <a:srgbClr val="000000"/>
              </a:solidFill>
              <a:effectLst/>
              <a:uFillTx/>
              <a:latin typeface="Arial"/>
            </a:endParaRPr>
          </a:p>
        </p:txBody>
      </p:sp>
      <p:sp>
        <p:nvSpPr>
          <p:cNvPr id="1237"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238"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web.archive.org  ·  global.comminit.com</a:t>
            </a:r>
            <a:endParaRPr lang="en-US" sz="900" b="0" u="none" strike="noStrike">
              <a:solidFill>
                <a:srgbClr val="000000"/>
              </a:solidFill>
              <a:effectLst/>
              <a:uFillTx/>
              <a:latin typeface="Arial"/>
            </a:endParaRPr>
          </a:p>
        </p:txBody>
      </p:sp>
      <p:sp>
        <p:nvSpPr>
          <p:cNvPr id="1239"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39</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240" name="PlaceHolder 1"/>
          <p:cNvSpPr>
            <a:spLocks noGrp="1"/>
          </p:cNvSpPr>
          <p:nvPr>
            <p:ph type="sldNum" idx="46"/>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241"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42"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28 / 35</a:t>
            </a:r>
            <a:endParaRPr lang="en-US" sz="1200" b="0" u="none" strike="noStrike">
              <a:solidFill>
                <a:srgbClr val="000000"/>
              </a:solidFill>
              <a:effectLst/>
              <a:uFillTx/>
              <a:latin typeface="Arial"/>
            </a:endParaRPr>
          </a:p>
        </p:txBody>
      </p:sp>
      <p:sp>
        <p:nvSpPr>
          <p:cNvPr id="1243"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KENYA → WIDER AFRICA</a:t>
            </a:r>
            <a:endParaRPr lang="en-US" sz="1200" b="0" u="none" strike="noStrike">
              <a:solidFill>
                <a:srgbClr val="000000"/>
              </a:solidFill>
              <a:effectLst/>
              <a:uFillTx/>
              <a:latin typeface="Arial"/>
            </a:endParaRPr>
          </a:p>
        </p:txBody>
      </p:sp>
      <p:sp>
        <p:nvSpPr>
          <p:cNvPr id="1244"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2009</a:t>
            </a:r>
            <a:endParaRPr lang="en-US" sz="1350" b="0" u="none" strike="noStrike">
              <a:solidFill>
                <a:srgbClr val="000000"/>
              </a:solidFill>
              <a:effectLst/>
              <a:uFillTx/>
              <a:latin typeface="Arial"/>
            </a:endParaRPr>
          </a:p>
        </p:txBody>
      </p:sp>
      <p:sp>
        <p:nvSpPr>
          <p:cNvPr id="1245"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MTV Shuga</a:t>
            </a:r>
            <a:endParaRPr lang="en-US" sz="3600" b="0" u="none" strike="noStrike">
              <a:solidFill>
                <a:srgbClr val="000000"/>
              </a:solidFill>
              <a:effectLst/>
              <a:uFillTx/>
              <a:latin typeface="Arial"/>
            </a:endParaRPr>
          </a:p>
        </p:txBody>
      </p:sp>
      <p:sp>
        <p:nvSpPr>
          <p:cNvPr id="1246"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247"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248"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249"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Few young Nigerians had recently tested for HIV</a:t>
            </a:r>
            <a:endParaRPr lang="en-US" sz="1350" b="0" u="none" strike="noStrike">
              <a:solidFill>
                <a:srgbClr val="000000"/>
              </a:solidFill>
              <a:effectLst/>
              <a:uFillTx/>
              <a:latin typeface="Arial"/>
            </a:endParaRPr>
          </a:p>
        </p:txBody>
      </p:sp>
      <p:sp>
        <p:nvSpPr>
          <p:cNvPr id="1250"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251"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Young characters made the choices familiar</a:t>
            </a:r>
            <a:endParaRPr lang="en-US" sz="1350" b="0" u="none" strike="noStrike">
              <a:solidFill>
                <a:srgbClr val="000000"/>
              </a:solidFill>
              <a:effectLst/>
              <a:uFillTx/>
              <a:latin typeface="Arial"/>
            </a:endParaRPr>
          </a:p>
        </p:txBody>
      </p:sp>
      <p:sp>
        <p:nvSpPr>
          <p:cNvPr id="1252"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253"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254"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1255"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Nigerian season built HIV testing and stigma into its main characters’ stories.</a:t>
            </a:r>
            <a:endParaRPr lang="en-US" sz="1500" b="0" u="none" strike="noStrike">
              <a:solidFill>
                <a:srgbClr val="000000"/>
              </a:solidFill>
              <a:effectLst/>
              <a:uFillTx/>
              <a:latin typeface="Arial"/>
            </a:endParaRPr>
          </a:p>
        </p:txBody>
      </p:sp>
      <p:sp>
        <p:nvSpPr>
          <p:cNvPr id="1256"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257"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1258"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Eight 22-minute episodes starred prominent Nigerian actors and musicians.</a:t>
            </a:r>
            <a:endParaRPr lang="en-US" sz="1500" b="0" u="none" strike="noStrike">
              <a:solidFill>
                <a:srgbClr val="000000"/>
              </a:solidFill>
              <a:effectLst/>
              <a:uFillTx/>
              <a:latin typeface="Arial"/>
            </a:endParaRPr>
          </a:p>
        </p:txBody>
      </p:sp>
      <p:sp>
        <p:nvSpPr>
          <p:cNvPr id="1259"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260"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1261"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After the study, writers were urged to put key messages in main plots, not side plots.</a:t>
            </a:r>
            <a:endParaRPr lang="en-US" sz="1500" b="0" u="none" strike="noStrike">
              <a:solidFill>
                <a:srgbClr val="000000"/>
              </a:solidFill>
              <a:effectLst/>
              <a:uFillTx/>
              <a:latin typeface="Arial"/>
            </a:endParaRPr>
          </a:p>
        </p:txBody>
      </p:sp>
      <p:sp>
        <p:nvSpPr>
          <p:cNvPr id="1262"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63"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264" name=""/>
          <p:cNvPicPr/>
          <p:nvPr/>
        </p:nvPicPr>
        <p:blipFill>
          <a:blip r:embed="rId1"/>
          <a:stretch/>
        </p:blipFill>
        <p:spPr>
          <a:xfrm>
            <a:off x="6381720" y="1889640"/>
            <a:ext cx="4914720" cy="2764440"/>
          </a:xfrm>
          <a:prstGeom prst="rect">
            <a:avLst/>
          </a:prstGeom>
          <a:noFill/>
          <a:ln w="0">
            <a:noFill/>
          </a:ln>
        </p:spPr>
      </p:pic>
      <p:sp>
        <p:nvSpPr>
          <p:cNvPr id="1265"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Shuga Naija ep. 3 HIV-test clinic scene, 2013 — MTV Staying Alive</a:t>
            </a:r>
            <a:endParaRPr lang="en-US" sz="1130" b="0" u="none" strike="noStrike">
              <a:solidFill>
                <a:srgbClr val="000000"/>
              </a:solidFill>
              <a:effectLst/>
              <a:uFillTx/>
              <a:latin typeface="Arial"/>
            </a:endParaRPr>
          </a:p>
        </p:txBody>
      </p:sp>
      <p:sp>
        <p:nvSpPr>
          <p:cNvPr id="1266"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67"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268"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Young adults assigned to watch were more likely to get an HIV test; fewer women tested positive for chlamydia.</a:t>
            </a:r>
            <a:endParaRPr lang="en-US" sz="1280" b="0" u="none" strike="noStrike">
              <a:solidFill>
                <a:srgbClr val="000000"/>
              </a:solidFill>
              <a:effectLst/>
              <a:uFillTx/>
              <a:latin typeface="Arial"/>
            </a:endParaRPr>
          </a:p>
        </p:txBody>
      </p:sp>
      <p:sp>
        <p:nvSpPr>
          <p:cNvPr id="1269"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70"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271"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80 Nigerian screening sites randomly assigned to Shuga or a non-health drama.</a:t>
            </a:r>
            <a:endParaRPr lang="en-US" sz="1200" b="0" u="none" strike="noStrike">
              <a:solidFill>
                <a:srgbClr val="000000"/>
              </a:solidFill>
              <a:effectLst/>
              <a:uFillTx/>
              <a:latin typeface="Arial"/>
            </a:endParaRPr>
          </a:p>
        </p:txBody>
      </p:sp>
      <p:sp>
        <p:nvSpPr>
          <p:cNvPr id="1272"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273"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shuga.tv  ·  povertyactionlab.org  ·  nber.org</a:t>
            </a:r>
            <a:endParaRPr lang="en-US" sz="900" b="0" u="none" strike="noStrike">
              <a:solidFill>
                <a:srgbClr val="000000"/>
              </a:solidFill>
              <a:effectLst/>
              <a:uFillTx/>
              <a:latin typeface="Arial"/>
            </a:endParaRPr>
          </a:p>
        </p:txBody>
      </p:sp>
      <p:sp>
        <p:nvSpPr>
          <p:cNvPr id="1274"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40</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275" name="PlaceHolder 1"/>
          <p:cNvSpPr>
            <a:spLocks noGrp="1"/>
          </p:cNvSpPr>
          <p:nvPr>
            <p:ph type="sldNum" idx="47"/>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276"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77" name=""/>
          <p:cNvSpPr/>
          <p:nvPr/>
        </p:nvSpPr>
        <p:spPr>
          <a:xfrm>
            <a:off x="666720" y="447840"/>
            <a:ext cx="100962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CLOSER LOOK  ·  2009  ·  KENYA → WIDER AFRICA</a:t>
            </a:r>
            <a:endParaRPr lang="en-US" sz="1200" b="0" u="none" strike="noStrike">
              <a:solidFill>
                <a:srgbClr val="000000"/>
              </a:solidFill>
              <a:effectLst/>
              <a:uFillTx/>
              <a:latin typeface="Arial"/>
            </a:endParaRPr>
          </a:p>
        </p:txBody>
      </p:sp>
      <p:sp>
        <p:nvSpPr>
          <p:cNvPr id="1278" name=""/>
          <p:cNvSpPr/>
          <p:nvPr/>
        </p:nvSpPr>
        <p:spPr>
          <a:xfrm>
            <a:off x="666720" y="91440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820" b="1" u="none" strike="noStrike">
                <a:solidFill>
                  <a:srgbClr val="17232B"/>
                </a:solidFill>
                <a:effectLst/>
                <a:uFillTx/>
                <a:latin typeface="Calibri"/>
                <a:ea typeface="Calibri"/>
              </a:rPr>
              <a:t>MTV Shuga</a:t>
            </a:r>
            <a:endParaRPr lang="en-US" sz="3820" b="0" u="none" strike="noStrike">
              <a:solidFill>
                <a:srgbClr val="000000"/>
              </a:solidFill>
              <a:effectLst/>
              <a:uFillTx/>
              <a:latin typeface="Arial"/>
            </a:endParaRPr>
          </a:p>
        </p:txBody>
      </p:sp>
      <p:sp>
        <p:nvSpPr>
          <p:cNvPr id="1279" name=""/>
          <p:cNvSpPr/>
          <p:nvPr/>
        </p:nvSpPr>
        <p:spPr>
          <a:xfrm>
            <a:off x="5905440" y="1685880"/>
            <a:ext cx="528588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THE OPERATING CHAIN</a:t>
            </a:r>
            <a:endParaRPr lang="en-US" sz="1350" b="0" u="none" strike="noStrike">
              <a:solidFill>
                <a:srgbClr val="000000"/>
              </a:solidFill>
              <a:effectLst/>
              <a:uFillTx/>
              <a:latin typeface="Arial"/>
            </a:endParaRPr>
          </a:p>
        </p:txBody>
      </p:sp>
      <p:sp>
        <p:nvSpPr>
          <p:cNvPr id="1280" name=""/>
          <p:cNvSpPr/>
          <p:nvPr/>
        </p:nvSpPr>
        <p:spPr>
          <a:xfrm>
            <a:off x="5905440" y="19810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81" name=""/>
          <p:cNvSpPr/>
          <p:nvPr/>
        </p:nvSpPr>
        <p:spPr>
          <a:xfrm>
            <a:off x="6067440" y="20667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B75D3C"/>
                </a:solidFill>
                <a:effectLst/>
                <a:uFillTx/>
                <a:latin typeface="Calibri"/>
                <a:ea typeface="Calibri"/>
              </a:rPr>
              <a:t>STORY</a:t>
            </a:r>
            <a:endParaRPr lang="en-US" sz="1050" b="0" u="none" strike="noStrike">
              <a:solidFill>
                <a:srgbClr val="000000"/>
              </a:solidFill>
              <a:effectLst/>
              <a:uFillTx/>
              <a:latin typeface="Arial"/>
            </a:endParaRPr>
          </a:p>
        </p:txBody>
      </p:sp>
      <p:sp>
        <p:nvSpPr>
          <p:cNvPr id="1282" name=""/>
          <p:cNvSpPr/>
          <p:nvPr/>
        </p:nvSpPr>
        <p:spPr>
          <a:xfrm>
            <a:off x="6067440" y="22766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The Nigerian season used eight short episodes about testing, stigma, and relationships.</a:t>
            </a:r>
            <a:endParaRPr lang="en-US" sz="1430" b="0" u="none" strike="noStrike">
              <a:solidFill>
                <a:srgbClr val="000000"/>
              </a:solidFill>
              <a:effectLst/>
              <a:uFillTx/>
              <a:latin typeface="Arial"/>
            </a:endParaRPr>
          </a:p>
        </p:txBody>
      </p:sp>
      <p:sp>
        <p:nvSpPr>
          <p:cNvPr id="1283" name=""/>
          <p:cNvSpPr/>
          <p:nvPr/>
        </p:nvSpPr>
        <p:spPr>
          <a:xfrm>
            <a:off x="5905440" y="281952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84" name=""/>
          <p:cNvSpPr/>
          <p:nvPr/>
        </p:nvSpPr>
        <p:spPr>
          <a:xfrm>
            <a:off x="6067440" y="290520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B75D3C"/>
                </a:solidFill>
                <a:effectLst/>
                <a:uFillTx/>
                <a:latin typeface="Calibri"/>
                <a:ea typeface="Calibri"/>
              </a:rPr>
              <a:t>CHARACTERS</a:t>
            </a:r>
            <a:endParaRPr lang="en-US" sz="1050" b="0" u="none" strike="noStrike">
              <a:solidFill>
                <a:srgbClr val="000000"/>
              </a:solidFill>
              <a:effectLst/>
              <a:uFillTx/>
              <a:latin typeface="Arial"/>
            </a:endParaRPr>
          </a:p>
        </p:txBody>
      </p:sp>
      <p:sp>
        <p:nvSpPr>
          <p:cNvPr id="1285" name=""/>
          <p:cNvSpPr/>
          <p:nvPr/>
        </p:nvSpPr>
        <p:spPr>
          <a:xfrm>
            <a:off x="6067440" y="311472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Choices and consequences unfolded through young people viewers could recognize.</a:t>
            </a:r>
            <a:endParaRPr lang="en-US" sz="1430" b="0" u="none" strike="noStrike">
              <a:solidFill>
                <a:srgbClr val="000000"/>
              </a:solidFill>
              <a:effectLst/>
              <a:uFillTx/>
              <a:latin typeface="Arial"/>
            </a:endParaRPr>
          </a:p>
        </p:txBody>
      </p:sp>
      <p:sp>
        <p:nvSpPr>
          <p:cNvPr id="1286" name=""/>
          <p:cNvSpPr/>
          <p:nvPr/>
        </p:nvSpPr>
        <p:spPr>
          <a:xfrm>
            <a:off x="5905440" y="365760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87" name=""/>
          <p:cNvSpPr/>
          <p:nvPr/>
        </p:nvSpPr>
        <p:spPr>
          <a:xfrm>
            <a:off x="6067440" y="374328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B75D3C"/>
                </a:solidFill>
                <a:effectLst/>
                <a:uFillTx/>
                <a:latin typeface="Calibri"/>
                <a:ea typeface="Calibri"/>
              </a:rPr>
              <a:t>TEST</a:t>
            </a:r>
            <a:endParaRPr lang="en-US" sz="1050" b="0" u="none" strike="noStrike">
              <a:solidFill>
                <a:srgbClr val="000000"/>
              </a:solidFill>
              <a:effectLst/>
              <a:uFillTx/>
              <a:latin typeface="Arial"/>
            </a:endParaRPr>
          </a:p>
        </p:txBody>
      </p:sp>
      <p:sp>
        <p:nvSpPr>
          <p:cNvPr id="1288" name=""/>
          <p:cNvSpPr/>
          <p:nvPr/>
        </p:nvSpPr>
        <p:spPr>
          <a:xfrm>
            <a:off x="6067440" y="395280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Randomly assigned sites showed Shuga or Gidi Up, a youth drama with no health content.</a:t>
            </a:r>
            <a:endParaRPr lang="en-US" sz="1430" b="0" u="none" strike="noStrike">
              <a:solidFill>
                <a:srgbClr val="000000"/>
              </a:solidFill>
              <a:effectLst/>
              <a:uFillTx/>
              <a:latin typeface="Arial"/>
            </a:endParaRPr>
          </a:p>
        </p:txBody>
      </p:sp>
      <p:sp>
        <p:nvSpPr>
          <p:cNvPr id="1289" name=""/>
          <p:cNvSpPr/>
          <p:nvPr/>
        </p:nvSpPr>
        <p:spPr>
          <a:xfrm>
            <a:off x="5905440" y="44956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90" name=""/>
          <p:cNvSpPr/>
          <p:nvPr/>
        </p:nvSpPr>
        <p:spPr>
          <a:xfrm>
            <a:off x="6067440" y="45813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B75D3C"/>
                </a:solidFill>
                <a:effectLst/>
                <a:uFillTx/>
                <a:latin typeface="Calibri"/>
                <a:ea typeface="Calibri"/>
              </a:rPr>
              <a:t>REVISE</a:t>
            </a:r>
            <a:endParaRPr lang="en-US" sz="1050" b="0" u="none" strike="noStrike">
              <a:solidFill>
                <a:srgbClr val="000000"/>
              </a:solidFill>
              <a:effectLst/>
              <a:uFillTx/>
              <a:latin typeface="Arial"/>
            </a:endParaRPr>
          </a:p>
        </p:txBody>
      </p:sp>
      <p:sp>
        <p:nvSpPr>
          <p:cNvPr id="1291" name=""/>
          <p:cNvSpPr/>
          <p:nvPr/>
        </p:nvSpPr>
        <p:spPr>
          <a:xfrm>
            <a:off x="6067440" y="47912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Later writers were urged to move health messages from side plots into main plots.</a:t>
            </a:r>
            <a:endParaRPr lang="en-US" sz="1430" b="0" u="none" strike="noStrike">
              <a:solidFill>
                <a:srgbClr val="000000"/>
              </a:solidFill>
              <a:effectLst/>
              <a:uFillTx/>
              <a:latin typeface="Arial"/>
            </a:endParaRPr>
          </a:p>
        </p:txBody>
      </p:sp>
      <p:sp>
        <p:nvSpPr>
          <p:cNvPr id="1292" name=""/>
          <p:cNvSpPr/>
          <p:nvPr/>
        </p:nvSpPr>
        <p:spPr>
          <a:xfrm>
            <a:off x="666720" y="1666800"/>
            <a:ext cx="4952520" cy="3676320"/>
          </a:xfrm>
          <a:prstGeom prst="roundRect">
            <a:avLst>
              <a:gd name="adj" fmla="val 2073"/>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93" name=""/>
          <p:cNvSpPr/>
          <p:nvPr/>
        </p:nvSpPr>
        <p:spPr>
          <a:xfrm>
            <a:off x="819000" y="1819440"/>
            <a:ext cx="4647960" cy="2904840"/>
          </a:xfrm>
          <a:prstGeom prst="roundRect">
            <a:avLst>
              <a:gd name="adj" fmla="val 2623"/>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294" name=""/>
          <p:cNvPicPr/>
          <p:nvPr/>
        </p:nvPicPr>
        <p:blipFill>
          <a:blip r:embed="rId1"/>
          <a:stretch/>
        </p:blipFill>
        <p:spPr>
          <a:xfrm>
            <a:off x="895320" y="2007360"/>
            <a:ext cx="4495320" cy="2528640"/>
          </a:xfrm>
          <a:prstGeom prst="rect">
            <a:avLst/>
          </a:prstGeom>
          <a:noFill/>
          <a:ln w="0">
            <a:noFill/>
          </a:ln>
        </p:spPr>
      </p:pic>
      <p:sp>
        <p:nvSpPr>
          <p:cNvPr id="1295" name=""/>
          <p:cNvSpPr/>
          <p:nvPr/>
        </p:nvSpPr>
        <p:spPr>
          <a:xfrm>
            <a:off x="847800" y="4829040"/>
            <a:ext cx="460980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Shuga Naija helpline end card, 2013 — MTV Staying Alive</a:t>
            </a:r>
            <a:endParaRPr lang="en-US" sz="1130" b="0" u="none" strike="noStrike">
              <a:solidFill>
                <a:srgbClr val="000000"/>
              </a:solidFill>
              <a:effectLst/>
              <a:uFillTx/>
              <a:latin typeface="Arial"/>
            </a:endParaRPr>
          </a:p>
        </p:txBody>
      </p:sp>
      <p:sp>
        <p:nvSpPr>
          <p:cNvPr id="1296" name=""/>
          <p:cNvSpPr/>
          <p:nvPr/>
        </p:nvSpPr>
        <p:spPr>
          <a:xfrm>
            <a:off x="666720" y="5495760"/>
            <a:ext cx="10858320" cy="847440"/>
          </a:xfrm>
          <a:prstGeom prst="roundRect">
            <a:avLst>
              <a:gd name="adj" fmla="val 8989"/>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97" name=""/>
          <p:cNvSpPr/>
          <p:nvPr/>
        </p:nvSpPr>
        <p:spPr>
          <a:xfrm>
            <a:off x="838080" y="5610240"/>
            <a:ext cx="2571480" cy="2091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DESIGN LESSON</a:t>
            </a:r>
            <a:endParaRPr lang="en-US" sz="1130" b="0" u="none" strike="noStrike">
              <a:solidFill>
                <a:srgbClr val="000000"/>
              </a:solidFill>
              <a:effectLst/>
              <a:uFillTx/>
              <a:latin typeface="Arial"/>
            </a:endParaRPr>
          </a:p>
        </p:txBody>
      </p:sp>
      <p:sp>
        <p:nvSpPr>
          <p:cNvPr id="1298" name=""/>
          <p:cNvSpPr/>
          <p:nvPr/>
        </p:nvSpPr>
        <p:spPr>
          <a:xfrm>
            <a:off x="838080" y="5867280"/>
            <a:ext cx="1028664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desired choice needs to matter to the main story, not just appear in the background.</a:t>
            </a:r>
            <a:endParaRPr lang="en-US" sz="1500" b="0" u="none" strike="noStrike">
              <a:solidFill>
                <a:srgbClr val="000000"/>
              </a:solidFill>
              <a:effectLst/>
              <a:uFillTx/>
              <a:latin typeface="Arial"/>
            </a:endParaRPr>
          </a:p>
        </p:txBody>
      </p:sp>
      <p:sp>
        <p:nvSpPr>
          <p:cNvPr id="1299"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300"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shuga.tv  ·  povertyactionlab.org  ·  nber.org</a:t>
            </a:r>
            <a:endParaRPr lang="en-US" sz="900" b="0" u="none" strike="noStrike">
              <a:solidFill>
                <a:srgbClr val="000000"/>
              </a:solidFill>
              <a:effectLst/>
              <a:uFillTx/>
              <a:latin typeface="Arial"/>
            </a:endParaRPr>
          </a:p>
        </p:txBody>
      </p:sp>
      <p:sp>
        <p:nvSpPr>
          <p:cNvPr id="1301"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41</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302" name="PlaceHolder 1"/>
          <p:cNvSpPr>
            <a:spLocks noGrp="1"/>
          </p:cNvSpPr>
          <p:nvPr>
            <p:ph type="sldNum" idx="48"/>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303"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04"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29 / 35</a:t>
            </a:r>
            <a:endParaRPr lang="en-US" sz="1200" b="0" u="none" strike="noStrike">
              <a:solidFill>
                <a:srgbClr val="000000"/>
              </a:solidFill>
              <a:effectLst/>
              <a:uFillTx/>
              <a:latin typeface="Arial"/>
            </a:endParaRPr>
          </a:p>
        </p:txBody>
      </p:sp>
      <p:sp>
        <p:nvSpPr>
          <p:cNvPr id="1305"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UNITED STATES</a:t>
            </a:r>
            <a:endParaRPr lang="en-US" sz="1200" b="0" u="none" strike="noStrike">
              <a:solidFill>
                <a:srgbClr val="000000"/>
              </a:solidFill>
              <a:effectLst/>
              <a:uFillTx/>
              <a:latin typeface="Arial"/>
            </a:endParaRPr>
          </a:p>
        </p:txBody>
      </p:sp>
      <p:sp>
        <p:nvSpPr>
          <p:cNvPr id="1306"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2013</a:t>
            </a:r>
            <a:endParaRPr lang="en-US" sz="1350" b="0" u="none" strike="noStrike">
              <a:solidFill>
                <a:srgbClr val="000000"/>
              </a:solidFill>
              <a:effectLst/>
              <a:uFillTx/>
              <a:latin typeface="Arial"/>
            </a:endParaRPr>
          </a:p>
        </p:txBody>
      </p:sp>
      <p:sp>
        <p:nvSpPr>
          <p:cNvPr id="1307"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East Los High</a:t>
            </a:r>
            <a:endParaRPr lang="en-US" sz="3600" b="0" u="none" strike="noStrike">
              <a:solidFill>
                <a:srgbClr val="000000"/>
              </a:solidFill>
              <a:effectLst/>
              <a:uFillTx/>
              <a:latin typeface="Arial"/>
            </a:endParaRPr>
          </a:p>
        </p:txBody>
      </p:sp>
      <p:sp>
        <p:nvSpPr>
          <p:cNvPr id="1308"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309"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310"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311"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Few sexual-health programs spoke to Latino teens</a:t>
            </a:r>
            <a:endParaRPr lang="en-US" sz="1350" b="0" u="none" strike="noStrike">
              <a:solidFill>
                <a:srgbClr val="000000"/>
              </a:solidFill>
              <a:effectLst/>
              <a:uFillTx/>
              <a:latin typeface="Arial"/>
            </a:endParaRPr>
          </a:p>
        </p:txBody>
      </p:sp>
      <p:sp>
        <p:nvSpPr>
          <p:cNvPr id="1312"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313"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Teens could follow a character to real help</a:t>
            </a:r>
            <a:endParaRPr lang="en-US" sz="1350" b="0" u="none" strike="noStrike">
              <a:solidFill>
                <a:srgbClr val="000000"/>
              </a:solidFill>
              <a:effectLst/>
              <a:uFillTx/>
              <a:latin typeface="Arial"/>
            </a:endParaRPr>
          </a:p>
        </p:txBody>
      </p:sp>
      <p:sp>
        <p:nvSpPr>
          <p:cNvPr id="1314"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315"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316"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1317"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24-episode Hulu drama built a continuing teen story.</a:t>
            </a:r>
            <a:endParaRPr lang="en-US" sz="1500" b="0" u="none" strike="noStrike">
              <a:solidFill>
                <a:srgbClr val="000000"/>
              </a:solidFill>
              <a:effectLst/>
              <a:uFillTx/>
              <a:latin typeface="Arial"/>
            </a:endParaRPr>
          </a:p>
        </p:txBody>
      </p:sp>
      <p:sp>
        <p:nvSpPr>
          <p:cNvPr id="1318"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319"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1320"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Character vlogs, extended scenes, and social media posts continued the plot online.</a:t>
            </a:r>
            <a:endParaRPr lang="en-US" sz="1500" b="0" u="none" strike="noStrike">
              <a:solidFill>
                <a:srgbClr val="000000"/>
              </a:solidFill>
              <a:effectLst/>
              <a:uFillTx/>
              <a:latin typeface="Arial"/>
            </a:endParaRPr>
          </a:p>
        </p:txBody>
      </p:sp>
      <p:sp>
        <p:nvSpPr>
          <p:cNvPr id="1321"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322"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1323"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show site linked viewers to clinic-finding and other health resources.</a:t>
            </a:r>
            <a:endParaRPr lang="en-US" sz="1500" b="0" u="none" strike="noStrike">
              <a:solidFill>
                <a:srgbClr val="000000"/>
              </a:solidFill>
              <a:effectLst/>
              <a:uFillTx/>
              <a:latin typeface="Arial"/>
            </a:endParaRPr>
          </a:p>
        </p:txBody>
      </p:sp>
      <p:sp>
        <p:nvSpPr>
          <p:cNvPr id="1324"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25"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326" name=""/>
          <p:cNvPicPr/>
          <p:nvPr/>
        </p:nvPicPr>
        <p:blipFill>
          <a:blip r:embed="rId1"/>
          <a:stretch/>
        </p:blipFill>
        <p:spPr>
          <a:xfrm>
            <a:off x="6940080" y="1752480"/>
            <a:ext cx="3797640" cy="3038040"/>
          </a:xfrm>
          <a:prstGeom prst="rect">
            <a:avLst/>
          </a:prstGeom>
          <a:noFill/>
          <a:ln w="0">
            <a:noFill/>
          </a:ln>
        </p:spPr>
      </p:pic>
      <p:sp>
        <p:nvSpPr>
          <p:cNvPr id="1327"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East Los High site with clinic finder, 2013 — via AJPH 2016</a:t>
            </a:r>
            <a:endParaRPr lang="en-US" sz="1130" b="0" u="none" strike="noStrike">
              <a:solidFill>
                <a:srgbClr val="000000"/>
              </a:solidFill>
              <a:effectLst/>
              <a:uFillTx/>
              <a:latin typeface="Arial"/>
            </a:endParaRPr>
          </a:p>
        </p:txBody>
      </p:sp>
      <p:sp>
        <p:nvSpPr>
          <p:cNvPr id="1328"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29"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330"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In a small lab test, the version with online extras raised condom knowledge most. Behavior change was not shown.</a:t>
            </a:r>
            <a:endParaRPr lang="en-US" sz="1280" b="0" u="none" strike="noStrike">
              <a:solidFill>
                <a:srgbClr val="000000"/>
              </a:solidFill>
              <a:effectLst/>
              <a:uFillTx/>
              <a:latin typeface="Arial"/>
            </a:endParaRPr>
          </a:p>
        </p:txBody>
      </p:sp>
      <p:sp>
        <p:nvSpPr>
          <p:cNvPr id="1331"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32"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333"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136 young Latinas randomly assigned to five formats; two-week follow-up.</a:t>
            </a:r>
            <a:endParaRPr lang="en-US" sz="1200" b="0" u="none" strike="noStrike">
              <a:solidFill>
                <a:srgbClr val="000000"/>
              </a:solidFill>
              <a:effectLst/>
              <a:uFillTx/>
              <a:latin typeface="Arial"/>
            </a:endParaRPr>
          </a:p>
        </p:txBody>
      </p:sp>
      <p:sp>
        <p:nvSpPr>
          <p:cNvPr id="1334"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335"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populationmedia.org  ·  utminers.utep.edu</a:t>
            </a:r>
            <a:endParaRPr lang="en-US" sz="900" b="0" u="none" strike="noStrike">
              <a:solidFill>
                <a:srgbClr val="000000"/>
              </a:solidFill>
              <a:effectLst/>
              <a:uFillTx/>
              <a:latin typeface="Arial"/>
            </a:endParaRPr>
          </a:p>
        </p:txBody>
      </p:sp>
      <p:sp>
        <p:nvSpPr>
          <p:cNvPr id="1336"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42</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337" name="PlaceHolder 1"/>
          <p:cNvSpPr>
            <a:spLocks noGrp="1"/>
          </p:cNvSpPr>
          <p:nvPr>
            <p:ph type="sldNum" idx="49"/>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338"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39" name=""/>
          <p:cNvSpPr/>
          <p:nvPr/>
        </p:nvSpPr>
        <p:spPr>
          <a:xfrm>
            <a:off x="666720" y="447840"/>
            <a:ext cx="100962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CLOSER LOOK  ·  2013  ·  UNITED STATES</a:t>
            </a:r>
            <a:endParaRPr lang="en-US" sz="1200" b="0" u="none" strike="noStrike">
              <a:solidFill>
                <a:srgbClr val="000000"/>
              </a:solidFill>
              <a:effectLst/>
              <a:uFillTx/>
              <a:latin typeface="Arial"/>
            </a:endParaRPr>
          </a:p>
        </p:txBody>
      </p:sp>
      <p:sp>
        <p:nvSpPr>
          <p:cNvPr id="1340" name=""/>
          <p:cNvSpPr/>
          <p:nvPr/>
        </p:nvSpPr>
        <p:spPr>
          <a:xfrm>
            <a:off x="666720" y="91440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820" b="1" u="none" strike="noStrike">
                <a:solidFill>
                  <a:srgbClr val="17232B"/>
                </a:solidFill>
                <a:effectLst/>
                <a:uFillTx/>
                <a:latin typeface="Calibri"/>
                <a:ea typeface="Calibri"/>
              </a:rPr>
              <a:t>East Los High</a:t>
            </a:r>
            <a:endParaRPr lang="en-US" sz="3820" b="0" u="none" strike="noStrike">
              <a:solidFill>
                <a:srgbClr val="000000"/>
              </a:solidFill>
              <a:effectLst/>
              <a:uFillTx/>
              <a:latin typeface="Arial"/>
            </a:endParaRPr>
          </a:p>
        </p:txBody>
      </p:sp>
      <p:sp>
        <p:nvSpPr>
          <p:cNvPr id="1341" name=""/>
          <p:cNvSpPr/>
          <p:nvPr/>
        </p:nvSpPr>
        <p:spPr>
          <a:xfrm>
            <a:off x="5905440" y="1685880"/>
            <a:ext cx="528588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THE OPERATING CHAIN</a:t>
            </a:r>
            <a:endParaRPr lang="en-US" sz="1350" b="0" u="none" strike="noStrike">
              <a:solidFill>
                <a:srgbClr val="000000"/>
              </a:solidFill>
              <a:effectLst/>
              <a:uFillTx/>
              <a:latin typeface="Arial"/>
            </a:endParaRPr>
          </a:p>
        </p:txBody>
      </p:sp>
      <p:sp>
        <p:nvSpPr>
          <p:cNvPr id="1342" name=""/>
          <p:cNvSpPr/>
          <p:nvPr/>
        </p:nvSpPr>
        <p:spPr>
          <a:xfrm>
            <a:off x="5905440" y="19810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43" name=""/>
          <p:cNvSpPr/>
          <p:nvPr/>
        </p:nvSpPr>
        <p:spPr>
          <a:xfrm>
            <a:off x="6067440" y="20667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B75D3C"/>
                </a:solidFill>
                <a:effectLst/>
                <a:uFillTx/>
                <a:latin typeface="Calibri"/>
                <a:ea typeface="Calibri"/>
              </a:rPr>
              <a:t>STORY</a:t>
            </a:r>
            <a:endParaRPr lang="en-US" sz="1050" b="0" u="none" strike="noStrike">
              <a:solidFill>
                <a:srgbClr val="000000"/>
              </a:solidFill>
              <a:effectLst/>
              <a:uFillTx/>
              <a:latin typeface="Arial"/>
            </a:endParaRPr>
          </a:p>
        </p:txBody>
      </p:sp>
      <p:sp>
        <p:nvSpPr>
          <p:cNvPr id="1344" name=""/>
          <p:cNvSpPr/>
          <p:nvPr/>
        </p:nvSpPr>
        <p:spPr>
          <a:xfrm>
            <a:off x="6067440" y="22766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A 24-episode Hulu season made teen health part of a continuing drama.</a:t>
            </a:r>
            <a:endParaRPr lang="en-US" sz="1430" b="0" u="none" strike="noStrike">
              <a:solidFill>
                <a:srgbClr val="000000"/>
              </a:solidFill>
              <a:effectLst/>
              <a:uFillTx/>
              <a:latin typeface="Arial"/>
            </a:endParaRPr>
          </a:p>
        </p:txBody>
      </p:sp>
      <p:sp>
        <p:nvSpPr>
          <p:cNvPr id="1345" name=""/>
          <p:cNvSpPr/>
          <p:nvPr/>
        </p:nvSpPr>
        <p:spPr>
          <a:xfrm>
            <a:off x="5905440" y="281952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46" name=""/>
          <p:cNvSpPr/>
          <p:nvPr/>
        </p:nvSpPr>
        <p:spPr>
          <a:xfrm>
            <a:off x="6067440" y="290520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B75D3C"/>
                </a:solidFill>
                <a:effectLst/>
                <a:uFillTx/>
                <a:latin typeface="Calibri"/>
                <a:ea typeface="Calibri"/>
              </a:rPr>
              <a:t>FOLLOW</a:t>
            </a:r>
            <a:endParaRPr lang="en-US" sz="1050" b="0" u="none" strike="noStrike">
              <a:solidFill>
                <a:srgbClr val="000000"/>
              </a:solidFill>
              <a:effectLst/>
              <a:uFillTx/>
              <a:latin typeface="Arial"/>
            </a:endParaRPr>
          </a:p>
        </p:txBody>
      </p:sp>
      <p:sp>
        <p:nvSpPr>
          <p:cNvPr id="1347" name=""/>
          <p:cNvSpPr/>
          <p:nvPr/>
        </p:nvSpPr>
        <p:spPr>
          <a:xfrm>
            <a:off x="6067440" y="311472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430" b="0" u="none" strike="noStrike">
                <a:solidFill>
                  <a:srgbClr val="17232B"/>
                </a:solidFill>
                <a:effectLst/>
                <a:uFillTx/>
                <a:latin typeface="Calibri"/>
                <a:ea typeface="Calibri"/>
              </a:rPr>
              <a:t>Episode endings directed viewers to the show website.</a:t>
            </a:r>
            <a:endParaRPr lang="en-US" sz="1430" b="0" u="none" strike="noStrike">
              <a:solidFill>
                <a:srgbClr val="000000"/>
              </a:solidFill>
              <a:effectLst/>
              <a:uFillTx/>
              <a:latin typeface="Arial"/>
            </a:endParaRPr>
          </a:p>
        </p:txBody>
      </p:sp>
      <p:sp>
        <p:nvSpPr>
          <p:cNvPr id="1348" name=""/>
          <p:cNvSpPr/>
          <p:nvPr/>
        </p:nvSpPr>
        <p:spPr>
          <a:xfrm>
            <a:off x="5905440" y="365760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49" name=""/>
          <p:cNvSpPr/>
          <p:nvPr/>
        </p:nvSpPr>
        <p:spPr>
          <a:xfrm>
            <a:off x="6067440" y="374328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B75D3C"/>
                </a:solidFill>
                <a:effectLst/>
                <a:uFillTx/>
                <a:latin typeface="Calibri"/>
                <a:ea typeface="Calibri"/>
              </a:rPr>
              <a:t>EXTEND</a:t>
            </a:r>
            <a:endParaRPr lang="en-US" sz="1050" b="0" u="none" strike="noStrike">
              <a:solidFill>
                <a:srgbClr val="000000"/>
              </a:solidFill>
              <a:effectLst/>
              <a:uFillTx/>
              <a:latin typeface="Arial"/>
            </a:endParaRPr>
          </a:p>
        </p:txBody>
      </p:sp>
      <p:sp>
        <p:nvSpPr>
          <p:cNvPr id="1350" name=""/>
          <p:cNvSpPr/>
          <p:nvPr/>
        </p:nvSpPr>
        <p:spPr>
          <a:xfrm>
            <a:off x="6067440" y="395280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Character vlogs and extended scenes continued the fictional world online.</a:t>
            </a:r>
            <a:endParaRPr lang="en-US" sz="1430" b="0" u="none" strike="noStrike">
              <a:solidFill>
                <a:srgbClr val="000000"/>
              </a:solidFill>
              <a:effectLst/>
              <a:uFillTx/>
              <a:latin typeface="Arial"/>
            </a:endParaRPr>
          </a:p>
        </p:txBody>
      </p:sp>
      <p:sp>
        <p:nvSpPr>
          <p:cNvPr id="1351" name=""/>
          <p:cNvSpPr/>
          <p:nvPr/>
        </p:nvSpPr>
        <p:spPr>
          <a:xfrm>
            <a:off x="5905440" y="4495680"/>
            <a:ext cx="5619240" cy="742680"/>
          </a:xfrm>
          <a:prstGeom prst="roundRect">
            <a:avLst>
              <a:gd name="adj" fmla="val 10256"/>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52" name=""/>
          <p:cNvSpPr/>
          <p:nvPr/>
        </p:nvSpPr>
        <p:spPr>
          <a:xfrm>
            <a:off x="6067440" y="4581360"/>
            <a:ext cx="171432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050" b="1" u="none" strike="noStrike">
                <a:solidFill>
                  <a:srgbClr val="B75D3C"/>
                </a:solidFill>
                <a:effectLst/>
                <a:uFillTx/>
                <a:latin typeface="Calibri"/>
                <a:ea typeface="Calibri"/>
              </a:rPr>
              <a:t>ACT</a:t>
            </a:r>
            <a:endParaRPr lang="en-US" sz="1050" b="0" u="none" strike="noStrike">
              <a:solidFill>
                <a:srgbClr val="000000"/>
              </a:solidFill>
              <a:effectLst/>
              <a:uFillTx/>
              <a:latin typeface="Arial"/>
            </a:endParaRPr>
          </a:p>
        </p:txBody>
      </p:sp>
      <p:sp>
        <p:nvSpPr>
          <p:cNvPr id="1353" name=""/>
          <p:cNvSpPr/>
          <p:nvPr/>
        </p:nvSpPr>
        <p:spPr>
          <a:xfrm>
            <a:off x="6067440" y="4791240"/>
            <a:ext cx="5257440" cy="40932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430" b="0" u="none" strike="noStrike">
                <a:solidFill>
                  <a:srgbClr val="17232B"/>
                </a:solidFill>
                <a:effectLst/>
                <a:uFillTx/>
                <a:latin typeface="Calibri"/>
                <a:ea typeface="Calibri"/>
              </a:rPr>
              <a:t>The site linked viewers to information and tools for finding health services.</a:t>
            </a:r>
            <a:endParaRPr lang="en-US" sz="1430" b="0" u="none" strike="noStrike">
              <a:solidFill>
                <a:srgbClr val="000000"/>
              </a:solidFill>
              <a:effectLst/>
              <a:uFillTx/>
              <a:latin typeface="Arial"/>
            </a:endParaRPr>
          </a:p>
        </p:txBody>
      </p:sp>
      <p:sp>
        <p:nvSpPr>
          <p:cNvPr id="1354" name=""/>
          <p:cNvSpPr/>
          <p:nvPr/>
        </p:nvSpPr>
        <p:spPr>
          <a:xfrm>
            <a:off x="666720" y="1666800"/>
            <a:ext cx="4952520" cy="3676320"/>
          </a:xfrm>
          <a:prstGeom prst="roundRect">
            <a:avLst>
              <a:gd name="adj" fmla="val 2073"/>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55" name=""/>
          <p:cNvSpPr/>
          <p:nvPr/>
        </p:nvSpPr>
        <p:spPr>
          <a:xfrm>
            <a:off x="819000" y="1819440"/>
            <a:ext cx="4647960" cy="2904840"/>
          </a:xfrm>
          <a:prstGeom prst="roundRect">
            <a:avLst>
              <a:gd name="adj" fmla="val 2623"/>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356" name=""/>
          <p:cNvPicPr/>
          <p:nvPr/>
        </p:nvPicPr>
        <p:blipFill>
          <a:blip r:embed="rId1"/>
          <a:stretch/>
        </p:blipFill>
        <p:spPr>
          <a:xfrm>
            <a:off x="1623600" y="1895400"/>
            <a:ext cx="3039120" cy="2752200"/>
          </a:xfrm>
          <a:prstGeom prst="rect">
            <a:avLst/>
          </a:prstGeom>
          <a:noFill/>
          <a:ln w="0">
            <a:noFill/>
          </a:ln>
        </p:spPr>
      </p:pic>
      <p:sp>
        <p:nvSpPr>
          <p:cNvPr id="1357" name=""/>
          <p:cNvSpPr/>
          <p:nvPr/>
        </p:nvSpPr>
        <p:spPr>
          <a:xfrm>
            <a:off x="847800" y="4829040"/>
            <a:ext cx="460980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East Los High website home page, 2013 — via AJPH 2016</a:t>
            </a:r>
            <a:endParaRPr lang="en-US" sz="1130" b="0" u="none" strike="noStrike">
              <a:solidFill>
                <a:srgbClr val="000000"/>
              </a:solidFill>
              <a:effectLst/>
              <a:uFillTx/>
              <a:latin typeface="Arial"/>
            </a:endParaRPr>
          </a:p>
        </p:txBody>
      </p:sp>
      <p:sp>
        <p:nvSpPr>
          <p:cNvPr id="1358" name=""/>
          <p:cNvSpPr/>
          <p:nvPr/>
        </p:nvSpPr>
        <p:spPr>
          <a:xfrm>
            <a:off x="666720" y="5495760"/>
            <a:ext cx="10858320" cy="847440"/>
          </a:xfrm>
          <a:prstGeom prst="roundRect">
            <a:avLst>
              <a:gd name="adj" fmla="val 8989"/>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59" name=""/>
          <p:cNvSpPr/>
          <p:nvPr/>
        </p:nvSpPr>
        <p:spPr>
          <a:xfrm>
            <a:off x="838080" y="5610240"/>
            <a:ext cx="2571480" cy="2091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DESIGN LESSON</a:t>
            </a:r>
            <a:endParaRPr lang="en-US" sz="1130" b="0" u="none" strike="noStrike">
              <a:solidFill>
                <a:srgbClr val="000000"/>
              </a:solidFill>
              <a:effectLst/>
              <a:uFillTx/>
              <a:latin typeface="Arial"/>
            </a:endParaRPr>
          </a:p>
        </p:txBody>
      </p:sp>
      <p:sp>
        <p:nvSpPr>
          <p:cNvPr id="1360" name=""/>
          <p:cNvSpPr/>
          <p:nvPr/>
        </p:nvSpPr>
        <p:spPr>
          <a:xfrm>
            <a:off x="838080" y="5867280"/>
            <a:ext cx="1028664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companion site can route interest in a character to real clinic-finding tools.</a:t>
            </a:r>
            <a:endParaRPr lang="en-US" sz="1500" b="0" u="none" strike="noStrike">
              <a:solidFill>
                <a:srgbClr val="000000"/>
              </a:solidFill>
              <a:effectLst/>
              <a:uFillTx/>
              <a:latin typeface="Arial"/>
            </a:endParaRPr>
          </a:p>
        </p:txBody>
      </p:sp>
      <p:sp>
        <p:nvSpPr>
          <p:cNvPr id="1361"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362"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populationmedia.org  ·  utminers.utep.edu</a:t>
            </a:r>
            <a:endParaRPr lang="en-US" sz="900" b="0" u="none" strike="noStrike">
              <a:solidFill>
                <a:srgbClr val="000000"/>
              </a:solidFill>
              <a:effectLst/>
              <a:uFillTx/>
              <a:latin typeface="Arial"/>
            </a:endParaRPr>
          </a:p>
        </p:txBody>
      </p:sp>
      <p:sp>
        <p:nvSpPr>
          <p:cNvPr id="1363"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43</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364" name="PlaceHolder 1"/>
          <p:cNvSpPr>
            <a:spLocks noGrp="1"/>
          </p:cNvSpPr>
          <p:nvPr>
            <p:ph type="sldNum" idx="50"/>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365"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66"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30 / 35</a:t>
            </a:r>
            <a:endParaRPr lang="en-US" sz="1200" b="0" u="none" strike="noStrike">
              <a:solidFill>
                <a:srgbClr val="000000"/>
              </a:solidFill>
              <a:effectLst/>
              <a:uFillTx/>
              <a:latin typeface="Arial"/>
            </a:endParaRPr>
          </a:p>
        </p:txBody>
      </p:sp>
      <p:sp>
        <p:nvSpPr>
          <p:cNvPr id="1367"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INDIA</a:t>
            </a:r>
            <a:endParaRPr lang="en-US" sz="1200" b="0" u="none" strike="noStrike">
              <a:solidFill>
                <a:srgbClr val="000000"/>
              </a:solidFill>
              <a:effectLst/>
              <a:uFillTx/>
              <a:latin typeface="Arial"/>
            </a:endParaRPr>
          </a:p>
        </p:txBody>
      </p:sp>
      <p:sp>
        <p:nvSpPr>
          <p:cNvPr id="1368"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2014</a:t>
            </a:r>
            <a:endParaRPr lang="en-US" sz="1350" b="0" u="none" strike="noStrike">
              <a:solidFill>
                <a:srgbClr val="000000"/>
              </a:solidFill>
              <a:effectLst/>
              <a:uFillTx/>
              <a:latin typeface="Arial"/>
            </a:endParaRPr>
          </a:p>
        </p:txBody>
      </p:sp>
      <p:sp>
        <p:nvSpPr>
          <p:cNvPr id="1369"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Main Kuch Bhi Kar Sakti Hoon</a:t>
            </a:r>
            <a:endParaRPr lang="en-US" sz="3600" b="0" u="none" strike="noStrike">
              <a:solidFill>
                <a:srgbClr val="000000"/>
              </a:solidFill>
              <a:effectLst/>
              <a:uFillTx/>
              <a:latin typeface="Arial"/>
            </a:endParaRPr>
          </a:p>
        </p:txBody>
      </p:sp>
      <p:sp>
        <p:nvSpPr>
          <p:cNvPr id="1370"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371"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372"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373"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lnSpcReduction="9999"/>
          </a:bodyPr>
          <a:p>
            <a:pPr defTabSz="914400">
              <a:lnSpc>
                <a:spcPct val="100000"/>
              </a:lnSpc>
              <a:tabLst>
                <a:tab pos="0" algn="l"/>
              </a:tabLst>
            </a:pPr>
            <a:r>
              <a:rPr lang="en-US" sz="1350" b="0" u="none" strike="noStrike">
                <a:solidFill>
                  <a:srgbClr val="17232B"/>
                </a:solidFill>
                <a:effectLst/>
                <a:uFillTx/>
                <a:latin typeface="Calibri"/>
                <a:ea typeface="Calibri"/>
              </a:rPr>
              <a:t>Women’s health choices were constrained by expectation</a:t>
            </a:r>
            <a:endParaRPr lang="en-US" sz="1350" b="0" u="none" strike="noStrike">
              <a:solidFill>
                <a:srgbClr val="000000"/>
              </a:solidFill>
              <a:effectLst/>
              <a:uFillTx/>
              <a:latin typeface="Arial"/>
            </a:endParaRPr>
          </a:p>
        </p:txBody>
      </p:sp>
      <p:sp>
        <p:nvSpPr>
          <p:cNvPr id="1374"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375"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A trusted character could challenge them</a:t>
            </a:r>
            <a:endParaRPr lang="en-US" sz="1350" b="0" u="none" strike="noStrike">
              <a:solidFill>
                <a:srgbClr val="000000"/>
              </a:solidFill>
              <a:effectLst/>
              <a:uFillTx/>
              <a:latin typeface="Arial"/>
            </a:endParaRPr>
          </a:p>
        </p:txBody>
      </p:sp>
      <p:sp>
        <p:nvSpPr>
          <p:cNvPr id="1376"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377"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378"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1379"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Dr. Sneha returned to her village as a recurring woman doctor.</a:t>
            </a:r>
            <a:endParaRPr lang="en-US" sz="1500" b="0" u="none" strike="noStrike">
              <a:solidFill>
                <a:srgbClr val="000000"/>
              </a:solidFill>
              <a:effectLst/>
              <a:uFillTx/>
              <a:latin typeface="Arial"/>
            </a:endParaRPr>
          </a:p>
        </p:txBody>
      </p:sp>
      <p:sp>
        <p:nvSpPr>
          <p:cNvPr id="1380"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381"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1382"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Doordarshan aired it on TV; an adapted radio version ran on 216 All India Radio stations.</a:t>
            </a:r>
            <a:endParaRPr lang="en-US" sz="1500" b="0" u="none" strike="noStrike">
              <a:solidFill>
                <a:srgbClr val="000000"/>
              </a:solidFill>
              <a:effectLst/>
              <a:uFillTx/>
              <a:latin typeface="Arial"/>
            </a:endParaRPr>
          </a:p>
        </p:txBody>
      </p:sp>
      <p:sp>
        <p:nvSpPr>
          <p:cNvPr id="1383"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384"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1385"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toll-free missed-call line let viewers hear content and record their own responses.</a:t>
            </a:r>
            <a:endParaRPr lang="en-US" sz="1500" b="0" u="none" strike="noStrike">
              <a:solidFill>
                <a:srgbClr val="000000"/>
              </a:solidFill>
              <a:effectLst/>
              <a:uFillTx/>
              <a:latin typeface="Arial"/>
            </a:endParaRPr>
          </a:p>
        </p:txBody>
      </p:sp>
      <p:sp>
        <p:nvSpPr>
          <p:cNvPr id="1386"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87"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388" name=""/>
          <p:cNvPicPr/>
          <p:nvPr/>
        </p:nvPicPr>
        <p:blipFill>
          <a:blip r:embed="rId1"/>
          <a:stretch/>
        </p:blipFill>
        <p:spPr>
          <a:xfrm>
            <a:off x="6381720" y="1889640"/>
            <a:ext cx="4914720" cy="2764440"/>
          </a:xfrm>
          <a:prstGeom prst="rect">
            <a:avLst/>
          </a:prstGeom>
          <a:noFill/>
          <a:ln w="0">
            <a:noFill/>
          </a:ln>
        </p:spPr>
      </p:pic>
      <p:sp>
        <p:nvSpPr>
          <p:cNvPr id="1389"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Dr. Sneha, MKBKSH S1 Ep. 1, 2014 — Population Foundation of India</a:t>
            </a:r>
            <a:endParaRPr lang="en-US" sz="1130" b="0" u="none" strike="noStrike">
              <a:solidFill>
                <a:srgbClr val="000000"/>
              </a:solidFill>
              <a:effectLst/>
              <a:uFillTx/>
              <a:latin typeface="Arial"/>
            </a:endParaRPr>
          </a:p>
        </p:txBody>
      </p:sp>
      <p:sp>
        <p:nvSpPr>
          <p:cNvPr id="1390"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1"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392"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Seasons 1–2 drew 1.7 million calls. In a 2019 village study, viewers’ toilet ownership rose 16 points; non-viewers’ 3.5, not significantly.</a:t>
            </a:r>
            <a:endParaRPr lang="en-US" sz="1280" b="0" u="none" strike="noStrike">
              <a:solidFill>
                <a:srgbClr val="000000"/>
              </a:solidFill>
              <a:effectLst/>
              <a:uFillTx/>
              <a:latin typeface="Arial"/>
            </a:endParaRPr>
          </a:p>
        </p:txBody>
      </p:sp>
      <p:sp>
        <p:nvSpPr>
          <p:cNvPr id="1393"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4"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395"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13 viewer vs. 10 non-viewer villages, not randomized; baselines differed.</a:t>
            </a:r>
            <a:endParaRPr lang="en-US" sz="1200" b="0" u="none" strike="noStrike">
              <a:solidFill>
                <a:srgbClr val="000000"/>
              </a:solidFill>
              <a:effectLst/>
              <a:uFillTx/>
              <a:latin typeface="Arial"/>
            </a:endParaRPr>
          </a:p>
        </p:txBody>
      </p:sp>
      <p:sp>
        <p:nvSpPr>
          <p:cNvPr id="1396"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397"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populationfoundation.in  ·  buffalo.edu  ·  mkbksh.in</a:t>
            </a:r>
            <a:endParaRPr lang="en-US" sz="900" b="0" u="none" strike="noStrike">
              <a:solidFill>
                <a:srgbClr val="000000"/>
              </a:solidFill>
              <a:effectLst/>
              <a:uFillTx/>
              <a:latin typeface="Arial"/>
            </a:endParaRPr>
          </a:p>
        </p:txBody>
      </p:sp>
      <p:sp>
        <p:nvSpPr>
          <p:cNvPr id="1398"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44</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399" name="PlaceHolder 1"/>
          <p:cNvSpPr>
            <a:spLocks noGrp="1"/>
          </p:cNvSpPr>
          <p:nvPr>
            <p:ph type="sldNum" idx="51"/>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400"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01"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31 / 35</a:t>
            </a:r>
            <a:endParaRPr lang="en-US" sz="1200" b="0" u="none" strike="noStrike">
              <a:solidFill>
                <a:srgbClr val="000000"/>
              </a:solidFill>
              <a:effectLst/>
              <a:uFillTx/>
              <a:latin typeface="Arial"/>
            </a:endParaRPr>
          </a:p>
        </p:txBody>
      </p:sp>
      <p:sp>
        <p:nvSpPr>
          <p:cNvPr id="1402"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MOZAMBIQUE</a:t>
            </a:r>
            <a:endParaRPr lang="en-US" sz="1200" b="0" u="none" strike="noStrike">
              <a:solidFill>
                <a:srgbClr val="000000"/>
              </a:solidFill>
              <a:effectLst/>
              <a:uFillTx/>
              <a:latin typeface="Arial"/>
            </a:endParaRPr>
          </a:p>
        </p:txBody>
      </p:sp>
      <p:sp>
        <p:nvSpPr>
          <p:cNvPr id="1403"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2015</a:t>
            </a:r>
            <a:endParaRPr lang="en-US" sz="1350" b="0" u="none" strike="noStrike">
              <a:solidFill>
                <a:srgbClr val="000000"/>
              </a:solidFill>
              <a:effectLst/>
              <a:uFillTx/>
              <a:latin typeface="Arial"/>
            </a:endParaRPr>
          </a:p>
        </p:txBody>
      </p:sp>
      <p:sp>
        <p:nvSpPr>
          <p:cNvPr id="1404"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Ouro Negro</a:t>
            </a:r>
            <a:endParaRPr lang="en-US" sz="3600" b="0" u="none" strike="noStrike">
              <a:solidFill>
                <a:srgbClr val="000000"/>
              </a:solidFill>
              <a:effectLst/>
              <a:uFillTx/>
              <a:latin typeface="Arial"/>
            </a:endParaRPr>
          </a:p>
        </p:txBody>
      </p:sp>
      <p:sp>
        <p:nvSpPr>
          <p:cNvPr id="1405"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406"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407"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408"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Child marriage could go undiscussed</a:t>
            </a:r>
            <a:endParaRPr lang="en-US" sz="1350" b="0" u="none" strike="noStrike">
              <a:solidFill>
                <a:srgbClr val="000000"/>
              </a:solidFill>
              <a:effectLst/>
              <a:uFillTx/>
              <a:latin typeface="Arial"/>
            </a:endParaRPr>
          </a:p>
        </p:txBody>
      </p:sp>
      <p:sp>
        <p:nvSpPr>
          <p:cNvPr id="1409"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410"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Listeners could question it together</a:t>
            </a:r>
            <a:endParaRPr lang="en-US" sz="1350" b="0" u="none" strike="noStrike">
              <a:solidFill>
                <a:srgbClr val="000000"/>
              </a:solidFill>
              <a:effectLst/>
              <a:uFillTx/>
              <a:latin typeface="Arial"/>
            </a:endParaRPr>
          </a:p>
        </p:txBody>
      </p:sp>
      <p:sp>
        <p:nvSpPr>
          <p:cNvPr id="1411"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412"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413"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1414"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continuing national radio drama created characters and repeated exposure.</a:t>
            </a:r>
            <a:endParaRPr lang="en-US" sz="1500" b="0" u="none" strike="noStrike">
              <a:solidFill>
                <a:srgbClr val="000000"/>
              </a:solidFill>
              <a:effectLst/>
              <a:uFillTx/>
              <a:latin typeface="Arial"/>
            </a:endParaRPr>
          </a:p>
        </p:txBody>
      </p:sp>
      <p:sp>
        <p:nvSpPr>
          <p:cNvPr id="1415"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416"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1417"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Live local-language call-in shows invited questions and public conversation.</a:t>
            </a:r>
            <a:endParaRPr lang="en-US" sz="1500" b="0" u="none" strike="noStrike">
              <a:solidFill>
                <a:srgbClr val="000000"/>
              </a:solidFill>
              <a:effectLst/>
              <a:uFillTx/>
              <a:latin typeface="Arial"/>
            </a:endParaRPr>
          </a:p>
        </p:txBody>
      </p:sp>
      <p:sp>
        <p:nvSpPr>
          <p:cNvPr id="1418"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419"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1420"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Community theater in local languages took the stories to live audiences.</a:t>
            </a:r>
            <a:endParaRPr lang="en-US" sz="1500" b="0" u="none" strike="noStrike">
              <a:solidFill>
                <a:srgbClr val="000000"/>
              </a:solidFill>
              <a:effectLst/>
              <a:uFillTx/>
              <a:latin typeface="Arial"/>
            </a:endParaRPr>
          </a:p>
        </p:txBody>
      </p:sp>
      <p:sp>
        <p:nvSpPr>
          <p:cNvPr id="1421"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22"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423" name=""/>
          <p:cNvPicPr/>
          <p:nvPr/>
        </p:nvPicPr>
        <p:blipFill>
          <a:blip r:embed="rId1"/>
          <a:stretch/>
        </p:blipFill>
        <p:spPr>
          <a:xfrm>
            <a:off x="7319880" y="1752480"/>
            <a:ext cx="3038040" cy="3038040"/>
          </a:xfrm>
          <a:prstGeom prst="rect">
            <a:avLst/>
          </a:prstGeom>
          <a:noFill/>
          <a:ln w="0">
            <a:noFill/>
          </a:ln>
        </p:spPr>
      </p:pic>
      <p:sp>
        <p:nvSpPr>
          <p:cNvPr id="1424"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Ouro Negro series artwork, 2016 — PCI Media Impact</a:t>
            </a:r>
            <a:endParaRPr lang="en-US" sz="1130" b="0" u="none" strike="noStrike">
              <a:solidFill>
                <a:srgbClr val="000000"/>
              </a:solidFill>
              <a:effectLst/>
              <a:uFillTx/>
              <a:latin typeface="Arial"/>
            </a:endParaRPr>
          </a:p>
        </p:txBody>
      </p:sp>
      <p:sp>
        <p:nvSpPr>
          <p:cNvPr id="1425"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26"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427"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After one year, only 206 of 1,910 panel respondents had listened, limiting what the study could show.</a:t>
            </a:r>
            <a:endParaRPr lang="en-US" sz="1280" b="0" u="none" strike="noStrike">
              <a:solidFill>
                <a:srgbClr val="000000"/>
              </a:solidFill>
              <a:effectLst/>
              <a:uFillTx/>
              <a:latin typeface="Arial"/>
            </a:endParaRPr>
          </a:p>
        </p:txBody>
      </p:sp>
      <p:sp>
        <p:nvSpPr>
          <p:cNvPr id="1428"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29"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430"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Pre/post panel survey of 1,910 women plus focus groups (first year).</a:t>
            </a:r>
            <a:endParaRPr lang="en-US" sz="1200" b="0" u="none" strike="noStrike">
              <a:solidFill>
                <a:srgbClr val="000000"/>
              </a:solidFill>
              <a:effectLst/>
              <a:uFillTx/>
              <a:latin typeface="Arial"/>
            </a:endParaRPr>
          </a:p>
        </p:txBody>
      </p:sp>
      <p:sp>
        <p:nvSpPr>
          <p:cNvPr id="1431"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432"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unicef.org  ·  shortyawards.com  ·  library.oapen.org</a:t>
            </a:r>
            <a:endParaRPr lang="en-US" sz="900" b="0" u="none" strike="noStrike">
              <a:solidFill>
                <a:srgbClr val="000000"/>
              </a:solidFill>
              <a:effectLst/>
              <a:uFillTx/>
              <a:latin typeface="Arial"/>
            </a:endParaRPr>
          </a:p>
        </p:txBody>
      </p:sp>
      <p:sp>
        <p:nvSpPr>
          <p:cNvPr id="1433"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45</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434" name="PlaceHolder 1"/>
          <p:cNvSpPr>
            <a:spLocks noGrp="1"/>
          </p:cNvSpPr>
          <p:nvPr>
            <p:ph type="sldNum" idx="52"/>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435" name=""/>
          <p:cNvSpPr/>
          <p:nvPr/>
        </p:nvSpPr>
        <p:spPr>
          <a:xfrm>
            <a:off x="0" y="0"/>
            <a:ext cx="132840" cy="6857640"/>
          </a:xfrm>
          <a:prstGeom prst="rect">
            <a:avLst/>
          </a:prstGeom>
          <a:solidFill>
            <a:srgbClr val="235C77"/>
          </a:solidFill>
          <a:ln w="0">
            <a:solidFill>
              <a:srgbClr val="235C77"/>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36"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32 / 35</a:t>
            </a:r>
            <a:endParaRPr lang="en-US" sz="1200" b="0" u="none" strike="noStrike">
              <a:solidFill>
                <a:srgbClr val="000000"/>
              </a:solidFill>
              <a:effectLst/>
              <a:uFillTx/>
              <a:latin typeface="Arial"/>
            </a:endParaRPr>
          </a:p>
        </p:txBody>
      </p:sp>
      <p:sp>
        <p:nvSpPr>
          <p:cNvPr id="1437"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PUBLIC CAMPAIGN  ·  ENGLAND</a:t>
            </a:r>
            <a:endParaRPr lang="en-US" sz="1200" b="0" u="none" strike="noStrike">
              <a:solidFill>
                <a:srgbClr val="000000"/>
              </a:solidFill>
              <a:effectLst/>
              <a:uFillTx/>
              <a:latin typeface="Arial"/>
            </a:endParaRPr>
          </a:p>
        </p:txBody>
      </p:sp>
      <p:sp>
        <p:nvSpPr>
          <p:cNvPr id="1438"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2015</a:t>
            </a:r>
            <a:endParaRPr lang="en-US" sz="1350" b="0" u="none" strike="noStrike">
              <a:solidFill>
                <a:srgbClr val="000000"/>
              </a:solidFill>
              <a:effectLst/>
              <a:uFillTx/>
              <a:latin typeface="Arial"/>
            </a:endParaRPr>
          </a:p>
        </p:txBody>
      </p:sp>
      <p:sp>
        <p:nvSpPr>
          <p:cNvPr id="1439"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This Girl Can</a:t>
            </a:r>
            <a:endParaRPr lang="en-US" sz="3600" b="0" u="none" strike="noStrike">
              <a:solidFill>
                <a:srgbClr val="000000"/>
              </a:solidFill>
              <a:effectLst/>
              <a:uFillTx/>
              <a:latin typeface="Arial"/>
            </a:endParaRPr>
          </a:p>
        </p:txBody>
      </p:sp>
      <p:sp>
        <p:nvSpPr>
          <p:cNvPr id="1440" name=""/>
          <p:cNvSpPr/>
          <p:nvPr/>
        </p:nvSpPr>
        <p:spPr>
          <a:xfrm>
            <a:off x="666720" y="1609560"/>
            <a:ext cx="5181120" cy="18720"/>
          </a:xfrm>
          <a:prstGeom prst="rect">
            <a:avLst/>
          </a:prstGeom>
          <a:solidFill>
            <a:srgbClr val="235C77"/>
          </a:solidFill>
          <a:ln w="0">
            <a:solidFill>
              <a:srgbClr val="235C77"/>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441"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442"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443"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Fear of judgment held women back from activity</a:t>
            </a:r>
            <a:endParaRPr lang="en-US" sz="1350" b="0" u="none" strike="noStrike">
              <a:solidFill>
                <a:srgbClr val="000000"/>
              </a:solidFill>
              <a:effectLst/>
              <a:uFillTx/>
              <a:latin typeface="Arial"/>
            </a:endParaRPr>
          </a:p>
        </p:txBody>
      </p:sp>
      <p:sp>
        <p:nvSpPr>
          <p:cNvPr id="1444"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445"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Women could move without looking a certain way</a:t>
            </a:r>
            <a:endParaRPr lang="en-US" sz="1350" b="0" u="none" strike="noStrike">
              <a:solidFill>
                <a:srgbClr val="000000"/>
              </a:solidFill>
              <a:effectLst/>
              <a:uFillTx/>
              <a:latin typeface="Arial"/>
            </a:endParaRPr>
          </a:p>
        </p:txBody>
      </p:sp>
      <p:sp>
        <p:nvSpPr>
          <p:cNvPr id="1446"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447"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235C77"/>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448"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01</a:t>
            </a:r>
            <a:endParaRPr lang="en-US" sz="1200" b="0" u="none" strike="noStrike">
              <a:solidFill>
                <a:srgbClr val="000000"/>
              </a:solidFill>
              <a:effectLst/>
              <a:uFillTx/>
              <a:latin typeface="Arial"/>
            </a:endParaRPr>
          </a:p>
        </p:txBody>
      </p:sp>
      <p:sp>
        <p:nvSpPr>
          <p:cNvPr id="1449"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Research identified fear of judgment as the key barrier.</a:t>
            </a:r>
            <a:endParaRPr lang="en-US" sz="1500" b="0" u="none" strike="noStrike">
              <a:solidFill>
                <a:srgbClr val="000000"/>
              </a:solidFill>
              <a:effectLst/>
              <a:uFillTx/>
              <a:latin typeface="Arial"/>
            </a:endParaRPr>
          </a:p>
        </p:txBody>
      </p:sp>
      <p:sp>
        <p:nvSpPr>
          <p:cNvPr id="1450"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451"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02</a:t>
            </a:r>
            <a:endParaRPr lang="en-US" sz="1200" b="0" u="none" strike="noStrike">
              <a:solidFill>
                <a:srgbClr val="000000"/>
              </a:solidFill>
              <a:effectLst/>
              <a:uFillTx/>
              <a:latin typeface="Arial"/>
            </a:endParaRPr>
          </a:p>
        </p:txBody>
      </p:sp>
      <p:sp>
        <p:nvSpPr>
          <p:cNvPr id="1452"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Ads showed real women sweating and moving at different ability levels.</a:t>
            </a:r>
            <a:endParaRPr lang="en-US" sz="1500" b="0" u="none" strike="noStrike">
              <a:solidFill>
                <a:srgbClr val="000000"/>
              </a:solidFill>
              <a:effectLst/>
              <a:uFillTx/>
              <a:latin typeface="Arial"/>
            </a:endParaRPr>
          </a:p>
        </p:txBody>
      </p:sp>
      <p:sp>
        <p:nvSpPr>
          <p:cNvPr id="1453"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454"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235C77"/>
                </a:solidFill>
                <a:effectLst/>
                <a:uFillTx/>
                <a:latin typeface="Calibri"/>
                <a:ea typeface="Calibri"/>
              </a:rPr>
              <a:t>03</a:t>
            </a:r>
            <a:endParaRPr lang="en-US" sz="1200" b="0" u="none" strike="noStrike">
              <a:solidFill>
                <a:srgbClr val="000000"/>
              </a:solidFill>
              <a:effectLst/>
              <a:uFillTx/>
              <a:latin typeface="Arial"/>
            </a:endParaRPr>
          </a:p>
        </p:txBody>
      </p:sp>
      <p:sp>
        <p:nvSpPr>
          <p:cNvPr id="1455"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TV, cinema, outdoor ads, and social sharing made those images public.</a:t>
            </a:r>
            <a:endParaRPr lang="en-US" sz="1500" b="0" u="none" strike="noStrike">
              <a:solidFill>
                <a:srgbClr val="000000"/>
              </a:solidFill>
              <a:effectLst/>
              <a:uFillTx/>
              <a:latin typeface="Arial"/>
            </a:endParaRPr>
          </a:p>
        </p:txBody>
      </p:sp>
      <p:sp>
        <p:nvSpPr>
          <p:cNvPr id="1456"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57"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458" name=""/>
          <p:cNvPicPr/>
          <p:nvPr/>
        </p:nvPicPr>
        <p:blipFill>
          <a:blip r:embed="rId1"/>
          <a:stretch/>
        </p:blipFill>
        <p:spPr>
          <a:xfrm>
            <a:off x="6381720" y="2195640"/>
            <a:ext cx="4914720" cy="2152080"/>
          </a:xfrm>
          <a:prstGeom prst="rect">
            <a:avLst/>
          </a:prstGeom>
          <a:noFill/>
          <a:ln w="0">
            <a:noFill/>
          </a:ln>
        </p:spPr>
      </p:pic>
      <p:sp>
        <p:nvSpPr>
          <p:cNvPr id="1459"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'This Girl Can' TV ad frame, 2015 — Sport England</a:t>
            </a:r>
            <a:endParaRPr lang="en-US" sz="1130" b="0" u="none" strike="noStrike">
              <a:solidFill>
                <a:srgbClr val="000000"/>
              </a:solidFill>
              <a:effectLst/>
              <a:uFillTx/>
              <a:latin typeface="Arial"/>
            </a:endParaRPr>
          </a:p>
        </p:txBody>
      </p:sp>
      <p:sp>
        <p:nvSpPr>
          <p:cNvPr id="1460"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61"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462"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2.8 million women aged 14–40 who recognized the campaign said they did more activity as a result.</a:t>
            </a:r>
            <a:endParaRPr lang="en-US" sz="1280" b="0" u="none" strike="noStrike">
              <a:solidFill>
                <a:srgbClr val="000000"/>
              </a:solidFill>
              <a:effectLst/>
              <a:uFillTx/>
              <a:latin typeface="Arial"/>
            </a:endParaRPr>
          </a:p>
        </p:txBody>
      </p:sp>
      <p:sp>
        <p:nvSpPr>
          <p:cNvPr id="1463"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64"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235C77"/>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465"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TNS/BMRB survey self-reports scaled to England; no comparison group.</a:t>
            </a:r>
            <a:endParaRPr lang="en-US" sz="1200" b="0" u="none" strike="noStrike">
              <a:solidFill>
                <a:srgbClr val="000000"/>
              </a:solidFill>
              <a:effectLst/>
              <a:uFillTx/>
              <a:latin typeface="Arial"/>
            </a:endParaRPr>
          </a:p>
        </p:txBody>
      </p:sp>
      <p:sp>
        <p:nvSpPr>
          <p:cNvPr id="1466"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467"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sportengland.org  ·  assets.publishing.service.gov.uk</a:t>
            </a:r>
            <a:endParaRPr lang="en-US" sz="900" b="0" u="none" strike="noStrike">
              <a:solidFill>
                <a:srgbClr val="000000"/>
              </a:solidFill>
              <a:effectLst/>
              <a:uFillTx/>
              <a:latin typeface="Arial"/>
            </a:endParaRPr>
          </a:p>
        </p:txBody>
      </p:sp>
      <p:sp>
        <p:nvSpPr>
          <p:cNvPr id="1468"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46</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469" name="PlaceHolder 1"/>
          <p:cNvSpPr>
            <a:spLocks noGrp="1"/>
          </p:cNvSpPr>
          <p:nvPr>
            <p:ph type="sldNum" idx="53"/>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470"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71"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33 / 35</a:t>
            </a:r>
            <a:endParaRPr lang="en-US" sz="1200" b="0" u="none" strike="noStrike">
              <a:solidFill>
                <a:srgbClr val="000000"/>
              </a:solidFill>
              <a:effectLst/>
              <a:uFillTx/>
              <a:latin typeface="Arial"/>
            </a:endParaRPr>
          </a:p>
        </p:txBody>
      </p:sp>
      <p:sp>
        <p:nvSpPr>
          <p:cNvPr id="1472"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BANGLADESH</a:t>
            </a:r>
            <a:endParaRPr lang="en-US" sz="1200" b="0" u="none" strike="noStrike">
              <a:solidFill>
                <a:srgbClr val="000000"/>
              </a:solidFill>
              <a:effectLst/>
              <a:uFillTx/>
              <a:latin typeface="Arial"/>
            </a:endParaRPr>
          </a:p>
        </p:txBody>
      </p:sp>
      <p:sp>
        <p:nvSpPr>
          <p:cNvPr id="1473"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2018</a:t>
            </a:r>
            <a:endParaRPr lang="en-US" sz="1350" b="0" u="none" strike="noStrike">
              <a:solidFill>
                <a:srgbClr val="000000"/>
              </a:solidFill>
              <a:effectLst/>
              <a:uFillTx/>
              <a:latin typeface="Arial"/>
            </a:endParaRPr>
          </a:p>
        </p:txBody>
      </p:sp>
      <p:sp>
        <p:nvSpPr>
          <p:cNvPr id="1474"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Icchedana</a:t>
            </a:r>
            <a:endParaRPr lang="en-US" sz="3600" b="0" u="none" strike="noStrike">
              <a:solidFill>
                <a:srgbClr val="000000"/>
              </a:solidFill>
              <a:effectLst/>
              <a:uFillTx/>
              <a:latin typeface="Arial"/>
            </a:endParaRPr>
          </a:p>
        </p:txBody>
      </p:sp>
      <p:sp>
        <p:nvSpPr>
          <p:cNvPr id="1475"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476"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477"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478"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Girls’ sport and ambition faced family limits</a:t>
            </a:r>
            <a:endParaRPr lang="en-US" sz="1350" b="0" u="none" strike="noStrike">
              <a:solidFill>
                <a:srgbClr val="000000"/>
              </a:solidFill>
              <a:effectLst/>
              <a:uFillTx/>
              <a:latin typeface="Arial"/>
            </a:endParaRPr>
          </a:p>
        </p:txBody>
      </p:sp>
      <p:sp>
        <p:nvSpPr>
          <p:cNvPr id="1479"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480"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Friends and families could back girls’ plans</a:t>
            </a:r>
            <a:endParaRPr lang="en-US" sz="1350" b="0" u="none" strike="noStrike">
              <a:solidFill>
                <a:srgbClr val="000000"/>
              </a:solidFill>
              <a:effectLst/>
              <a:uFillTx/>
              <a:latin typeface="Arial"/>
            </a:endParaRPr>
          </a:p>
        </p:txBody>
      </p:sp>
      <p:sp>
        <p:nvSpPr>
          <p:cNvPr id="1481"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482"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483"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1484"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26-episode drama followed Tanzila and an all-girls football team.</a:t>
            </a:r>
            <a:endParaRPr lang="en-US" sz="1500" b="0" u="none" strike="noStrike">
              <a:solidFill>
                <a:srgbClr val="000000"/>
              </a:solidFill>
              <a:effectLst/>
              <a:uFillTx/>
              <a:latin typeface="Arial"/>
            </a:endParaRPr>
          </a:p>
        </p:txBody>
      </p:sp>
      <p:sp>
        <p:nvSpPr>
          <p:cNvPr id="1485"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486"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1487"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Recurring conflicts made child marriage and school decisions concrete.</a:t>
            </a:r>
            <a:endParaRPr lang="en-US" sz="1500" b="0" u="none" strike="noStrike">
              <a:solidFill>
                <a:srgbClr val="000000"/>
              </a:solidFill>
              <a:effectLst/>
              <a:uFillTx/>
              <a:latin typeface="Arial"/>
            </a:endParaRPr>
          </a:p>
        </p:txBody>
      </p:sp>
      <p:sp>
        <p:nvSpPr>
          <p:cNvPr id="1488"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489"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1490"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Two ministries, UNICEF, and UNFPA launched it alongside other adolescent media programs.</a:t>
            </a:r>
            <a:endParaRPr lang="en-US" sz="1500" b="0" u="none" strike="noStrike">
              <a:solidFill>
                <a:srgbClr val="000000"/>
              </a:solidFill>
              <a:effectLst/>
              <a:uFillTx/>
              <a:latin typeface="Arial"/>
            </a:endParaRPr>
          </a:p>
        </p:txBody>
      </p:sp>
      <p:sp>
        <p:nvSpPr>
          <p:cNvPr id="1491"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92"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493" name=""/>
          <p:cNvPicPr/>
          <p:nvPr/>
        </p:nvPicPr>
        <p:blipFill>
          <a:blip r:embed="rId1"/>
          <a:stretch/>
        </p:blipFill>
        <p:spPr>
          <a:xfrm>
            <a:off x="6890040" y="1752480"/>
            <a:ext cx="3898080" cy="3038040"/>
          </a:xfrm>
          <a:prstGeom prst="rect">
            <a:avLst/>
          </a:prstGeom>
          <a:noFill/>
          <a:ln w="0">
            <a:noFill/>
          </a:ln>
        </p:spPr>
      </p:pic>
      <p:sp>
        <p:nvSpPr>
          <p:cNvPr id="1494"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Icchedana poster — UNICEF Bangladesh / Asiatic MCL</a:t>
            </a:r>
            <a:endParaRPr lang="en-US" sz="1130" b="0" u="none" strike="noStrike">
              <a:solidFill>
                <a:srgbClr val="000000"/>
              </a:solidFill>
              <a:effectLst/>
              <a:uFillTx/>
              <a:latin typeface="Arial"/>
            </a:endParaRPr>
          </a:p>
        </p:txBody>
      </p:sp>
      <p:sp>
        <p:nvSpPr>
          <p:cNvPr id="1495"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96"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497"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A survey after season one found viewers knew more about child marriage's harms; more boys and fathers discussed it.</a:t>
            </a:r>
            <a:endParaRPr lang="en-US" sz="1280" b="0" u="none" strike="noStrike">
              <a:solidFill>
                <a:srgbClr val="000000"/>
              </a:solidFill>
              <a:effectLst/>
              <a:uFillTx/>
              <a:latin typeface="Arial"/>
            </a:endParaRPr>
          </a:p>
        </p:txBody>
      </p:sp>
      <p:sp>
        <p:nvSpPr>
          <p:cNvPr id="1498"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99"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500"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Pre/post panel survey; a weak baseline limits causal claims.</a:t>
            </a:r>
            <a:endParaRPr lang="en-US" sz="1200" b="0" u="none" strike="noStrike">
              <a:solidFill>
                <a:srgbClr val="000000"/>
              </a:solidFill>
              <a:effectLst/>
              <a:uFillTx/>
              <a:latin typeface="Arial"/>
            </a:endParaRPr>
          </a:p>
        </p:txBody>
      </p:sp>
      <p:sp>
        <p:nvSpPr>
          <p:cNvPr id="1501"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02"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unicef.org</a:t>
            </a:r>
            <a:endParaRPr lang="en-US" sz="900" b="0" u="none" strike="noStrike">
              <a:solidFill>
                <a:srgbClr val="000000"/>
              </a:solidFill>
              <a:effectLst/>
              <a:uFillTx/>
              <a:latin typeface="Arial"/>
            </a:endParaRPr>
          </a:p>
        </p:txBody>
      </p:sp>
      <p:sp>
        <p:nvSpPr>
          <p:cNvPr id="1503"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47</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504" name="PlaceHolder 1"/>
          <p:cNvSpPr>
            <a:spLocks noGrp="1"/>
          </p:cNvSpPr>
          <p:nvPr>
            <p:ph type="sldNum" idx="54"/>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505"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06"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34 / 35</a:t>
            </a:r>
            <a:endParaRPr lang="en-US" sz="1200" b="0" u="none" strike="noStrike">
              <a:solidFill>
                <a:srgbClr val="000000"/>
              </a:solidFill>
              <a:effectLst/>
              <a:uFillTx/>
              <a:latin typeface="Arial"/>
            </a:endParaRPr>
          </a:p>
        </p:txBody>
      </p:sp>
      <p:sp>
        <p:nvSpPr>
          <p:cNvPr id="1507"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MEXICO</a:t>
            </a:r>
            <a:endParaRPr lang="en-US" sz="1200" b="0" u="none" strike="noStrike">
              <a:solidFill>
                <a:srgbClr val="000000"/>
              </a:solidFill>
              <a:effectLst/>
              <a:uFillTx/>
              <a:latin typeface="Arial"/>
            </a:endParaRPr>
          </a:p>
        </p:txBody>
      </p:sp>
      <p:sp>
        <p:nvSpPr>
          <p:cNvPr id="1508"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2020</a:t>
            </a:r>
            <a:endParaRPr lang="en-US" sz="1350" b="0" u="none" strike="noStrike">
              <a:solidFill>
                <a:srgbClr val="000000"/>
              </a:solidFill>
              <a:effectLst/>
              <a:uFillTx/>
              <a:latin typeface="Arial"/>
            </a:endParaRPr>
          </a:p>
        </p:txBody>
      </p:sp>
      <p:sp>
        <p:nvSpPr>
          <p:cNvPr id="1509"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Vencer el Miedo</a:t>
            </a:r>
            <a:endParaRPr lang="en-US" sz="3600" b="0" u="none" strike="noStrike">
              <a:solidFill>
                <a:srgbClr val="000000"/>
              </a:solidFill>
              <a:effectLst/>
              <a:uFillTx/>
              <a:latin typeface="Arial"/>
            </a:endParaRPr>
          </a:p>
        </p:txBody>
      </p:sp>
      <p:sp>
        <p:nvSpPr>
          <p:cNvPr id="1510"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511"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512"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513"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Parents and teens avoided sexual-health talks</a:t>
            </a:r>
            <a:endParaRPr lang="en-US" sz="1350" b="0" u="none" strike="noStrike">
              <a:solidFill>
                <a:srgbClr val="000000"/>
              </a:solidFill>
              <a:effectLst/>
              <a:uFillTx/>
              <a:latin typeface="Arial"/>
            </a:endParaRPr>
          </a:p>
        </p:txBody>
      </p:sp>
      <p:sp>
        <p:nvSpPr>
          <p:cNvPr id="1514"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515"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They could speak and seek advice</a:t>
            </a:r>
            <a:endParaRPr lang="en-US" sz="1350" b="0" u="none" strike="noStrike">
              <a:solidFill>
                <a:srgbClr val="000000"/>
              </a:solidFill>
              <a:effectLst/>
              <a:uFillTx/>
              <a:latin typeface="Arial"/>
            </a:endParaRPr>
          </a:p>
        </p:txBody>
      </p:sp>
      <p:sp>
        <p:nvSpPr>
          <p:cNvPr id="1516"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17"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518"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1519"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47-episode drama showed teens and parents reconsidering choices.</a:t>
            </a:r>
            <a:endParaRPr lang="en-US" sz="1500" b="0" u="none" strike="noStrike">
              <a:solidFill>
                <a:srgbClr val="000000"/>
              </a:solidFill>
              <a:effectLst/>
              <a:uFillTx/>
              <a:latin typeface="Arial"/>
            </a:endParaRPr>
          </a:p>
        </p:txBody>
      </p:sp>
      <p:sp>
        <p:nvSpPr>
          <p:cNvPr id="1520"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21"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1522"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technical advisory group checked the scripts for medical accuracy.</a:t>
            </a:r>
            <a:endParaRPr lang="en-US" sz="1500" b="0" u="none" strike="noStrike">
              <a:solidFill>
                <a:srgbClr val="000000"/>
              </a:solidFill>
              <a:effectLst/>
              <a:uFillTx/>
              <a:latin typeface="Arial"/>
            </a:endParaRPr>
          </a:p>
        </p:txBody>
      </p:sp>
      <p:sp>
        <p:nvSpPr>
          <p:cNvPr id="1523"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24"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1525"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A cast message after each episode gave a counseling hotline number.</a:t>
            </a:r>
            <a:endParaRPr lang="en-US" sz="1500" b="0" u="none" strike="noStrike">
              <a:solidFill>
                <a:srgbClr val="000000"/>
              </a:solidFill>
              <a:effectLst/>
              <a:uFillTx/>
              <a:latin typeface="Arial"/>
            </a:endParaRPr>
          </a:p>
        </p:txBody>
      </p:sp>
      <p:sp>
        <p:nvSpPr>
          <p:cNvPr id="1526"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27"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528" name=""/>
          <p:cNvPicPr/>
          <p:nvPr/>
        </p:nvPicPr>
        <p:blipFill>
          <a:blip r:embed="rId1"/>
          <a:stretch/>
        </p:blipFill>
        <p:spPr>
          <a:xfrm>
            <a:off x="7239960" y="1752480"/>
            <a:ext cx="3197880" cy="3038040"/>
          </a:xfrm>
          <a:prstGeom prst="rect">
            <a:avLst/>
          </a:prstGeom>
          <a:noFill/>
          <a:ln w="0">
            <a:noFill/>
          </a:ln>
        </p:spPr>
      </p:pic>
      <p:sp>
        <p:nvSpPr>
          <p:cNvPr id="1529"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Vencer el Miedo cast still, 2020 — Televisa / PMC</a:t>
            </a:r>
            <a:endParaRPr lang="en-US" sz="1130" b="0" u="none" strike="noStrike">
              <a:solidFill>
                <a:srgbClr val="000000"/>
              </a:solidFill>
              <a:effectLst/>
              <a:uFillTx/>
              <a:latin typeface="Arial"/>
            </a:endParaRPr>
          </a:p>
        </p:txBody>
      </p:sp>
      <p:sp>
        <p:nvSpPr>
          <p:cNvPr id="1530"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31"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532"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Teen viewers more often reported non-condom and dual contraception; parent viewers talked more with teens about sex.</a:t>
            </a:r>
            <a:endParaRPr lang="en-US" sz="1280" b="0" u="none" strike="noStrike">
              <a:solidFill>
                <a:srgbClr val="000000"/>
              </a:solidFill>
              <a:effectLst/>
              <a:uFillTx/>
              <a:latin typeface="Arial"/>
            </a:endParaRPr>
          </a:p>
        </p:txBody>
      </p:sp>
      <p:sp>
        <p:nvSpPr>
          <p:cNvPr id="1533"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34"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535"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Cross-sectional survey of viewers vs. nonviewers; cannot show causation.</a:t>
            </a:r>
            <a:endParaRPr lang="en-US" sz="1200" b="0" u="none" strike="noStrike">
              <a:solidFill>
                <a:srgbClr val="000000"/>
              </a:solidFill>
              <a:effectLst/>
              <a:uFillTx/>
              <a:latin typeface="Arial"/>
            </a:endParaRPr>
          </a:p>
        </p:txBody>
      </p:sp>
      <p:sp>
        <p:nvSpPr>
          <p:cNvPr id="1536"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37"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populationmedia.org  ·  pmc.ncbi.nlm.nih.gov  ·  doi.org</a:t>
            </a:r>
            <a:endParaRPr lang="en-US" sz="900" b="0" u="none" strike="noStrike">
              <a:solidFill>
                <a:srgbClr val="000000"/>
              </a:solidFill>
              <a:effectLst/>
              <a:uFillTx/>
              <a:latin typeface="Arial"/>
            </a:endParaRPr>
          </a:p>
        </p:txBody>
      </p:sp>
      <p:sp>
        <p:nvSpPr>
          <p:cNvPr id="1538"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48</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539" name="PlaceHolder 1"/>
          <p:cNvSpPr>
            <a:spLocks noGrp="1"/>
          </p:cNvSpPr>
          <p:nvPr>
            <p:ph type="sldNum" idx="55"/>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540" name=""/>
          <p:cNvSpPr/>
          <p:nvPr/>
        </p:nvSpPr>
        <p:spPr>
          <a:xfrm>
            <a:off x="0" y="0"/>
            <a:ext cx="132840" cy="6857640"/>
          </a:xfrm>
          <a:prstGeom prst="rect">
            <a:avLst/>
          </a:prstGeom>
          <a:solidFill>
            <a:srgbClr val="B75D3C"/>
          </a:solidFill>
          <a:ln w="0">
            <a:solidFill>
              <a:srgbClr val="B75D3C"/>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41" name=""/>
          <p:cNvSpPr/>
          <p:nvPr/>
        </p:nvSpPr>
        <p:spPr>
          <a:xfrm>
            <a:off x="666720" y="409680"/>
            <a:ext cx="180936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35 / 35</a:t>
            </a:r>
            <a:endParaRPr lang="en-US" sz="1200" b="0" u="none" strike="noStrike">
              <a:solidFill>
                <a:srgbClr val="000000"/>
              </a:solidFill>
              <a:effectLst/>
              <a:uFillTx/>
              <a:latin typeface="Arial"/>
            </a:endParaRPr>
          </a:p>
        </p:txBody>
      </p:sp>
      <p:sp>
        <p:nvSpPr>
          <p:cNvPr id="1542" name=""/>
          <p:cNvSpPr/>
          <p:nvPr/>
        </p:nvSpPr>
        <p:spPr>
          <a:xfrm>
            <a:off x="2305080" y="409680"/>
            <a:ext cx="685764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STORY  ·  NEPAL</a:t>
            </a:r>
            <a:endParaRPr lang="en-US" sz="1200" b="0" u="none" strike="noStrike">
              <a:solidFill>
                <a:srgbClr val="000000"/>
              </a:solidFill>
              <a:effectLst/>
              <a:uFillTx/>
              <a:latin typeface="Arial"/>
            </a:endParaRPr>
          </a:p>
        </p:txBody>
      </p:sp>
      <p:sp>
        <p:nvSpPr>
          <p:cNvPr id="1543" name=""/>
          <p:cNvSpPr/>
          <p:nvPr/>
        </p:nvSpPr>
        <p:spPr>
          <a:xfrm>
            <a:off x="9381960" y="409680"/>
            <a:ext cx="195228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2021–22</a:t>
            </a:r>
            <a:endParaRPr lang="en-US" sz="1350" b="0" u="none" strike="noStrike">
              <a:solidFill>
                <a:srgbClr val="000000"/>
              </a:solidFill>
              <a:effectLst/>
              <a:uFillTx/>
              <a:latin typeface="Arial"/>
            </a:endParaRPr>
          </a:p>
        </p:txBody>
      </p:sp>
      <p:sp>
        <p:nvSpPr>
          <p:cNvPr id="1544" name=""/>
          <p:cNvSpPr/>
          <p:nvPr/>
        </p:nvSpPr>
        <p:spPr>
          <a:xfrm>
            <a:off x="666720" y="838080"/>
            <a:ext cx="10572480" cy="66636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17232B"/>
                </a:solidFill>
                <a:effectLst/>
                <a:uFillTx/>
                <a:latin typeface="Calibri"/>
                <a:ea typeface="Calibri"/>
              </a:rPr>
              <a:t>Rope Guna Fal</a:t>
            </a:r>
            <a:endParaRPr lang="en-US" sz="3600" b="0" u="none" strike="noStrike">
              <a:solidFill>
                <a:srgbClr val="000000"/>
              </a:solidFill>
              <a:effectLst/>
              <a:uFillTx/>
              <a:latin typeface="Arial"/>
            </a:endParaRPr>
          </a:p>
        </p:txBody>
      </p:sp>
      <p:sp>
        <p:nvSpPr>
          <p:cNvPr id="1545" name=""/>
          <p:cNvSpPr/>
          <p:nvPr/>
        </p:nvSpPr>
        <p:spPr>
          <a:xfrm>
            <a:off x="666720" y="1609560"/>
            <a:ext cx="5181120" cy="18720"/>
          </a:xfrm>
          <a:prstGeom prst="rect">
            <a:avLst/>
          </a:prstGeom>
          <a:solidFill>
            <a:srgbClr val="B75D3C"/>
          </a:solidFill>
          <a:ln w="0">
            <a:solidFill>
              <a:srgbClr val="B75D3C"/>
            </a:solid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546" name=""/>
          <p:cNvSpPr/>
          <p:nvPr/>
        </p:nvSpPr>
        <p:spPr>
          <a:xfrm>
            <a:off x="666720" y="1733400"/>
            <a:ext cx="3047760" cy="199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THE CHANGE THEY SOUGHT</a:t>
            </a:r>
            <a:endParaRPr lang="en-US" sz="1130" b="0" u="none" strike="noStrike">
              <a:solidFill>
                <a:srgbClr val="000000"/>
              </a:solidFill>
              <a:effectLst/>
              <a:uFillTx/>
              <a:latin typeface="Arial"/>
            </a:endParaRPr>
          </a:p>
        </p:txBody>
      </p:sp>
      <p:sp>
        <p:nvSpPr>
          <p:cNvPr id="1547" name=""/>
          <p:cNvSpPr/>
          <p:nvPr/>
        </p:nvSpPr>
        <p:spPr>
          <a:xfrm>
            <a:off x="666720" y="200988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OLD EXPECTATION</a:t>
            </a:r>
            <a:endParaRPr lang="en-US" sz="980" b="0" u="none" strike="noStrike">
              <a:solidFill>
                <a:srgbClr val="000000"/>
              </a:solidFill>
              <a:effectLst/>
              <a:uFillTx/>
              <a:latin typeface="Arial"/>
            </a:endParaRPr>
          </a:p>
        </p:txBody>
      </p:sp>
      <p:sp>
        <p:nvSpPr>
          <p:cNvPr id="1548" name=""/>
          <p:cNvSpPr/>
          <p:nvPr/>
        </p:nvSpPr>
        <p:spPr>
          <a:xfrm>
            <a:off x="2095560" y="197172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Child marriage felt like a family default</a:t>
            </a:r>
            <a:endParaRPr lang="en-US" sz="1350" b="0" u="none" strike="noStrike">
              <a:solidFill>
                <a:srgbClr val="000000"/>
              </a:solidFill>
              <a:effectLst/>
              <a:uFillTx/>
              <a:latin typeface="Arial"/>
            </a:endParaRPr>
          </a:p>
        </p:txBody>
      </p:sp>
      <p:sp>
        <p:nvSpPr>
          <p:cNvPr id="1549" name=""/>
          <p:cNvSpPr/>
          <p:nvPr/>
        </p:nvSpPr>
        <p:spPr>
          <a:xfrm>
            <a:off x="666720" y="2428920"/>
            <a:ext cx="1361880" cy="1807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NEW INVITATION</a:t>
            </a:r>
            <a:endParaRPr lang="en-US" sz="980" b="0" u="none" strike="noStrike">
              <a:solidFill>
                <a:srgbClr val="000000"/>
              </a:solidFill>
              <a:effectLst/>
              <a:uFillTx/>
              <a:latin typeface="Arial"/>
            </a:endParaRPr>
          </a:p>
        </p:txBody>
      </p:sp>
      <p:sp>
        <p:nvSpPr>
          <p:cNvPr id="1550" name=""/>
          <p:cNvSpPr/>
          <p:nvPr/>
        </p:nvSpPr>
        <p:spPr>
          <a:xfrm>
            <a:off x="2095560" y="2390760"/>
            <a:ext cx="3752640" cy="399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0" u="none" strike="noStrike">
                <a:solidFill>
                  <a:srgbClr val="17232B"/>
                </a:solidFill>
                <a:effectLst/>
                <a:uFillTx/>
                <a:latin typeface="Calibri"/>
                <a:ea typeface="Calibri"/>
              </a:rPr>
              <a:t>Families could question and stop it</a:t>
            </a:r>
            <a:endParaRPr lang="en-US" sz="1350" b="0" u="none" strike="noStrike">
              <a:solidFill>
                <a:srgbClr val="000000"/>
              </a:solidFill>
              <a:effectLst/>
              <a:uFillTx/>
              <a:latin typeface="Arial"/>
            </a:endParaRPr>
          </a:p>
        </p:txBody>
      </p:sp>
      <p:sp>
        <p:nvSpPr>
          <p:cNvPr id="1551" name=""/>
          <p:cNvSpPr/>
          <p:nvPr/>
        </p:nvSpPr>
        <p:spPr>
          <a:xfrm>
            <a:off x="666720" y="2847960"/>
            <a:ext cx="51811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52" name=""/>
          <p:cNvSpPr/>
          <p:nvPr/>
        </p:nvSpPr>
        <p:spPr>
          <a:xfrm>
            <a:off x="666720" y="2914560"/>
            <a:ext cx="447624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B75D3C"/>
                </a:solidFill>
                <a:effectLst/>
                <a:uFillTx/>
                <a:latin typeface="Calibri"/>
                <a:ea typeface="Calibri"/>
              </a:rPr>
              <a:t>HOW THEY BUILT IT</a:t>
            </a:r>
            <a:endParaRPr lang="en-US" sz="1350" b="0" u="none" strike="noStrike">
              <a:solidFill>
                <a:srgbClr val="000000"/>
              </a:solidFill>
              <a:effectLst/>
              <a:uFillTx/>
              <a:latin typeface="Arial"/>
            </a:endParaRPr>
          </a:p>
        </p:txBody>
      </p:sp>
      <p:sp>
        <p:nvSpPr>
          <p:cNvPr id="1553" name=""/>
          <p:cNvSpPr/>
          <p:nvPr/>
        </p:nvSpPr>
        <p:spPr>
          <a:xfrm>
            <a:off x="666720" y="320976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01</a:t>
            </a:r>
            <a:endParaRPr lang="en-US" sz="1200" b="0" u="none" strike="noStrike">
              <a:solidFill>
                <a:srgbClr val="000000"/>
              </a:solidFill>
              <a:effectLst/>
              <a:uFillTx/>
              <a:latin typeface="Arial"/>
            </a:endParaRPr>
          </a:p>
        </p:txBody>
      </p:sp>
      <p:sp>
        <p:nvSpPr>
          <p:cNvPr id="1554" name=""/>
          <p:cNvSpPr/>
          <p:nvPr/>
        </p:nvSpPr>
        <p:spPr>
          <a:xfrm>
            <a:off x="1123920" y="316224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PMC-trained local writers built characters who change across 104 radio episodes.</a:t>
            </a:r>
            <a:endParaRPr lang="en-US" sz="1500" b="0" u="none" strike="noStrike">
              <a:solidFill>
                <a:srgbClr val="000000"/>
              </a:solidFill>
              <a:effectLst/>
              <a:uFillTx/>
              <a:latin typeface="Arial"/>
            </a:endParaRPr>
          </a:p>
        </p:txBody>
      </p:sp>
      <p:sp>
        <p:nvSpPr>
          <p:cNvPr id="1555" name=""/>
          <p:cNvSpPr/>
          <p:nvPr/>
        </p:nvSpPr>
        <p:spPr>
          <a:xfrm>
            <a:off x="1123920" y="382896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56" name=""/>
          <p:cNvSpPr/>
          <p:nvPr/>
        </p:nvSpPr>
        <p:spPr>
          <a:xfrm>
            <a:off x="666720" y="393372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02</a:t>
            </a:r>
            <a:endParaRPr lang="en-US" sz="1200" b="0" u="none" strike="noStrike">
              <a:solidFill>
                <a:srgbClr val="000000"/>
              </a:solidFill>
              <a:effectLst/>
              <a:uFillTx/>
              <a:latin typeface="Arial"/>
            </a:endParaRPr>
          </a:p>
        </p:txBody>
      </p:sp>
      <p:sp>
        <p:nvSpPr>
          <p:cNvPr id="1557" name=""/>
          <p:cNvSpPr/>
          <p:nvPr/>
        </p:nvSpPr>
        <p:spPr>
          <a:xfrm>
            <a:off x="1123920" y="388620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Radio Nepal, 100+ local stations, and an offline phone line carried episodes.</a:t>
            </a:r>
            <a:endParaRPr lang="en-US" sz="1500" b="0" u="none" strike="noStrike">
              <a:solidFill>
                <a:srgbClr val="000000"/>
              </a:solidFill>
              <a:effectLst/>
              <a:uFillTx/>
              <a:latin typeface="Arial"/>
            </a:endParaRPr>
          </a:p>
        </p:txBody>
      </p:sp>
      <p:sp>
        <p:nvSpPr>
          <p:cNvPr id="1558" name=""/>
          <p:cNvSpPr/>
          <p:nvPr/>
        </p:nvSpPr>
        <p:spPr>
          <a:xfrm>
            <a:off x="1123920" y="4552920"/>
            <a:ext cx="47239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59" name=""/>
          <p:cNvSpPr/>
          <p:nvPr/>
        </p:nvSpPr>
        <p:spPr>
          <a:xfrm>
            <a:off x="666720" y="4657680"/>
            <a:ext cx="399600" cy="2376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B75D3C"/>
                </a:solidFill>
                <a:effectLst/>
                <a:uFillTx/>
                <a:latin typeface="Calibri"/>
                <a:ea typeface="Calibri"/>
              </a:rPr>
              <a:t>03</a:t>
            </a:r>
            <a:endParaRPr lang="en-US" sz="1200" b="0" u="none" strike="noStrike">
              <a:solidFill>
                <a:srgbClr val="000000"/>
              </a:solidFill>
              <a:effectLst/>
              <a:uFillTx/>
              <a:latin typeface="Arial"/>
            </a:endParaRPr>
          </a:p>
        </p:txBody>
      </p:sp>
      <p:sp>
        <p:nvSpPr>
          <p:cNvPr id="1560" name=""/>
          <p:cNvSpPr/>
          <p:nvPr/>
        </p:nvSpPr>
        <p:spPr>
          <a:xfrm>
            <a:off x="1123920" y="4610160"/>
            <a:ext cx="47239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national series ran for a year, with attention to three target provinces.</a:t>
            </a:r>
            <a:endParaRPr lang="en-US" sz="1500" b="0" u="none" strike="noStrike">
              <a:solidFill>
                <a:srgbClr val="000000"/>
              </a:solidFill>
              <a:effectLst/>
              <a:uFillTx/>
              <a:latin typeface="Arial"/>
            </a:endParaRPr>
          </a:p>
        </p:txBody>
      </p:sp>
      <p:sp>
        <p:nvSpPr>
          <p:cNvPr id="1561" name=""/>
          <p:cNvSpPr/>
          <p:nvPr/>
        </p:nvSpPr>
        <p:spPr>
          <a:xfrm>
            <a:off x="6153120" y="1523880"/>
            <a:ext cx="5371920" cy="3885840"/>
          </a:xfrm>
          <a:prstGeom prst="roundRect">
            <a:avLst>
              <a:gd name="adj" fmla="val 1961"/>
            </a:avLst>
          </a:prstGeom>
          <a:solidFill>
            <a:srgbClr val="EAEEEB"/>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62" name=""/>
          <p:cNvSpPr/>
          <p:nvPr/>
        </p:nvSpPr>
        <p:spPr>
          <a:xfrm>
            <a:off x="6305400" y="1676520"/>
            <a:ext cx="5067000" cy="3190680"/>
          </a:xfrm>
          <a:prstGeom prst="roundRect">
            <a:avLst>
              <a:gd name="adj" fmla="val 2388"/>
            </a:avLst>
          </a:prstGeom>
          <a:solidFill>
            <a:srgbClr val="F7F5F0"/>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563" name=""/>
          <p:cNvPicPr/>
          <p:nvPr/>
        </p:nvPicPr>
        <p:blipFill>
          <a:blip r:embed="rId1"/>
          <a:stretch/>
        </p:blipFill>
        <p:spPr>
          <a:xfrm>
            <a:off x="6671880" y="1752480"/>
            <a:ext cx="4334040" cy="3038040"/>
          </a:xfrm>
          <a:prstGeom prst="rect">
            <a:avLst/>
          </a:prstGeom>
          <a:noFill/>
          <a:ln w="0">
            <a:noFill/>
          </a:ln>
        </p:spPr>
      </p:pic>
      <p:sp>
        <p:nvSpPr>
          <p:cNvPr id="1564" name=""/>
          <p:cNvSpPr/>
          <p:nvPr/>
        </p:nvSpPr>
        <p:spPr>
          <a:xfrm>
            <a:off x="6334200" y="4971960"/>
            <a:ext cx="5009760" cy="361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0" u="none" strike="noStrike">
                <a:solidFill>
                  <a:srgbClr val="607079"/>
                </a:solidFill>
                <a:effectLst/>
                <a:uFillTx/>
                <a:latin typeface="Calibri"/>
                <a:ea typeface="Calibri"/>
              </a:rPr>
              <a:t>Rope Guna Fal recording session, c. 2022 — Population Media Center</a:t>
            </a:r>
            <a:endParaRPr lang="en-US" sz="1130" b="0" u="none" strike="noStrike">
              <a:solidFill>
                <a:srgbClr val="000000"/>
              </a:solidFill>
              <a:effectLst/>
              <a:uFillTx/>
              <a:latin typeface="Arial"/>
            </a:endParaRPr>
          </a:p>
        </p:txBody>
      </p:sp>
      <p:sp>
        <p:nvSpPr>
          <p:cNvPr id="1565" name=""/>
          <p:cNvSpPr/>
          <p:nvPr/>
        </p:nvSpPr>
        <p:spPr>
          <a:xfrm>
            <a:off x="666720" y="5572080"/>
            <a:ext cx="10858320" cy="771120"/>
          </a:xfrm>
          <a:prstGeom prst="roundRect">
            <a:avLst>
              <a:gd name="adj" fmla="val 9877"/>
            </a:avLst>
          </a:prstGeom>
          <a:solidFill>
            <a:srgbClr val="FFFFFF"/>
          </a:solidFill>
          <a:ln w="12383">
            <a:solidFill>
              <a:srgbClr val="D9DE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66" name=""/>
          <p:cNvSpPr/>
          <p:nvPr/>
        </p:nvSpPr>
        <p:spPr>
          <a:xfrm>
            <a:off x="838080" y="5667480"/>
            <a:ext cx="35240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WHAT WE KNOW</a:t>
            </a:r>
            <a:endParaRPr lang="en-US" sz="1130" b="0" u="none" strike="noStrike">
              <a:solidFill>
                <a:srgbClr val="000000"/>
              </a:solidFill>
              <a:effectLst/>
              <a:uFillTx/>
              <a:latin typeface="Arial"/>
            </a:endParaRPr>
          </a:p>
        </p:txBody>
      </p:sp>
      <p:sp>
        <p:nvSpPr>
          <p:cNvPr id="1567" name=""/>
          <p:cNvSpPr/>
          <p:nvPr/>
        </p:nvSpPr>
        <p:spPr>
          <a:xfrm>
            <a:off x="838080" y="5896080"/>
            <a:ext cx="653364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80" b="0" u="none" strike="noStrike">
                <a:solidFill>
                  <a:srgbClr val="17232B"/>
                </a:solidFill>
                <a:effectLst/>
                <a:uFillTx/>
                <a:latin typeface="Calibri"/>
                <a:ea typeface="Calibri"/>
              </a:rPr>
              <a:t>Listeners had about 3.8 times the odds of nonlisteners of reporting action against child marriage.</a:t>
            </a:r>
            <a:endParaRPr lang="en-US" sz="1280" b="0" u="none" strike="noStrike">
              <a:solidFill>
                <a:srgbClr val="000000"/>
              </a:solidFill>
              <a:effectLst/>
              <a:uFillTx/>
              <a:latin typeface="Arial"/>
            </a:endParaRPr>
          </a:p>
        </p:txBody>
      </p:sp>
      <p:sp>
        <p:nvSpPr>
          <p:cNvPr id="1568" name=""/>
          <p:cNvSpPr/>
          <p:nvPr/>
        </p:nvSpPr>
        <p:spPr>
          <a:xfrm>
            <a:off x="7515360" y="5715000"/>
            <a:ext cx="9000" cy="475920"/>
          </a:xfrm>
          <a:prstGeom prst="rect">
            <a:avLst/>
          </a:prstGeom>
          <a:solidFill>
            <a:srgbClr val="D9DEDC"/>
          </a:solidFill>
          <a:ln w="0">
            <a:solidFill>
              <a:srgbClr val="D9DEDC"/>
            </a:solid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69" name=""/>
          <p:cNvSpPr/>
          <p:nvPr/>
        </p:nvSpPr>
        <p:spPr>
          <a:xfrm>
            <a:off x="7724880" y="5667480"/>
            <a:ext cx="342864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130" b="1" u="none" strike="noStrike">
                <a:solidFill>
                  <a:srgbClr val="B75D3C"/>
                </a:solidFill>
                <a:effectLst/>
                <a:uFillTx/>
                <a:latin typeface="Calibri"/>
                <a:ea typeface="Calibri"/>
              </a:rPr>
              <a:t>HOW WE KNOW</a:t>
            </a:r>
            <a:endParaRPr lang="en-US" sz="1130" b="0" u="none" strike="noStrike">
              <a:solidFill>
                <a:srgbClr val="000000"/>
              </a:solidFill>
              <a:effectLst/>
              <a:uFillTx/>
              <a:latin typeface="Arial"/>
            </a:endParaRPr>
          </a:p>
        </p:txBody>
      </p:sp>
      <p:sp>
        <p:nvSpPr>
          <p:cNvPr id="1570" name=""/>
          <p:cNvSpPr/>
          <p:nvPr/>
        </p:nvSpPr>
        <p:spPr>
          <a:xfrm>
            <a:off x="7724880" y="5896080"/>
            <a:ext cx="3543120" cy="390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0" u="none" strike="noStrike">
                <a:solidFill>
                  <a:srgbClr val="607079"/>
                </a:solidFill>
                <a:effectLst/>
                <a:uFillTx/>
                <a:latin typeface="Calibri"/>
                <a:ea typeface="Calibri"/>
              </a:rPr>
              <a:t>Cross-sectional survey; only 44 of 2,083 respondents were listeners.</a:t>
            </a:r>
            <a:endParaRPr lang="en-US" sz="1200" b="0" u="none" strike="noStrike">
              <a:solidFill>
                <a:srgbClr val="000000"/>
              </a:solidFill>
              <a:effectLst/>
              <a:uFillTx/>
              <a:latin typeface="Arial"/>
            </a:endParaRPr>
          </a:p>
        </p:txBody>
      </p:sp>
      <p:sp>
        <p:nvSpPr>
          <p:cNvPr id="1571" name=""/>
          <p:cNvSpPr/>
          <p:nvPr/>
        </p:nvSpPr>
        <p:spPr>
          <a:xfrm>
            <a:off x="666720" y="648648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72" name=""/>
          <p:cNvSpPr/>
          <p:nvPr/>
        </p:nvSpPr>
        <p:spPr>
          <a:xfrm>
            <a:off x="695160" y="6562800"/>
            <a:ext cx="1009620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0" u="none" strike="noStrike">
                <a:solidFill>
                  <a:srgbClr val="607079"/>
                </a:solidFill>
                <a:effectLst/>
                <a:uFillTx/>
                <a:latin typeface="Calibri"/>
                <a:ea typeface="Calibri"/>
              </a:rPr>
              <a:t>SOURCES  unicef.org  ·  populationmedia.org  ·  e1.nmcdn.io</a:t>
            </a:r>
            <a:endParaRPr lang="en-US" sz="900" b="0" u="none" strike="noStrike">
              <a:solidFill>
                <a:srgbClr val="000000"/>
              </a:solidFill>
              <a:effectLst/>
              <a:uFillTx/>
              <a:latin typeface="Arial"/>
            </a:endParaRPr>
          </a:p>
        </p:txBody>
      </p:sp>
      <p:sp>
        <p:nvSpPr>
          <p:cNvPr id="1573"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49</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574" name="PlaceHolder 1"/>
          <p:cNvSpPr>
            <a:spLocks noGrp="1"/>
          </p:cNvSpPr>
          <p:nvPr>
            <p:ph type="sldNum" idx="56"/>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575"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76" name=""/>
          <p:cNvSpPr/>
          <p:nvPr/>
        </p:nvSpPr>
        <p:spPr>
          <a:xfrm>
            <a:off x="666720" y="657360"/>
            <a:ext cx="6190920" cy="2664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350" b="1" u="none" strike="noStrike">
                <a:solidFill>
                  <a:srgbClr val="607079"/>
                </a:solidFill>
                <a:effectLst/>
                <a:uFillTx/>
                <a:latin typeface="Calibri"/>
                <a:ea typeface="Calibri"/>
              </a:rPr>
              <a:t>APPENDIX</a:t>
            </a:r>
            <a:endParaRPr lang="en-US" sz="1350" b="0" u="none" strike="noStrike">
              <a:solidFill>
                <a:srgbClr val="000000"/>
              </a:solidFill>
              <a:effectLst/>
              <a:uFillTx/>
              <a:latin typeface="Arial"/>
            </a:endParaRPr>
          </a:p>
        </p:txBody>
      </p:sp>
      <p:sp>
        <p:nvSpPr>
          <p:cNvPr id="1577" name=""/>
          <p:cNvSpPr/>
          <p:nvPr/>
        </p:nvSpPr>
        <p:spPr>
          <a:xfrm>
            <a:off x="666720" y="1457280"/>
            <a:ext cx="10477080" cy="856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4050" b="1" u="none" strike="noStrike">
                <a:solidFill>
                  <a:srgbClr val="17232B"/>
                </a:solidFill>
                <a:effectLst/>
                <a:uFillTx/>
                <a:latin typeface="Calibri"/>
                <a:ea typeface="Calibri"/>
              </a:rPr>
              <a:t>Sources and fact-check trail</a:t>
            </a:r>
            <a:endParaRPr lang="en-US" sz="4050" b="0" u="none" strike="noStrike">
              <a:solidFill>
                <a:srgbClr val="000000"/>
              </a:solidFill>
              <a:effectLst/>
              <a:uFillTx/>
              <a:latin typeface="Arial"/>
            </a:endParaRPr>
          </a:p>
        </p:txBody>
      </p:sp>
      <p:sp>
        <p:nvSpPr>
          <p:cNvPr id="1578" name=""/>
          <p:cNvSpPr/>
          <p:nvPr/>
        </p:nvSpPr>
        <p:spPr>
          <a:xfrm>
            <a:off x="704880" y="2619360"/>
            <a:ext cx="10096200" cy="31428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500" b="0" u="none" strike="noStrike">
                <a:solidFill>
                  <a:srgbClr val="17232B"/>
                </a:solidFill>
                <a:effectLst/>
                <a:uFillTx/>
                <a:latin typeface="Calibri"/>
                <a:ea typeface="Calibri"/>
              </a:rPr>
              <a:t>The following slides list every source link for each case, in deck order, with the slide numbers it supports.</a:t>
            </a:r>
            <a:endParaRPr lang="en-US" sz="1500" b="0" u="none" strike="noStrike">
              <a:solidFill>
                <a:srgbClr val="000000"/>
              </a:solidFill>
              <a:effectLst/>
              <a:uFillTx/>
              <a:latin typeface="Arial"/>
            </a:endParaRPr>
          </a:p>
          <a:p>
            <a:pPr defTabSz="914400">
              <a:lnSpc>
                <a:spcPct val="100000"/>
              </a:lnSpc>
              <a:tabLst>
                <a:tab pos="0" algn="l"/>
              </a:tabLst>
            </a:pPr>
            <a:endParaRPr lang="en-US" sz="18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32B"/>
                </a:solidFill>
                <a:effectLst/>
                <a:uFillTx/>
                <a:latin typeface="Calibri"/>
                <a:ea typeface="Calibri"/>
              </a:rPr>
              <a:t>Each case slide’s speaker notes list every claim on that slide, its check result, the supporting passage quoted from the source, and the link.</a:t>
            </a:r>
            <a:endParaRPr lang="en-US" sz="1500" b="0" u="none" strike="noStrike">
              <a:solidFill>
                <a:srgbClr val="000000"/>
              </a:solidFill>
              <a:effectLst/>
              <a:uFillTx/>
              <a:latin typeface="Arial"/>
            </a:endParaRPr>
          </a:p>
          <a:p>
            <a:pPr defTabSz="914400">
              <a:lnSpc>
                <a:spcPct val="100000"/>
              </a:lnSpc>
              <a:tabLst>
                <a:tab pos="0" algn="l"/>
              </a:tabLst>
            </a:pPr>
            <a:endParaRPr lang="en-US" sz="18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32B"/>
                </a:solidFill>
                <a:effectLst/>
                <a:uFillTx/>
                <a:latin typeface="Calibri"/>
                <a:ea typeface="Calibri"/>
              </a:rPr>
              <a:t>Verdicts: VERIFIED (source supports the wording), CORRECTED (a fact was wrong and was fixed), SOFTENED (wording was stronger than the source and was narrowed), REMOVED (unsupported and replaced).</a:t>
            </a:r>
            <a:endParaRPr lang="en-US" sz="1500" b="0" u="none" strike="noStrike">
              <a:solidFill>
                <a:srgbClr val="000000"/>
              </a:solidFill>
              <a:effectLst/>
              <a:uFillTx/>
              <a:latin typeface="Arial"/>
            </a:endParaRPr>
          </a:p>
          <a:p>
            <a:pPr defTabSz="914400">
              <a:lnSpc>
                <a:spcPct val="100000"/>
              </a:lnSpc>
              <a:tabLst>
                <a:tab pos="0" algn="l"/>
              </a:tabLst>
            </a:pPr>
            <a:endParaRPr lang="en-US" sz="18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32B"/>
                </a:solidFill>
                <a:effectLst/>
                <a:uFillTx/>
                <a:latin typeface="Calibri"/>
                <a:ea typeface="Calibri"/>
              </a:rPr>
              <a:t>Image credits follow the source list. factcheck.json in the handoff folder holds the same records in machine-readable form.</a:t>
            </a:r>
            <a:endParaRPr lang="en-US" sz="1500" b="0" u="none" strike="noStrike">
              <a:solidFill>
                <a:srgbClr val="000000"/>
              </a:solidFill>
              <a:effectLst/>
              <a:uFillTx/>
              <a:latin typeface="Arial"/>
            </a:endParaRPr>
          </a:p>
        </p:txBody>
      </p:sp>
      <p:sp>
        <p:nvSpPr>
          <p:cNvPr id="1579"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50</a:t>
            </a:r>
            <a:endParaRPr lang="en-US" sz="9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580" name="PlaceHolder 1"/>
          <p:cNvSpPr>
            <a:spLocks noGrp="1"/>
          </p:cNvSpPr>
          <p:nvPr>
            <p:ph type="sldNum" idx="57"/>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581"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82" name=""/>
          <p:cNvSpPr/>
          <p:nvPr/>
        </p:nvSpPr>
        <p:spPr>
          <a:xfrm>
            <a:off x="666720" y="409680"/>
            <a:ext cx="1047708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APPENDIX  ·  SOURCES  ·  1</a:t>
            </a:r>
            <a:endParaRPr lang="en-US" sz="1200" b="0" u="none" strike="noStrike">
              <a:solidFill>
                <a:srgbClr val="000000"/>
              </a:solidFill>
              <a:effectLst/>
              <a:uFillTx/>
              <a:latin typeface="Arial"/>
            </a:endParaRPr>
          </a:p>
        </p:txBody>
      </p:sp>
      <p:sp>
        <p:nvSpPr>
          <p:cNvPr id="1583" name=""/>
          <p:cNvSpPr/>
          <p:nvPr/>
        </p:nvSpPr>
        <p:spPr>
          <a:xfrm>
            <a:off x="666720" y="74304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584"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51</a:t>
            </a:r>
            <a:endParaRPr lang="en-US" sz="980" b="0" u="none" strike="noStrike">
              <a:solidFill>
                <a:srgbClr val="000000"/>
              </a:solidFill>
              <a:effectLst/>
              <a:uFillTx/>
              <a:latin typeface="Arial"/>
            </a:endParaRPr>
          </a:p>
        </p:txBody>
      </p:sp>
      <p:sp>
        <p:nvSpPr>
          <p:cNvPr id="1585" name=""/>
          <p:cNvSpPr/>
          <p:nvPr/>
        </p:nvSpPr>
        <p:spPr>
          <a:xfrm>
            <a:off x="666720" y="87624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235C77"/>
                </a:solidFill>
                <a:effectLst/>
                <a:uFillTx/>
                <a:latin typeface="Calibri"/>
                <a:ea typeface="Calibri"/>
              </a:rPr>
              <a:t>01  Torches of Freedom  ·  1929  ·  slide 8</a:t>
            </a:r>
            <a:endParaRPr lang="en-US" sz="980" b="0" u="none" strike="noStrike">
              <a:solidFill>
                <a:srgbClr val="000000"/>
              </a:solidFill>
              <a:effectLst/>
              <a:uFillTx/>
              <a:latin typeface="Arial"/>
            </a:endParaRPr>
          </a:p>
        </p:txBody>
      </p:sp>
      <p:sp>
        <p:nvSpPr>
          <p:cNvPr id="1586" name=""/>
          <p:cNvSpPr/>
          <p:nvPr/>
        </p:nvSpPr>
        <p:spPr>
          <a:xfrm>
            <a:off x="666720" y="1076400"/>
            <a:ext cx="10858320" cy="818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
              </a:rPr>
              <a:t>https://www.historians.org/perspectives-article/creating-circumstances-edward-bernays-psychoanalysis-and-the-making-of-american-consumer-culture-march-2017/</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2"/>
              </a:rPr>
              <a:t>https://archive.org/details/per_new-york-times-magazine_the-new-york-times_1929-04-01_78_26000</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3"/>
              </a:rPr>
              <a:t>https://cancercontrol.cancer.gov/sites/default/files/2020-06/m19_complete_accessible_0.pdf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4"/>
              </a:rPr>
              <a:t>https://www.nytimes.com/1929/04/01/archives/easter-sun-finds-the-past-in-shadow-at-modern-parade-lone-prancing.html</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5"/>
              </a:rPr>
              <a:t>https://archive.org/download/per_new-york-times-magazine_the-new-york-times_1929-04-01_78_26000/per_new-york-times-magazine_the-new-york-times_1929-04-01_78_26000_djvu.txt</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6"/>
              </a:rPr>
              <a:t>https://pubmed.ncbi.nlm.nih.gov/8868552/</a:t>
            </a:r>
            <a:endParaRPr lang="en-US" sz="820" b="0" u="none" strike="noStrike">
              <a:solidFill>
                <a:srgbClr val="000000"/>
              </a:solidFill>
              <a:effectLst/>
              <a:uFillTx/>
              <a:latin typeface="Arial"/>
            </a:endParaRPr>
          </a:p>
        </p:txBody>
      </p:sp>
      <p:sp>
        <p:nvSpPr>
          <p:cNvPr id="1587" name=""/>
          <p:cNvSpPr/>
          <p:nvPr/>
        </p:nvSpPr>
        <p:spPr>
          <a:xfrm>
            <a:off x="666720" y="198108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235C77"/>
                </a:solidFill>
                <a:effectLst/>
                <a:uFillTx/>
                <a:latin typeface="Calibri"/>
                <a:ea typeface="Calibri"/>
              </a:rPr>
              <a:t>02  Women in War Jobs  ·  1942  ·  slide 9</a:t>
            </a:r>
            <a:endParaRPr lang="en-US" sz="980" b="0" u="none" strike="noStrike">
              <a:solidFill>
                <a:srgbClr val="000000"/>
              </a:solidFill>
              <a:effectLst/>
              <a:uFillTx/>
              <a:latin typeface="Arial"/>
            </a:endParaRPr>
          </a:p>
        </p:txBody>
      </p:sp>
      <p:sp>
        <p:nvSpPr>
          <p:cNvPr id="1588" name=""/>
          <p:cNvSpPr/>
          <p:nvPr/>
        </p:nvSpPr>
        <p:spPr>
          <a:xfrm>
            <a:off x="666720" y="2181240"/>
            <a:ext cx="108583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7"/>
              </a:rPr>
              <a:t>https://www.adcouncil.org/about-us/our-history</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8"/>
              </a:rPr>
              <a:t>https://catalog.archives.gov/id/513683</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9"/>
              </a:rPr>
              <a:t>https://www.nps.gov/media/video/view.htm?id=349BCEFF-3140-438D-BF03-89C92B4A77B3</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0"/>
              </a:rPr>
              <a:t>https://aef.com/classroom-resources/social-responsibility/ad-council-campaigns-made-difference/women-war-jobs-rosie-riveter/</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1"/>
              </a:rPr>
              <a:t>https://home.nps.gov/articles/000/childcare-on-the-world-war-ii-home-front.htm</a:t>
            </a:r>
            <a:endParaRPr lang="en-US" sz="820" b="0" u="none" strike="noStrike">
              <a:solidFill>
                <a:srgbClr val="000000"/>
              </a:solidFill>
              <a:effectLst/>
              <a:uFillTx/>
              <a:latin typeface="Arial"/>
            </a:endParaRPr>
          </a:p>
        </p:txBody>
      </p:sp>
      <p:sp>
        <p:nvSpPr>
          <p:cNvPr id="1589" name=""/>
          <p:cNvSpPr/>
          <p:nvPr/>
        </p:nvSpPr>
        <p:spPr>
          <a:xfrm>
            <a:off x="666720" y="295272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235C77"/>
                </a:solidFill>
                <a:effectLst/>
                <a:uFillTx/>
                <a:latin typeface="Calibri"/>
                <a:ea typeface="Calibri"/>
              </a:rPr>
              <a:t>03  Smokey Bear  ·  1944  ·  slide 10</a:t>
            </a:r>
            <a:endParaRPr lang="en-US" sz="980" b="0" u="none" strike="noStrike">
              <a:solidFill>
                <a:srgbClr val="000000"/>
              </a:solidFill>
              <a:effectLst/>
              <a:uFillTx/>
              <a:latin typeface="Arial"/>
            </a:endParaRPr>
          </a:p>
        </p:txBody>
      </p:sp>
      <p:sp>
        <p:nvSpPr>
          <p:cNvPr id="1590" name=""/>
          <p:cNvSpPr/>
          <p:nvPr/>
        </p:nvSpPr>
        <p:spPr>
          <a:xfrm>
            <a:off x="666720" y="315288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2"/>
              </a:rPr>
              <a:t>https://smokeybear.com/en/smokeys-history/about-the-campaign</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13"/>
              </a:rPr>
              <a:t>https://catalog.archives.gov/id/515437</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14"/>
              </a:rPr>
              <a:t>https://www.adcouncil.org/about-us/our-history</a:t>
            </a:r>
            <a:endParaRPr lang="en-US" sz="820" b="0" u="none" strike="noStrike">
              <a:solidFill>
                <a:srgbClr val="000000"/>
              </a:solidFill>
              <a:effectLst/>
              <a:uFillTx/>
              <a:latin typeface="Arial"/>
            </a:endParaRPr>
          </a:p>
        </p:txBody>
      </p:sp>
      <p:sp>
        <p:nvSpPr>
          <p:cNvPr id="1591" name=""/>
          <p:cNvSpPr/>
          <p:nvPr/>
        </p:nvSpPr>
        <p:spPr>
          <a:xfrm>
            <a:off x="666720" y="365760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235C77"/>
                </a:solidFill>
                <a:effectLst/>
                <a:uFillTx/>
                <a:latin typeface="Calibri"/>
                <a:ea typeface="Calibri"/>
              </a:rPr>
              <a:t>04  “Crying Indian” anti-litter campaign  ·  1971  ·  slide 11</a:t>
            </a:r>
            <a:endParaRPr lang="en-US" sz="980" b="0" u="none" strike="noStrike">
              <a:solidFill>
                <a:srgbClr val="000000"/>
              </a:solidFill>
              <a:effectLst/>
              <a:uFillTx/>
              <a:latin typeface="Arial"/>
            </a:endParaRPr>
          </a:p>
        </p:txBody>
      </p:sp>
      <p:sp>
        <p:nvSpPr>
          <p:cNvPr id="1592" name=""/>
          <p:cNvSpPr/>
          <p:nvPr/>
        </p:nvSpPr>
        <p:spPr>
          <a:xfrm>
            <a:off x="666720" y="385776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5"/>
              </a:rPr>
              <a:t>https://www.adcouncil.org/about-us/our-history</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16"/>
              </a:rPr>
              <a:t>https://www.youtube.com/watch?v=MPePAA-V4ZI</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17"/>
              </a:rPr>
              <a:t>https://www.zocalopublicsquare.org/crying-indian-ad-fooled-environmental-movement/</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8"/>
              </a:rPr>
              <a:t>https://www.cnn.com/2023/02/28/us/crying-indian-ad-campaign-cec/index.html</a:t>
            </a:r>
            <a:endParaRPr lang="en-US" sz="820" b="0" u="none" strike="noStrike">
              <a:solidFill>
                <a:srgbClr val="000000"/>
              </a:solidFill>
              <a:effectLst/>
              <a:uFillTx/>
              <a:latin typeface="Arial"/>
            </a:endParaRPr>
          </a:p>
        </p:txBody>
      </p:sp>
      <p:sp>
        <p:nvSpPr>
          <p:cNvPr id="1593" name=""/>
          <p:cNvSpPr/>
          <p:nvPr/>
        </p:nvSpPr>
        <p:spPr>
          <a:xfrm>
            <a:off x="666720" y="449568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05  Ven conmigo  ·  1975  ·  slide 12</a:t>
            </a:r>
            <a:endParaRPr lang="en-US" sz="980" b="0" u="none" strike="noStrike">
              <a:solidFill>
                <a:srgbClr val="000000"/>
              </a:solidFill>
              <a:effectLst/>
              <a:uFillTx/>
              <a:latin typeface="Arial"/>
            </a:endParaRPr>
          </a:p>
        </p:txBody>
      </p:sp>
      <p:sp>
        <p:nvSpPr>
          <p:cNvPr id="1594" name=""/>
          <p:cNvSpPr/>
          <p:nvPr/>
        </p:nvSpPr>
        <p:spPr>
          <a:xfrm>
            <a:off x="666720" y="4695840"/>
            <a:ext cx="10858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Outcome:  </a:t>
            </a:r>
            <a:r>
              <a:rPr lang="en-US" sz="820" b="0" u="sng" strike="noStrike">
                <a:solidFill>
                  <a:srgbClr val="467886"/>
                </a:solidFill>
                <a:effectLst/>
                <a:uFillTx/>
                <a:latin typeface="Calibri"/>
                <a:ea typeface="Calibri"/>
                <a:hlinkClick r:id="rId19"/>
              </a:rPr>
              <a:t>https://files.eric.ed.gov/fulltext/ED445370.pdf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20"/>
              </a:rPr>
              <a:t>https://www.unfpa.org/news/serial-melodrama-selling-soap-social-change</a:t>
            </a:r>
            <a:endParaRPr lang="en-US" sz="820" b="0" u="none" strike="noStrike">
              <a:solidFill>
                <a:srgbClr val="000000"/>
              </a:solidFill>
              <a:effectLst/>
              <a:uFillTx/>
              <a:latin typeface="Arial"/>
            </a:endParaRPr>
          </a:p>
        </p:txBody>
      </p:sp>
      <p:sp>
        <p:nvSpPr>
          <p:cNvPr id="1595" name=""/>
          <p:cNvSpPr/>
          <p:nvPr/>
        </p:nvSpPr>
        <p:spPr>
          <a:xfrm>
            <a:off x="666720" y="506736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06  Acompáñame  ·  1977  ·  slide 13</a:t>
            </a:r>
            <a:endParaRPr lang="en-US" sz="980" b="0" u="none" strike="noStrike">
              <a:solidFill>
                <a:srgbClr val="000000"/>
              </a:solidFill>
              <a:effectLst/>
              <a:uFillTx/>
              <a:latin typeface="Arial"/>
            </a:endParaRPr>
          </a:p>
        </p:txBody>
      </p:sp>
      <p:sp>
        <p:nvSpPr>
          <p:cNvPr id="1596" name=""/>
          <p:cNvSpPr/>
          <p:nvPr/>
        </p:nvSpPr>
        <p:spPr>
          <a:xfrm>
            <a:off x="666720" y="5267160"/>
            <a:ext cx="108583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Outcome:  </a:t>
            </a:r>
            <a:r>
              <a:rPr lang="en-US" sz="820" b="0" u="sng" strike="noStrike">
                <a:solidFill>
                  <a:srgbClr val="467886"/>
                </a:solidFill>
                <a:effectLst/>
                <a:uFillTx/>
                <a:latin typeface="Calibri"/>
                <a:ea typeface="Calibri"/>
                <a:hlinkClick r:id="rId21"/>
              </a:rPr>
              <a:t>https://files.eric.ed.gov/fulltext/ED445370.pdf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22"/>
              </a:rPr>
              <a:t>https://www.itu.int/hub/2020/04/how-can-television-viewing-help-to-advance-the-sdgs/</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3"/>
              </a:rPr>
              <a:t>https://mahb.stanford.edu/blog/tv-birth-control/</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4"/>
              </a:rPr>
              <a:t>https://es.wikipedia.org/wiki/Acomp%C3%A1%C3%B1ame_(telenovela)</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Image:  </a:t>
            </a:r>
            <a:r>
              <a:rPr lang="en-US" sz="820" b="0" u="sng" strike="noStrike">
                <a:solidFill>
                  <a:srgbClr val="467886"/>
                </a:solidFill>
                <a:effectLst/>
                <a:uFillTx/>
                <a:latin typeface="Calibri"/>
                <a:ea typeface="Calibri"/>
                <a:hlinkClick r:id="rId25"/>
              </a:rPr>
              <a:t>https://www.youtube.com/watch?v=_zJJziQgeKo</a:t>
            </a:r>
            <a:endParaRPr lang="en-US"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597" name="PlaceHolder 1"/>
          <p:cNvSpPr>
            <a:spLocks noGrp="1"/>
          </p:cNvSpPr>
          <p:nvPr>
            <p:ph type="sldNum" idx="58"/>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598"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99" name=""/>
          <p:cNvSpPr/>
          <p:nvPr/>
        </p:nvSpPr>
        <p:spPr>
          <a:xfrm>
            <a:off x="666720" y="409680"/>
            <a:ext cx="1047708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APPENDIX  ·  SOURCES  ·  2</a:t>
            </a:r>
            <a:endParaRPr lang="en-US" sz="1200" b="0" u="none" strike="noStrike">
              <a:solidFill>
                <a:srgbClr val="000000"/>
              </a:solidFill>
              <a:effectLst/>
              <a:uFillTx/>
              <a:latin typeface="Arial"/>
            </a:endParaRPr>
          </a:p>
        </p:txBody>
      </p:sp>
      <p:sp>
        <p:nvSpPr>
          <p:cNvPr id="1600" name=""/>
          <p:cNvSpPr/>
          <p:nvPr/>
        </p:nvSpPr>
        <p:spPr>
          <a:xfrm>
            <a:off x="666720" y="74304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601"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52</a:t>
            </a:r>
            <a:endParaRPr lang="en-US" sz="980" b="0" u="none" strike="noStrike">
              <a:solidFill>
                <a:srgbClr val="000000"/>
              </a:solidFill>
              <a:effectLst/>
              <a:uFillTx/>
              <a:latin typeface="Arial"/>
            </a:endParaRPr>
          </a:p>
        </p:txBody>
      </p:sp>
      <p:sp>
        <p:nvSpPr>
          <p:cNvPr id="1602" name=""/>
          <p:cNvSpPr/>
          <p:nvPr/>
        </p:nvSpPr>
        <p:spPr>
          <a:xfrm>
            <a:off x="666720" y="87624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235C77"/>
                </a:solidFill>
                <a:effectLst/>
                <a:uFillTx/>
                <a:latin typeface="Calibri"/>
                <a:ea typeface="Calibri"/>
              </a:rPr>
              <a:t>07  Drunk Driving Prevention  ·  1983 · slogan 1990  ·  slide 14</a:t>
            </a:r>
            <a:endParaRPr lang="en-US" sz="980" b="0" u="none" strike="noStrike">
              <a:solidFill>
                <a:srgbClr val="000000"/>
              </a:solidFill>
              <a:effectLst/>
              <a:uFillTx/>
              <a:latin typeface="Arial"/>
            </a:endParaRPr>
          </a:p>
        </p:txBody>
      </p:sp>
      <p:sp>
        <p:nvSpPr>
          <p:cNvPr id="1603" name=""/>
          <p:cNvSpPr/>
          <p:nvPr/>
        </p:nvSpPr>
        <p:spPr>
          <a:xfrm>
            <a:off x="666720" y="1076400"/>
            <a:ext cx="108583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
              </a:rPr>
              <a:t>https://www.adcouncil.org/our-causes/buzzed-driving-prevention</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2"/>
              </a:rPr>
              <a:t>https://aef.com/classroom-resources/social-responsibility/ad-council-campaigns-made-difference/drunk-driving-prevention/</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3"/>
              </a:rPr>
              <a:t>https://www.prnewswire.com/news-releases/smokey-bear-and-friends-dont-let-friends-drive-drunk-inducted-into-advertising-week-walk-of-fame-277793801.html</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4"/>
              </a:rPr>
              <a:t>https://www.adcouncil.org/about-us/our-history</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Image:  </a:t>
            </a:r>
            <a:r>
              <a:rPr lang="en-US" sz="820" b="0" u="sng" strike="noStrike">
                <a:solidFill>
                  <a:srgbClr val="467886"/>
                </a:solidFill>
                <a:effectLst/>
                <a:uFillTx/>
                <a:latin typeface="Calibri"/>
                <a:ea typeface="Calibri"/>
                <a:hlinkClick r:id="rId5"/>
              </a:rPr>
              <a:t>https://www.youtube.com/watch?v=BPnqSmxh-60</a:t>
            </a:r>
            <a:endParaRPr lang="en-US" sz="820" b="0" u="none" strike="noStrike">
              <a:solidFill>
                <a:srgbClr val="000000"/>
              </a:solidFill>
              <a:effectLst/>
              <a:uFillTx/>
              <a:latin typeface="Arial"/>
            </a:endParaRPr>
          </a:p>
        </p:txBody>
      </p:sp>
      <p:sp>
        <p:nvSpPr>
          <p:cNvPr id="1604" name=""/>
          <p:cNvSpPr/>
          <p:nvPr/>
        </p:nvSpPr>
        <p:spPr>
          <a:xfrm>
            <a:off x="666720" y="184788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08  Hum Log  ·  1984  ·  slide 15</a:t>
            </a:r>
            <a:endParaRPr lang="en-US" sz="980" b="0" u="none" strike="noStrike">
              <a:solidFill>
                <a:srgbClr val="000000"/>
              </a:solidFill>
              <a:effectLst/>
              <a:uFillTx/>
              <a:latin typeface="Arial"/>
            </a:endParaRPr>
          </a:p>
        </p:txBody>
      </p:sp>
      <p:sp>
        <p:nvSpPr>
          <p:cNvPr id="1605" name=""/>
          <p:cNvSpPr/>
          <p:nvPr/>
        </p:nvSpPr>
        <p:spPr>
          <a:xfrm>
            <a:off x="666720" y="204804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6"/>
              </a:rPr>
              <a:t>https://files.eric.ed.gov/fulltext/ED445370.pdf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7"/>
              </a:rPr>
              <a:t>https://www.youtube.com/watch?v=Sxn-lSJiW7o</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8"/>
              </a:rPr>
              <a:t>https://pubmed.ncbi.nlm.nih.gov/12319295/</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9"/>
              </a:rPr>
              <a:t>https://pubmed.ncbi.nlm.nih.gov/12283722/</a:t>
            </a:r>
            <a:endParaRPr lang="en-US" sz="820" b="0" u="none" strike="noStrike">
              <a:solidFill>
                <a:srgbClr val="000000"/>
              </a:solidFill>
              <a:effectLst/>
              <a:uFillTx/>
              <a:latin typeface="Arial"/>
            </a:endParaRPr>
          </a:p>
        </p:txBody>
      </p:sp>
      <p:sp>
        <p:nvSpPr>
          <p:cNvPr id="1606" name=""/>
          <p:cNvSpPr/>
          <p:nvPr/>
        </p:nvSpPr>
        <p:spPr>
          <a:xfrm>
            <a:off x="666720" y="268596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235C77"/>
                </a:solidFill>
                <a:effectLst/>
                <a:uFillTx/>
                <a:latin typeface="Calibri"/>
                <a:ea typeface="Calibri"/>
              </a:rPr>
              <a:t>09  Vince and Larry  ·  1985  ·  slide 16</a:t>
            </a:r>
            <a:endParaRPr lang="en-US" sz="980" b="0" u="none" strike="noStrike">
              <a:solidFill>
                <a:srgbClr val="000000"/>
              </a:solidFill>
              <a:effectLst/>
              <a:uFillTx/>
              <a:latin typeface="Arial"/>
            </a:endParaRPr>
          </a:p>
        </p:txBody>
      </p:sp>
      <p:sp>
        <p:nvSpPr>
          <p:cNvPr id="1607" name=""/>
          <p:cNvSpPr/>
          <p:nvPr/>
        </p:nvSpPr>
        <p:spPr>
          <a:xfrm>
            <a:off x="666720" y="2886120"/>
            <a:ext cx="108583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0"/>
              </a:rPr>
              <a:t>https://www.adcouncil.org/about-us/our-history</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11"/>
              </a:rPr>
              <a:t>https://www.youtube.com/watch?v=1_8hkdZkF7Q</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12"/>
              </a:rPr>
              <a:t>https://www.nhtsa.gov/book/countermeasures-that-work/seat-belts-and-child-restraints</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3"/>
              </a:rPr>
              <a:t>https://web.archive.org/web/20250302174026/https://americanhistory.si.edu/explore/stories/vince-and-larry-dummies-crash-smithsonian</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4"/>
              </a:rPr>
              <a:t>https://americanhistory.si.edu/explore/stories/vince-and-larry-dummies-crash-smithsonian</a:t>
            </a:r>
            <a:endParaRPr lang="en-US" sz="820" b="0" u="none" strike="noStrike">
              <a:solidFill>
                <a:srgbClr val="000000"/>
              </a:solidFill>
              <a:effectLst/>
              <a:uFillTx/>
              <a:latin typeface="Arial"/>
            </a:endParaRPr>
          </a:p>
        </p:txBody>
      </p:sp>
      <p:sp>
        <p:nvSpPr>
          <p:cNvPr id="1608" name=""/>
          <p:cNvSpPr/>
          <p:nvPr/>
        </p:nvSpPr>
        <p:spPr>
          <a:xfrm>
            <a:off x="666720" y="365760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235C77"/>
                </a:solidFill>
                <a:effectLst/>
                <a:uFillTx/>
                <a:latin typeface="Calibri"/>
                <a:ea typeface="Calibri"/>
              </a:rPr>
              <a:t>10  Don’t Mess with Texas  ·  1986  ·  slide 17</a:t>
            </a:r>
            <a:endParaRPr lang="en-US" sz="980" b="0" u="none" strike="noStrike">
              <a:solidFill>
                <a:srgbClr val="000000"/>
              </a:solidFill>
              <a:effectLst/>
              <a:uFillTx/>
              <a:latin typeface="Arial"/>
            </a:endParaRPr>
          </a:p>
        </p:txBody>
      </p:sp>
      <p:sp>
        <p:nvSpPr>
          <p:cNvPr id="1609" name=""/>
          <p:cNvSpPr/>
          <p:nvPr/>
        </p:nvSpPr>
        <p:spPr>
          <a:xfrm>
            <a:off x="666720" y="385776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5"/>
              </a:rPr>
              <a:t>https://www.txdot.gov/about/newsroom/statewide/txdot-salutes-40-years-of-dont-mess-with-texas.html</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16"/>
              </a:rPr>
              <a:t>https://www.youtube.com/watch?v=KISppQMhOuI</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17"/>
              </a:rPr>
              <a:t>https://ftp.txdot.gov/pub/txdot-info/trv/travel-industry/dmwt_2013_attitudes_behaviors_executive.pdf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8"/>
              </a:rPr>
              <a:t>https://www.dontmesswithtexas.org/</a:t>
            </a:r>
            <a:endParaRPr lang="en-US" sz="820" b="0" u="none" strike="noStrike">
              <a:solidFill>
                <a:srgbClr val="000000"/>
              </a:solidFill>
              <a:effectLst/>
              <a:uFillTx/>
              <a:latin typeface="Arial"/>
            </a:endParaRPr>
          </a:p>
        </p:txBody>
      </p:sp>
      <p:sp>
        <p:nvSpPr>
          <p:cNvPr id="1610" name=""/>
          <p:cNvSpPr/>
          <p:nvPr/>
        </p:nvSpPr>
        <p:spPr>
          <a:xfrm>
            <a:off x="666720" y="449568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11  Designated Driver  ·  1988  ·  slides 18–19</a:t>
            </a:r>
            <a:endParaRPr lang="en-US" sz="980" b="0" u="none" strike="noStrike">
              <a:solidFill>
                <a:srgbClr val="000000"/>
              </a:solidFill>
              <a:effectLst/>
              <a:uFillTx/>
              <a:latin typeface="Arial"/>
            </a:endParaRPr>
          </a:p>
        </p:txBody>
      </p:sp>
      <p:sp>
        <p:nvSpPr>
          <p:cNvPr id="1611" name=""/>
          <p:cNvSpPr/>
          <p:nvPr/>
        </p:nvSpPr>
        <p:spPr>
          <a:xfrm>
            <a:off x="666720" y="4695840"/>
            <a:ext cx="108583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Outcome, Image:  </a:t>
            </a:r>
            <a:r>
              <a:rPr lang="en-US" sz="820" b="0" u="sng" strike="noStrike">
                <a:solidFill>
                  <a:srgbClr val="467886"/>
                </a:solidFill>
                <a:effectLst/>
                <a:uFillTx/>
                <a:latin typeface="Calibri"/>
                <a:ea typeface="Calibri"/>
                <a:hlinkClick r:id="rId19"/>
              </a:rPr>
              <a:t>https://hsph.harvard.edu/research/health-communication/harvard-alcohol-project-designated-driver/</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20"/>
              </a:rPr>
              <a:t>https://www.thecrimson.com/article/1991/12/6/harvard-alcohol-project-helps-bush-tape/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1"/>
              </a:rPr>
              <a:t>https://guides.library.harvard.edu/CHC/designateddriver</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2"/>
              </a:rPr>
              <a:t>https://pubmed.ncbi.nlm.nih.gov/7917447/</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Image:  </a:t>
            </a:r>
            <a:r>
              <a:rPr lang="en-US" sz="820" b="0" u="sng" strike="noStrike">
                <a:solidFill>
                  <a:srgbClr val="467886"/>
                </a:solidFill>
                <a:effectLst/>
                <a:uFillTx/>
                <a:latin typeface="Calibri"/>
                <a:ea typeface="Calibri"/>
                <a:hlinkClick r:id="rId23"/>
              </a:rPr>
              <a:t>https://www.youtube.com/watch?v=p85zXhD3F5c</a:t>
            </a:r>
            <a:endParaRPr lang="en-US" sz="820" b="0" u="none" strike="noStrike">
              <a:solidFill>
                <a:srgbClr val="000000"/>
              </a:solidFill>
              <a:effectLst/>
              <a:uFillTx/>
              <a:latin typeface="Arial"/>
            </a:endParaRPr>
          </a:p>
        </p:txBody>
      </p:sp>
      <p:sp>
        <p:nvSpPr>
          <p:cNvPr id="1612" name=""/>
          <p:cNvSpPr/>
          <p:nvPr/>
        </p:nvSpPr>
        <p:spPr>
          <a:xfrm>
            <a:off x="666720" y="546732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12  Operation Breakthrough  ·  1993  ·  slide 20</a:t>
            </a:r>
            <a:endParaRPr lang="en-US" sz="980" b="0" u="none" strike="noStrike">
              <a:solidFill>
                <a:srgbClr val="000000"/>
              </a:solidFill>
              <a:effectLst/>
              <a:uFillTx/>
              <a:latin typeface="Arial"/>
            </a:endParaRPr>
          </a:p>
        </p:txBody>
      </p:sp>
      <p:sp>
        <p:nvSpPr>
          <p:cNvPr id="1613" name=""/>
          <p:cNvSpPr/>
          <p:nvPr/>
        </p:nvSpPr>
        <p:spPr>
          <a:xfrm>
            <a:off x="666720" y="566748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Outcome:  </a:t>
            </a:r>
            <a:r>
              <a:rPr lang="en-US" sz="820" b="0" u="sng" strike="noStrike">
                <a:solidFill>
                  <a:srgbClr val="467886"/>
                </a:solidFill>
                <a:effectLst/>
                <a:uFillTx/>
                <a:latin typeface="Calibri"/>
                <a:ea typeface="Calibri"/>
                <a:hlinkClick r:id="rId24"/>
              </a:rPr>
              <a:t>https://www.thecrimson.com/article/1993/3/25/harvard-group-works-with-90210-producers/</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25"/>
              </a:rPr>
              <a:t>https://en.wikipedia.org/wiki/List_of_Blossom_episodes</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6"/>
              </a:rPr>
              <a:t>https://en.wikipedia.org/wiki/Beverly_Hills,_90210_season_3</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Image:  </a:t>
            </a:r>
            <a:r>
              <a:rPr lang="en-US" sz="820" b="0" u="sng" strike="noStrike">
                <a:solidFill>
                  <a:srgbClr val="467886"/>
                </a:solidFill>
                <a:effectLst/>
                <a:uFillTx/>
                <a:latin typeface="Calibri"/>
                <a:ea typeface="Calibri"/>
                <a:hlinkClick r:id="rId27"/>
              </a:rPr>
              <a:t>https://www.youtube.com/watch?v=HOArW-Yqzj4</a:t>
            </a:r>
            <a:endParaRPr lang="en-US"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614" name="PlaceHolder 1"/>
          <p:cNvSpPr>
            <a:spLocks noGrp="1"/>
          </p:cNvSpPr>
          <p:nvPr>
            <p:ph type="sldNum" idx="59"/>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615"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16" name=""/>
          <p:cNvSpPr/>
          <p:nvPr/>
        </p:nvSpPr>
        <p:spPr>
          <a:xfrm>
            <a:off x="666720" y="409680"/>
            <a:ext cx="1047708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APPENDIX  ·  SOURCES  ·  3</a:t>
            </a:r>
            <a:endParaRPr lang="en-US" sz="1200" b="0" u="none" strike="noStrike">
              <a:solidFill>
                <a:srgbClr val="000000"/>
              </a:solidFill>
              <a:effectLst/>
              <a:uFillTx/>
              <a:latin typeface="Arial"/>
            </a:endParaRPr>
          </a:p>
        </p:txBody>
      </p:sp>
      <p:sp>
        <p:nvSpPr>
          <p:cNvPr id="1617" name=""/>
          <p:cNvSpPr/>
          <p:nvPr/>
        </p:nvSpPr>
        <p:spPr>
          <a:xfrm>
            <a:off x="666720" y="74304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618"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53</a:t>
            </a:r>
            <a:endParaRPr lang="en-US" sz="980" b="0" u="none" strike="noStrike">
              <a:solidFill>
                <a:srgbClr val="000000"/>
              </a:solidFill>
              <a:effectLst/>
              <a:uFillTx/>
              <a:latin typeface="Arial"/>
            </a:endParaRPr>
          </a:p>
        </p:txBody>
      </p:sp>
      <p:sp>
        <p:nvSpPr>
          <p:cNvPr id="1619" name=""/>
          <p:cNvSpPr/>
          <p:nvPr/>
        </p:nvSpPr>
        <p:spPr>
          <a:xfrm>
            <a:off x="666720" y="87624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13  Meena  ·  1993  ·  slide 21</a:t>
            </a:r>
            <a:endParaRPr lang="en-US" sz="980" b="0" u="none" strike="noStrike">
              <a:solidFill>
                <a:srgbClr val="000000"/>
              </a:solidFill>
              <a:effectLst/>
              <a:uFillTx/>
              <a:latin typeface="Arial"/>
            </a:endParaRPr>
          </a:p>
        </p:txBody>
      </p:sp>
      <p:sp>
        <p:nvSpPr>
          <p:cNvPr id="1620" name=""/>
          <p:cNvSpPr/>
          <p:nvPr/>
        </p:nvSpPr>
        <p:spPr>
          <a:xfrm>
            <a:off x="666720" y="10764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Outcome:  </a:t>
            </a:r>
            <a:r>
              <a:rPr lang="en-US" sz="820" b="0" u="sng" strike="noStrike">
                <a:solidFill>
                  <a:srgbClr val="467886"/>
                </a:solidFill>
                <a:effectLst/>
                <a:uFillTx/>
                <a:latin typeface="Calibri"/>
                <a:ea typeface="Calibri"/>
                <a:hlinkClick r:id="rId1"/>
              </a:rPr>
              <a:t>https://www.unicef.org/bangladesh/en/meena-and-unicef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2"/>
              </a:rPr>
              <a:t>https://www.unicef.org/pakistan/reports/meenas-adventures</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3"/>
              </a:rPr>
              <a:t>https://www.unicef.org/pakistan/media/3471/file/Count%20your%20chickens.pdf</a:t>
            </a:r>
            <a:endParaRPr lang="en-US" sz="820" b="0" u="none" strike="noStrike">
              <a:solidFill>
                <a:srgbClr val="000000"/>
              </a:solidFill>
              <a:effectLst/>
              <a:uFillTx/>
              <a:latin typeface="Arial"/>
            </a:endParaRPr>
          </a:p>
        </p:txBody>
      </p:sp>
      <p:sp>
        <p:nvSpPr>
          <p:cNvPr id="1621" name=""/>
          <p:cNvSpPr/>
          <p:nvPr/>
        </p:nvSpPr>
        <p:spPr>
          <a:xfrm>
            <a:off x="666720" y="158112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14  Twende na Wakati  ·  1993  ·  slide 22</a:t>
            </a:r>
            <a:endParaRPr lang="en-US" sz="980" b="0" u="none" strike="noStrike">
              <a:solidFill>
                <a:srgbClr val="000000"/>
              </a:solidFill>
              <a:effectLst/>
              <a:uFillTx/>
              <a:latin typeface="Arial"/>
            </a:endParaRPr>
          </a:p>
        </p:txBody>
      </p:sp>
      <p:sp>
        <p:nvSpPr>
          <p:cNvPr id="1622" name=""/>
          <p:cNvSpPr/>
          <p:nvPr/>
        </p:nvSpPr>
        <p:spPr>
          <a:xfrm>
            <a:off x="666720" y="1781280"/>
            <a:ext cx="10858320" cy="818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4"/>
              </a:rPr>
              <a:t>https://www.unfpa.org/news/serial-melodrama-selling-soap-social-change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5"/>
              </a:rPr>
              <a:t>https://gap.hks.harvard.edu/effects-entertainment-education-radio-soap-opera-family-planning-behavior-tanzania</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6"/>
              </a:rPr>
              <a:t>https://pubmed.ncbi.nlm.nih.gov/10546311/</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7"/>
              </a:rPr>
              <a:t>https://www.ebi.ac.uk/europepmc/webservices/rest/search?query=EXT_ID:10546311%20AND%20SRC:MED&amp;resultType=core&amp;format=json</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8"/>
              </a:rPr>
              <a:t>https://pubmed.ncbi.nlm.nih.gov/11010359/</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Image:  </a:t>
            </a:r>
            <a:r>
              <a:rPr lang="en-US" sz="820" b="0" u="sng" strike="noStrike">
                <a:solidFill>
                  <a:srgbClr val="467886"/>
                </a:solidFill>
                <a:effectLst/>
                <a:uFillTx/>
                <a:latin typeface="Calibri"/>
                <a:ea typeface="Calibri"/>
                <a:hlinkClick r:id="rId9"/>
              </a:rPr>
              <a:t>https://www.jstor.org/stable/172196</a:t>
            </a:r>
            <a:endParaRPr lang="en-US" sz="820" b="0" u="none" strike="noStrike">
              <a:solidFill>
                <a:srgbClr val="000000"/>
              </a:solidFill>
              <a:effectLst/>
              <a:uFillTx/>
              <a:latin typeface="Arial"/>
            </a:endParaRPr>
          </a:p>
        </p:txBody>
      </p:sp>
      <p:sp>
        <p:nvSpPr>
          <p:cNvPr id="1623" name=""/>
          <p:cNvSpPr/>
          <p:nvPr/>
        </p:nvSpPr>
        <p:spPr>
          <a:xfrm>
            <a:off x="666720" y="268596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235C77"/>
                </a:solidFill>
                <a:effectLst/>
                <a:uFillTx/>
                <a:latin typeface="Calibri"/>
                <a:ea typeface="Calibri"/>
              </a:rPr>
              <a:t>15  Click It or Ticket  ·  1993 onward  ·  slides 23–24</a:t>
            </a:r>
            <a:endParaRPr lang="en-US" sz="980" b="0" u="none" strike="noStrike">
              <a:solidFill>
                <a:srgbClr val="000000"/>
              </a:solidFill>
              <a:effectLst/>
              <a:uFillTx/>
              <a:latin typeface="Arial"/>
            </a:endParaRPr>
          </a:p>
        </p:txBody>
      </p:sp>
      <p:sp>
        <p:nvSpPr>
          <p:cNvPr id="1624" name=""/>
          <p:cNvSpPr/>
          <p:nvPr/>
        </p:nvSpPr>
        <p:spPr>
          <a:xfrm>
            <a:off x="666720" y="2886120"/>
            <a:ext cx="10858320" cy="9522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0"/>
              </a:rPr>
              <a:t>https://www.clickitorticket.org/Pages/history.aspx</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11"/>
              </a:rPr>
              <a:t>https://www.iihs.org/research-areas/bibliography/ref/997</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12"/>
              </a:rPr>
              <a:t>https://web.archive.org/web/20170519013040/https://www.nhtsa.gov/sites/nhtsa.dot.gov/files/811779.pdf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3"/>
              </a:rPr>
              <a:t>https://ncvisionzero.org/wp-content/uploads/2016/08/ciot-history.pdf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4"/>
              </a:rPr>
              <a:t>https://pubmed.ncbi.nlm.nih.gov/15178237/</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Image:  </a:t>
            </a:r>
            <a:r>
              <a:rPr lang="en-US" sz="820" b="0" u="sng" strike="noStrike">
                <a:solidFill>
                  <a:srgbClr val="467886"/>
                </a:solidFill>
                <a:effectLst/>
                <a:uFillTx/>
                <a:latin typeface="Calibri"/>
                <a:ea typeface="Calibri"/>
                <a:hlinkClick r:id="rId15"/>
              </a:rPr>
              <a:t>https://www.youtube.com/watch?v=fC9r5dtUxWE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6"/>
              </a:rPr>
              <a:t>https://web.archive.org/web/2020/https://www.nhtsa.gov/sites/nhtsa.gov/files/811232.pdf</a:t>
            </a:r>
            <a:endParaRPr lang="en-US" sz="820" b="0" u="none" strike="noStrike">
              <a:solidFill>
                <a:srgbClr val="000000"/>
              </a:solidFill>
              <a:effectLst/>
              <a:uFillTx/>
              <a:latin typeface="Arial"/>
            </a:endParaRPr>
          </a:p>
        </p:txBody>
      </p:sp>
      <p:sp>
        <p:nvSpPr>
          <p:cNvPr id="1625" name=""/>
          <p:cNvSpPr/>
          <p:nvPr/>
        </p:nvSpPr>
        <p:spPr>
          <a:xfrm>
            <a:off x="666720" y="392436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16  Squash It!  ·  1994  ·  slide 25</a:t>
            </a:r>
            <a:endParaRPr lang="en-US" sz="980" b="0" u="none" strike="noStrike">
              <a:solidFill>
                <a:srgbClr val="000000"/>
              </a:solidFill>
              <a:effectLst/>
              <a:uFillTx/>
              <a:latin typeface="Arial"/>
            </a:endParaRPr>
          </a:p>
        </p:txBody>
      </p:sp>
      <p:sp>
        <p:nvSpPr>
          <p:cNvPr id="1626" name=""/>
          <p:cNvSpPr/>
          <p:nvPr/>
        </p:nvSpPr>
        <p:spPr>
          <a:xfrm>
            <a:off x="666720" y="4124160"/>
            <a:ext cx="10858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Outcome:  </a:t>
            </a:r>
            <a:r>
              <a:rPr lang="en-US" sz="820" b="0" u="sng" strike="noStrike">
                <a:solidFill>
                  <a:srgbClr val="467886"/>
                </a:solidFill>
                <a:effectLst/>
                <a:uFillTx/>
                <a:latin typeface="Calibri"/>
                <a:ea typeface="Calibri"/>
                <a:hlinkClick r:id="rId17"/>
              </a:rPr>
              <a:t>https://hsph.harvard.edu/research/health-communication/squash-it-campaign/</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18"/>
              </a:rPr>
              <a:t>https://guides.library.harvard.edu/CHC/initiatives</a:t>
            </a:r>
            <a:endParaRPr lang="en-US" sz="820" b="0" u="none" strike="noStrike">
              <a:solidFill>
                <a:srgbClr val="000000"/>
              </a:solidFill>
              <a:effectLst/>
              <a:uFillTx/>
              <a:latin typeface="Arial"/>
            </a:endParaRPr>
          </a:p>
        </p:txBody>
      </p:sp>
      <p:sp>
        <p:nvSpPr>
          <p:cNvPr id="1627" name=""/>
          <p:cNvSpPr/>
          <p:nvPr/>
        </p:nvSpPr>
        <p:spPr>
          <a:xfrm>
            <a:off x="666720" y="449568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17  Soul City  ·  1994  ·  slide 26</a:t>
            </a:r>
            <a:endParaRPr lang="en-US" sz="980" b="0" u="none" strike="noStrike">
              <a:solidFill>
                <a:srgbClr val="000000"/>
              </a:solidFill>
              <a:effectLst/>
              <a:uFillTx/>
              <a:latin typeface="Arial"/>
            </a:endParaRPr>
          </a:p>
        </p:txBody>
      </p:sp>
      <p:sp>
        <p:nvSpPr>
          <p:cNvPr id="1628" name=""/>
          <p:cNvSpPr/>
          <p:nvPr/>
        </p:nvSpPr>
        <p:spPr>
          <a:xfrm>
            <a:off x="666720" y="469584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9"/>
              </a:rPr>
              <a:t>https://www.soulcity.org.za/about/history/blocks/one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20"/>
              </a:rPr>
              <a:t>https://web.archive.org/web/2020/https://www.endvawnow.org/uploads/browser/files/Soul%20City%204%20Impact%20Evaluation%20VAW%20Vol%20II.pdf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21"/>
              </a:rPr>
              <a:t>https://web.archive.org/web/2020/https://www.endvawnow.org/uploads/browser/files/Soul%20City%204%20Impact%20Evaluation%20VAW%20Vol%20I.pdf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2"/>
              </a:rPr>
              <a:t>https://pubmed.ncbi.nlm.nih.gov/16006028/</a:t>
            </a:r>
            <a:endParaRPr lang="en-US" sz="820" b="0" u="none" strike="noStrike">
              <a:solidFill>
                <a:srgbClr val="000000"/>
              </a:solidFill>
              <a:effectLst/>
              <a:uFillTx/>
              <a:latin typeface="Arial"/>
            </a:endParaRPr>
          </a:p>
        </p:txBody>
      </p:sp>
      <p:sp>
        <p:nvSpPr>
          <p:cNvPr id="1629" name=""/>
          <p:cNvSpPr/>
          <p:nvPr/>
        </p:nvSpPr>
        <p:spPr>
          <a:xfrm>
            <a:off x="666720" y="533412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18  Following ER  ·  1996  ·  slide 27</a:t>
            </a:r>
            <a:endParaRPr lang="en-US" sz="980" b="0" u="none" strike="noStrike">
              <a:solidFill>
                <a:srgbClr val="000000"/>
              </a:solidFill>
              <a:effectLst/>
              <a:uFillTx/>
              <a:latin typeface="Arial"/>
            </a:endParaRPr>
          </a:p>
        </p:txBody>
      </p:sp>
      <p:sp>
        <p:nvSpPr>
          <p:cNvPr id="1630" name=""/>
          <p:cNvSpPr/>
          <p:nvPr/>
        </p:nvSpPr>
        <p:spPr>
          <a:xfrm>
            <a:off x="666720" y="5533920"/>
            <a:ext cx="108583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Execution:  </a:t>
            </a:r>
            <a:r>
              <a:rPr lang="en-US" sz="820" b="0" u="sng" strike="noStrike">
                <a:solidFill>
                  <a:srgbClr val="467886"/>
                </a:solidFill>
                <a:effectLst/>
                <a:uFillTx/>
                <a:latin typeface="Calibri"/>
                <a:ea typeface="Calibri"/>
                <a:hlinkClick r:id="rId23"/>
              </a:rPr>
              <a:t>https://www.fastcompany.com/1682147/neal-baer-empowering-health-and-society-through-storytelling</a:t>
            </a:r>
            <a:r>
              <a:rPr lang="en-US" sz="820" b="0" u="none" strike="noStrike">
                <a:solidFill>
                  <a:srgbClr val="17232B"/>
                </a:solidFill>
                <a:effectLst/>
                <a:uFillTx/>
                <a:latin typeface="Calibri"/>
                <a:ea typeface="Calibri"/>
              </a:rPr>
              <a:t>  (403 to bots; verified via </a:t>
            </a:r>
            <a:r>
              <a:rPr lang="en-US" sz="820" b="0" u="sng" strike="noStrike">
                <a:solidFill>
                  <a:srgbClr val="467886"/>
                </a:solidFill>
                <a:effectLst/>
                <a:uFillTx/>
                <a:latin typeface="Calibri"/>
                <a:ea typeface="Calibri"/>
                <a:hlinkClick r:id="rId24"/>
              </a:rPr>
              <a:t>https://web.archive.org/web/2022/https://www.fastcompany.com/1682147/neal-baer-empowering-health-and-society-through-storytelling)</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25"/>
              </a:rPr>
              <a:t>https://pubmed.ncbi.nlm.nih.gov/10964636/</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6"/>
              </a:rPr>
              <a:t>https://pure.johnshopkins.edu/en/publications/using-entertainment-television-to-build-a-context-for-prevention--4/</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Image:  unrecorded (supplied by Tim Miano)</a:t>
            </a:r>
            <a:endParaRPr lang="en-US"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631" name="PlaceHolder 1"/>
          <p:cNvSpPr>
            <a:spLocks noGrp="1"/>
          </p:cNvSpPr>
          <p:nvPr>
            <p:ph type="sldNum" idx="60"/>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632"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33" name=""/>
          <p:cNvSpPr/>
          <p:nvPr/>
        </p:nvSpPr>
        <p:spPr>
          <a:xfrm>
            <a:off x="666720" y="409680"/>
            <a:ext cx="1047708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APPENDIX  ·  SOURCES  ·  4</a:t>
            </a:r>
            <a:endParaRPr lang="en-US" sz="1200" b="0" u="none" strike="noStrike">
              <a:solidFill>
                <a:srgbClr val="000000"/>
              </a:solidFill>
              <a:effectLst/>
              <a:uFillTx/>
              <a:latin typeface="Arial"/>
            </a:endParaRPr>
          </a:p>
        </p:txBody>
      </p:sp>
      <p:sp>
        <p:nvSpPr>
          <p:cNvPr id="1634" name=""/>
          <p:cNvSpPr/>
          <p:nvPr/>
        </p:nvSpPr>
        <p:spPr>
          <a:xfrm>
            <a:off x="666720" y="74304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635"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54</a:t>
            </a:r>
            <a:endParaRPr lang="en-US" sz="980" b="0" u="none" strike="noStrike">
              <a:solidFill>
                <a:srgbClr val="000000"/>
              </a:solidFill>
              <a:effectLst/>
              <a:uFillTx/>
              <a:latin typeface="Arial"/>
            </a:endParaRPr>
          </a:p>
        </p:txBody>
      </p:sp>
      <p:sp>
        <p:nvSpPr>
          <p:cNvPr id="1636" name=""/>
          <p:cNvSpPr/>
          <p:nvPr/>
        </p:nvSpPr>
        <p:spPr>
          <a:xfrm>
            <a:off x="666720" y="87624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5A6D40"/>
                </a:solidFill>
                <a:effectLst/>
                <a:uFillTx/>
                <a:latin typeface="Calibri"/>
                <a:ea typeface="Calibri"/>
              </a:rPr>
              <a:t>19  Tostan public declarations  ·  1997 onward  ·  slides 28–29</a:t>
            </a:r>
            <a:endParaRPr lang="en-US" sz="980" b="0" u="none" strike="noStrike">
              <a:solidFill>
                <a:srgbClr val="000000"/>
              </a:solidFill>
              <a:effectLst/>
              <a:uFillTx/>
              <a:latin typeface="Arial"/>
            </a:endParaRPr>
          </a:p>
        </p:txBody>
      </p:sp>
      <p:sp>
        <p:nvSpPr>
          <p:cNvPr id="1637" name=""/>
          <p:cNvSpPr/>
          <p:nvPr/>
        </p:nvSpPr>
        <p:spPr>
          <a:xfrm>
            <a:off x="666720" y="1076400"/>
            <a:ext cx="10858320" cy="9522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
              </a:rPr>
              <a:t>https://tostan.org/path-public-declaration/</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2"/>
              </a:rPr>
              <a:t>https://tostan.org/february-14-1998-first-inter-village-public-declaration/</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3"/>
              </a:rPr>
              <a:t>https://www.excisionparlonsen.org/wp-content/uploads/2022/06/Evluation-a-long-terme-du-programme-de-Tostan-au-Senegal.pdf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4"/>
              </a:rPr>
              <a:t>https://tostan.org/unicef-case-study-outlines-success-tostan-approach-accelerating-abandonment-female-genital/</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Image:  </a:t>
            </a:r>
            <a:r>
              <a:rPr lang="en-US" sz="820" b="0" u="sng" strike="noStrike">
                <a:solidFill>
                  <a:srgbClr val="467886"/>
                </a:solidFill>
                <a:effectLst/>
                <a:uFillTx/>
                <a:latin typeface="Calibri"/>
                <a:ea typeface="Calibri"/>
                <a:hlinkClick r:id="rId5"/>
              </a:rPr>
              <a:t>https://tostan.org/back-where-it-began-public-declaration-mbour-senegal/</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6"/>
              </a:rPr>
              <a:t>https://data.unicef.org/wp-content/uploads/2015/12/fgmc_tostan_eng_96.pdf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Image:  </a:t>
            </a:r>
            <a:r>
              <a:rPr lang="en-US" sz="820" b="0" u="sng" strike="noStrike">
                <a:solidFill>
                  <a:srgbClr val="467886"/>
                </a:solidFill>
                <a:effectLst/>
                <a:uFillTx/>
                <a:latin typeface="Calibri"/>
                <a:ea typeface="Calibri"/>
                <a:hlinkClick r:id="rId7"/>
              </a:rPr>
              <a:t>https://commons.wikimedia.org/wiki/File:Village_gathering_(8592452962).jpg</a:t>
            </a:r>
            <a:endParaRPr lang="en-US" sz="820" b="0" u="none" strike="noStrike">
              <a:solidFill>
                <a:srgbClr val="000000"/>
              </a:solidFill>
              <a:effectLst/>
              <a:uFillTx/>
              <a:latin typeface="Arial"/>
            </a:endParaRPr>
          </a:p>
        </p:txBody>
      </p:sp>
      <p:sp>
        <p:nvSpPr>
          <p:cNvPr id="1638" name=""/>
          <p:cNvSpPr/>
          <p:nvPr/>
        </p:nvSpPr>
        <p:spPr>
          <a:xfrm>
            <a:off x="666720" y="211464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20  Rap-It-Up  ·  1998  ·  slide 30</a:t>
            </a:r>
            <a:endParaRPr lang="en-US" sz="980" b="0" u="none" strike="noStrike">
              <a:solidFill>
                <a:srgbClr val="000000"/>
              </a:solidFill>
              <a:effectLst/>
              <a:uFillTx/>
              <a:latin typeface="Arial"/>
            </a:endParaRPr>
          </a:p>
        </p:txBody>
      </p:sp>
      <p:sp>
        <p:nvSpPr>
          <p:cNvPr id="1639" name=""/>
          <p:cNvSpPr/>
          <p:nvPr/>
        </p:nvSpPr>
        <p:spPr>
          <a:xfrm>
            <a:off x="666720" y="231444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8"/>
              </a:rPr>
              <a:t>https://www.kff.org/bet-rap-it-up-psas/</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9"/>
              </a:rPr>
              <a:t>https://www.youtube.com/watch?v=5mvFp4grit0</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10"/>
              </a:rPr>
              <a:t>https://www.kff.org/wp-content/uploads/2013/01/7515.pdf</a:t>
            </a:r>
            <a:endParaRPr lang="en-US" sz="820" b="0" u="none" strike="noStrike">
              <a:solidFill>
                <a:srgbClr val="000000"/>
              </a:solidFill>
              <a:effectLst/>
              <a:uFillTx/>
              <a:latin typeface="Arial"/>
            </a:endParaRPr>
          </a:p>
        </p:txBody>
      </p:sp>
      <p:sp>
        <p:nvSpPr>
          <p:cNvPr id="1640" name=""/>
          <p:cNvSpPr/>
          <p:nvPr/>
        </p:nvSpPr>
        <p:spPr>
          <a:xfrm>
            <a:off x="666720" y="281952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235C77"/>
                </a:solidFill>
                <a:effectLst/>
                <a:uFillTx/>
                <a:latin typeface="Calibri"/>
                <a:ea typeface="Calibri"/>
              </a:rPr>
              <a:t>21  truth  ·  2000  ·  slide 31</a:t>
            </a:r>
            <a:endParaRPr lang="en-US" sz="980" b="0" u="none" strike="noStrike">
              <a:solidFill>
                <a:srgbClr val="000000"/>
              </a:solidFill>
              <a:effectLst/>
              <a:uFillTx/>
              <a:latin typeface="Arial"/>
            </a:endParaRPr>
          </a:p>
        </p:txBody>
      </p:sp>
      <p:sp>
        <p:nvSpPr>
          <p:cNvPr id="1641" name=""/>
          <p:cNvSpPr/>
          <p:nvPr/>
        </p:nvSpPr>
        <p:spPr>
          <a:xfrm>
            <a:off x="666720" y="3019320"/>
            <a:ext cx="10858320" cy="818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1"/>
              </a:rPr>
              <a:t>https://truthinitiative.org/who-we-are/our-history</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12"/>
              </a:rPr>
              <a:t>https://www.thensmc.com/resources/showcase/truth%C2%AE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13"/>
              </a:rPr>
              <a:t>https://crimesolutions.ojp.gov/ratedprograms/truthr-campaign</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4"/>
              </a:rPr>
              <a:t>https://pubmed.ncbi.nlm.nih.gov/15727971/</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5"/>
              </a:rPr>
              <a:t>https://doi.org/10.2105/AJPH.2004.049692</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Image:  </a:t>
            </a:r>
            <a:r>
              <a:rPr lang="en-US" sz="820" b="0" u="sng" strike="noStrike">
                <a:solidFill>
                  <a:srgbClr val="467886"/>
                </a:solidFill>
                <a:effectLst/>
                <a:uFillTx/>
                <a:latin typeface="Calibri"/>
                <a:ea typeface="Calibri"/>
                <a:hlinkClick r:id="rId16"/>
              </a:rPr>
              <a:t>https://www.youtube.com/watch?v=C5JkH01ArIc</a:t>
            </a:r>
            <a:endParaRPr lang="en-US" sz="820" b="0" u="none" strike="noStrike">
              <a:solidFill>
                <a:srgbClr val="000000"/>
              </a:solidFill>
              <a:effectLst/>
              <a:uFillTx/>
              <a:latin typeface="Arial"/>
            </a:endParaRPr>
          </a:p>
        </p:txBody>
      </p:sp>
      <p:sp>
        <p:nvSpPr>
          <p:cNvPr id="1642" name=""/>
          <p:cNvSpPr/>
          <p:nvPr/>
        </p:nvSpPr>
        <p:spPr>
          <a:xfrm>
            <a:off x="666720" y="392436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22  Sexto Sentido  ·  2001  ·  slide 32</a:t>
            </a:r>
            <a:endParaRPr lang="en-US" sz="980" b="0" u="none" strike="noStrike">
              <a:solidFill>
                <a:srgbClr val="000000"/>
              </a:solidFill>
              <a:effectLst/>
              <a:uFillTx/>
              <a:latin typeface="Arial"/>
            </a:endParaRPr>
          </a:p>
        </p:txBody>
      </p:sp>
      <p:sp>
        <p:nvSpPr>
          <p:cNvPr id="1643" name=""/>
          <p:cNvSpPr/>
          <p:nvPr/>
        </p:nvSpPr>
        <p:spPr>
          <a:xfrm>
            <a:off x="666720" y="4124160"/>
            <a:ext cx="10858320" cy="818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7"/>
              </a:rPr>
              <a:t>https://web.archive.org/web/20060721034053/http://www.puntos.org.ni/sstv/sexto-sentido.php</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Supporting:  </a:t>
            </a:r>
            <a:r>
              <a:rPr lang="en-US" sz="820" b="0" u="sng" strike="noStrike">
                <a:solidFill>
                  <a:srgbClr val="467886"/>
                </a:solidFill>
                <a:effectLst/>
                <a:uFillTx/>
                <a:latin typeface="Calibri"/>
                <a:ea typeface="Calibri"/>
                <a:hlinkClick r:id="rId18"/>
              </a:rPr>
              <a:t>https://web.archive.org/web/20170407202041/http://www.endvawnow.org/uploads/browser/files/sexto_sentido_impact_evaluation_english.pdf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19"/>
              </a:rPr>
              <a:t>https://knowledgecommons.popcouncil.org/departments_sbsr-hiv/33/</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0"/>
              </a:rPr>
              <a:t>https://pmc.ncbi.nlm.nih.gov/articles/PMC7025324/</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1"/>
              </a:rPr>
              <a:t>https://www.culanth.org/fieldsights/spectacles-of-sexuality-televisionary-activism-in-nicaragua</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Image:  </a:t>
            </a:r>
            <a:r>
              <a:rPr lang="en-US" sz="820" b="0" u="sng" strike="noStrike">
                <a:solidFill>
                  <a:srgbClr val="467886"/>
                </a:solidFill>
                <a:effectLst/>
                <a:uFillTx/>
                <a:latin typeface="Calibri"/>
                <a:ea typeface="Calibri"/>
                <a:hlinkClick r:id="rId22"/>
              </a:rPr>
              <a:t>https://web.archive.org/web/2007/http://www.puntos.org.ni/novela/</a:t>
            </a:r>
            <a:endParaRPr lang="en-US" sz="820" b="0" u="none" strike="noStrike">
              <a:solidFill>
                <a:srgbClr val="000000"/>
              </a:solidFill>
              <a:effectLst/>
              <a:uFillTx/>
              <a:latin typeface="Arial"/>
            </a:endParaRPr>
          </a:p>
        </p:txBody>
      </p:sp>
      <p:sp>
        <p:nvSpPr>
          <p:cNvPr id="1644" name=""/>
          <p:cNvSpPr/>
          <p:nvPr/>
        </p:nvSpPr>
        <p:spPr>
          <a:xfrm>
            <a:off x="666720" y="502920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235C77"/>
                </a:solidFill>
                <a:effectLst/>
                <a:uFillTx/>
                <a:latin typeface="Calibri"/>
                <a:ea typeface="Calibri"/>
              </a:rPr>
              <a:t>23  VERB  ·  2002  ·  slide 33</a:t>
            </a:r>
            <a:endParaRPr lang="en-US" sz="980" b="0" u="none" strike="noStrike">
              <a:solidFill>
                <a:srgbClr val="000000"/>
              </a:solidFill>
              <a:effectLst/>
              <a:uFillTx/>
              <a:latin typeface="Arial"/>
            </a:endParaRPr>
          </a:p>
        </p:txBody>
      </p:sp>
      <p:sp>
        <p:nvSpPr>
          <p:cNvPr id="1645" name=""/>
          <p:cNvSpPr/>
          <p:nvPr/>
        </p:nvSpPr>
        <p:spPr>
          <a:xfrm>
            <a:off x="666720" y="5229360"/>
            <a:ext cx="10858320" cy="818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23"/>
              </a:rPr>
              <a:t>https://www.cdc.gov/pcd/issues/2004/jul/04_0043.htm</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24"/>
              </a:rPr>
              <a:t>https://web.archive.org/web/20090122164030/http://www.cdc.gov/youthcampaign/advertising/african_american/PDF/hiphopscotch.pdf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25"/>
              </a:rPr>
              <a:t>https://pubmed.ncbi.nlm.nih.gov/16061581/</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6"/>
              </a:rPr>
              <a:t>https://www.ebi.ac.uk/europepmc/webservices/rest/PMC1253475/fullTextXML</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7"/>
              </a:rPr>
              <a:t>https://archive.cdc.gov/www_cdc_gov/media/pressrel/r040217.htm</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Image:  </a:t>
            </a:r>
            <a:r>
              <a:rPr lang="en-US" sz="820" b="0" u="sng" strike="noStrike">
                <a:solidFill>
                  <a:srgbClr val="467886"/>
                </a:solidFill>
                <a:effectLst/>
                <a:uFillTx/>
                <a:latin typeface="Calibri"/>
                <a:ea typeface="Calibri"/>
                <a:hlinkClick r:id="rId28"/>
              </a:rPr>
              <a:t>https://web.archive.org/web/2009/http://www.cdc.gov/youthcampaign/advertising/</a:t>
            </a:r>
            <a:endParaRPr lang="en-US"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646" name="PlaceHolder 1"/>
          <p:cNvSpPr>
            <a:spLocks noGrp="1"/>
          </p:cNvSpPr>
          <p:nvPr>
            <p:ph type="sldNum" idx="61"/>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647"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48" name=""/>
          <p:cNvSpPr/>
          <p:nvPr/>
        </p:nvSpPr>
        <p:spPr>
          <a:xfrm>
            <a:off x="666720" y="409680"/>
            <a:ext cx="1047708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APPENDIX  ·  SOURCES  ·  5</a:t>
            </a:r>
            <a:endParaRPr lang="en-US" sz="1200" b="0" u="none" strike="noStrike">
              <a:solidFill>
                <a:srgbClr val="000000"/>
              </a:solidFill>
              <a:effectLst/>
              <a:uFillTx/>
              <a:latin typeface="Arial"/>
            </a:endParaRPr>
          </a:p>
        </p:txBody>
      </p:sp>
      <p:sp>
        <p:nvSpPr>
          <p:cNvPr id="1649" name=""/>
          <p:cNvSpPr/>
          <p:nvPr/>
        </p:nvSpPr>
        <p:spPr>
          <a:xfrm>
            <a:off x="666720" y="74304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650"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55</a:t>
            </a:r>
            <a:endParaRPr lang="en-US" sz="980" b="0" u="none" strike="noStrike">
              <a:solidFill>
                <a:srgbClr val="000000"/>
              </a:solidFill>
              <a:effectLst/>
              <a:uFillTx/>
              <a:latin typeface="Arial"/>
            </a:endParaRPr>
          </a:p>
        </p:txBody>
      </p:sp>
      <p:sp>
        <p:nvSpPr>
          <p:cNvPr id="1651" name=""/>
          <p:cNvSpPr/>
          <p:nvPr/>
        </p:nvSpPr>
        <p:spPr>
          <a:xfrm>
            <a:off x="666720" y="87624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24  KNOW HIV/AIDS  ·  2003  ·  slide 34</a:t>
            </a:r>
            <a:endParaRPr lang="en-US" sz="980" b="0" u="none" strike="noStrike">
              <a:solidFill>
                <a:srgbClr val="000000"/>
              </a:solidFill>
              <a:effectLst/>
              <a:uFillTx/>
              <a:latin typeface="Arial"/>
            </a:endParaRPr>
          </a:p>
        </p:txBody>
      </p:sp>
      <p:sp>
        <p:nvSpPr>
          <p:cNvPr id="1652" name=""/>
          <p:cNvSpPr/>
          <p:nvPr/>
        </p:nvSpPr>
        <p:spPr>
          <a:xfrm>
            <a:off x="666720" y="1076400"/>
            <a:ext cx="10858320" cy="818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
              </a:rPr>
              <a:t>https://www.kff.org/past-campaigns/</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2"/>
              </a:rPr>
              <a:t>https://www.kff.org/viacom-know-psas/</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3"/>
              </a:rPr>
              <a:t>https://www.kff.org/wp-content/uploads/2013/01/7515.pdf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4"/>
              </a:rPr>
              <a:t>https://web.archive.org/web/20040705083544/http://www.kff.org:80/entpartnerships/viacom.cfm</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5"/>
              </a:rPr>
              <a:t>https://web.archive.org/web/20060921152026/http://www.kff.org/entpartnerships/viacom/</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6"/>
              </a:rPr>
              <a:t>https://www.advocate.com/news/2003/01/07/viacom-kaiser-launch-global-quotknow-hivaidsquot-campaign-7380</a:t>
            </a:r>
            <a:endParaRPr lang="en-US" sz="820" b="0" u="none" strike="noStrike">
              <a:solidFill>
                <a:srgbClr val="000000"/>
              </a:solidFill>
              <a:effectLst/>
              <a:uFillTx/>
              <a:latin typeface="Arial"/>
            </a:endParaRPr>
          </a:p>
        </p:txBody>
      </p:sp>
      <p:sp>
        <p:nvSpPr>
          <p:cNvPr id="1653" name=""/>
          <p:cNvSpPr/>
          <p:nvPr/>
        </p:nvSpPr>
        <p:spPr>
          <a:xfrm>
            <a:off x="666720" y="198108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5A6D40"/>
                </a:solidFill>
                <a:effectLst/>
                <a:uFillTx/>
                <a:latin typeface="Calibri"/>
                <a:ea typeface="Calibri"/>
              </a:rPr>
              <a:t>25  SASA!  ·  2007 onward  ·  slides 35–36</a:t>
            </a:r>
            <a:endParaRPr lang="en-US" sz="980" b="0" u="none" strike="noStrike">
              <a:solidFill>
                <a:srgbClr val="000000"/>
              </a:solidFill>
              <a:effectLst/>
              <a:uFillTx/>
              <a:latin typeface="Arial"/>
            </a:endParaRPr>
          </a:p>
        </p:txBody>
      </p:sp>
      <p:sp>
        <p:nvSpPr>
          <p:cNvPr id="1654" name=""/>
          <p:cNvSpPr/>
          <p:nvPr/>
        </p:nvSpPr>
        <p:spPr>
          <a:xfrm>
            <a:off x="666720" y="2181240"/>
            <a:ext cx="10858320" cy="8186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7"/>
              </a:rPr>
              <a:t>https://raisingvoices.org/women/sasa-approach/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8"/>
              </a:rPr>
              <a:t>https://pmc.ncbi.nlm.nih.gov/articles/PMC4165071/</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9"/>
              </a:rPr>
              <a:t>https://bmcmedicine.biomedcentral.com/articles/10.1186/s12916-014-0122-5</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Image:  </a:t>
            </a:r>
            <a:r>
              <a:rPr lang="en-US" sz="820" b="0" u="sng" strike="noStrike">
                <a:solidFill>
                  <a:srgbClr val="467886"/>
                </a:solidFill>
                <a:effectLst/>
                <a:uFillTx/>
                <a:latin typeface="Calibri"/>
                <a:ea typeface="Calibri"/>
                <a:hlinkClick r:id="rId10"/>
              </a:rPr>
              <a:t>https://raisingvoices.org/resources/sasa-activist-kit-awareness-phase/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Image:  </a:t>
            </a:r>
            <a:r>
              <a:rPr lang="en-US" sz="820" b="0" u="sng" strike="noStrike">
                <a:solidFill>
                  <a:srgbClr val="467886"/>
                </a:solidFill>
                <a:effectLst/>
                <a:uFillTx/>
                <a:latin typeface="Calibri"/>
                <a:ea typeface="Calibri"/>
                <a:hlinkClick r:id="rId11"/>
              </a:rPr>
              <a:t>https://raisingvoices.org/resources/sasa-activist-kit-action-phase/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2"/>
              </a:rPr>
              <a:t>https://pmc.ncbi.nlm.nih.gov/articles/PMC4243194/</a:t>
            </a:r>
            <a:endParaRPr lang="en-US" sz="820" b="0" u="none" strike="noStrike">
              <a:solidFill>
                <a:srgbClr val="000000"/>
              </a:solidFill>
              <a:effectLst/>
              <a:uFillTx/>
              <a:latin typeface="Arial"/>
            </a:endParaRPr>
          </a:p>
        </p:txBody>
      </p:sp>
      <p:sp>
        <p:nvSpPr>
          <p:cNvPr id="1655" name=""/>
          <p:cNvSpPr/>
          <p:nvPr/>
        </p:nvSpPr>
        <p:spPr>
          <a:xfrm>
            <a:off x="666720" y="308628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725E8B"/>
                </a:solidFill>
                <a:effectLst/>
                <a:uFillTx/>
                <a:latin typeface="Calibri"/>
                <a:ea typeface="Calibri"/>
              </a:rPr>
              <a:t>26  Opower Home Energy Reports  ·  2008 onward  ·  slides 37–38</a:t>
            </a:r>
            <a:endParaRPr lang="en-US" sz="980" b="0" u="none" strike="noStrike">
              <a:solidFill>
                <a:srgbClr val="000000"/>
              </a:solidFill>
              <a:effectLst/>
              <a:uFillTx/>
              <a:latin typeface="Arial"/>
            </a:endParaRPr>
          </a:p>
        </p:txBody>
      </p:sp>
      <p:sp>
        <p:nvSpPr>
          <p:cNvPr id="1656" name=""/>
          <p:cNvSpPr/>
          <p:nvPr/>
        </p:nvSpPr>
        <p:spPr>
          <a:xfrm>
            <a:off x="666720" y="328608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3"/>
              </a:rPr>
              <a:t>https://www.nber.org/system/files/working_papers/w15386/w15386.pdf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Outcome, Image:  </a:t>
            </a:r>
            <a:r>
              <a:rPr lang="en-US" sz="820" b="0" u="sng" strike="noStrike">
                <a:solidFill>
                  <a:srgbClr val="467886"/>
                </a:solidFill>
                <a:effectLst/>
                <a:uFillTx/>
                <a:latin typeface="Calibri"/>
                <a:ea typeface="Calibri"/>
                <a:hlinkClick r:id="rId14"/>
              </a:rPr>
              <a:t>https://eml.berkeley.edu/~saez/course131/allcott2011.pdf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5"/>
              </a:rPr>
              <a:t>https://ceepr.mit.edu/wp-content/uploads/2023/02/2009-014.pdf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6"/>
              </a:rPr>
              <a:t>https://www.oracle.com/utilities/opower-energy-efficiency/</a:t>
            </a:r>
            <a:endParaRPr lang="en-US" sz="820" b="0" u="none" strike="noStrike">
              <a:solidFill>
                <a:srgbClr val="000000"/>
              </a:solidFill>
              <a:effectLst/>
              <a:uFillTx/>
              <a:latin typeface="Arial"/>
            </a:endParaRPr>
          </a:p>
        </p:txBody>
      </p:sp>
      <p:sp>
        <p:nvSpPr>
          <p:cNvPr id="1657" name=""/>
          <p:cNvSpPr/>
          <p:nvPr/>
        </p:nvSpPr>
        <p:spPr>
          <a:xfrm>
            <a:off x="666720" y="392436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27  Kyunki… Jeena Issi Ka Naam Hai  ·  2008  ·  slide 39</a:t>
            </a:r>
            <a:endParaRPr lang="en-US" sz="980" b="0" u="none" strike="noStrike">
              <a:solidFill>
                <a:srgbClr val="000000"/>
              </a:solidFill>
              <a:effectLst/>
              <a:uFillTx/>
              <a:latin typeface="Arial"/>
            </a:endParaRPr>
          </a:p>
        </p:txBody>
      </p:sp>
      <p:sp>
        <p:nvSpPr>
          <p:cNvPr id="1658" name=""/>
          <p:cNvSpPr/>
          <p:nvPr/>
        </p:nvSpPr>
        <p:spPr>
          <a:xfrm>
            <a:off x="666720" y="412416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7"/>
              </a:rPr>
              <a:t>https://web.archive.org/web/2020/https://www.unicef.org/media/85711/file/Facts_for_Life_EN_010810.pdf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18"/>
              </a:rPr>
              <a:t>https://global.comminit.com/files/kyunkiprodbook_final.pdf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19"/>
              </a:rPr>
              <a:t>https://web.archive.org/web/20240102235546/https://digitallibrary.un.org/record/686939/files/E_ICEF_2010_P_L.20-EN.pdf</a:t>
            </a:r>
            <a:endParaRPr lang="en-US" sz="820" b="0" u="none" strike="noStrike">
              <a:solidFill>
                <a:srgbClr val="000000"/>
              </a:solidFill>
              <a:effectLst/>
              <a:uFillTx/>
              <a:latin typeface="Arial"/>
            </a:endParaRPr>
          </a:p>
        </p:txBody>
      </p:sp>
      <p:sp>
        <p:nvSpPr>
          <p:cNvPr id="1659" name=""/>
          <p:cNvSpPr/>
          <p:nvPr/>
        </p:nvSpPr>
        <p:spPr>
          <a:xfrm>
            <a:off x="666720" y="462924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28  MTV Shuga  ·  2009  ·  slides 40–41</a:t>
            </a:r>
            <a:endParaRPr lang="en-US" sz="980" b="0" u="none" strike="noStrike">
              <a:solidFill>
                <a:srgbClr val="000000"/>
              </a:solidFill>
              <a:effectLst/>
              <a:uFillTx/>
              <a:latin typeface="Arial"/>
            </a:endParaRPr>
          </a:p>
        </p:txBody>
      </p:sp>
      <p:sp>
        <p:nvSpPr>
          <p:cNvPr id="1660" name=""/>
          <p:cNvSpPr/>
          <p:nvPr/>
        </p:nvSpPr>
        <p:spPr>
          <a:xfrm>
            <a:off x="666720" y="4829040"/>
            <a:ext cx="108583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20"/>
              </a:rPr>
              <a:t>https://shuga.tv/</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21"/>
              </a:rPr>
              <a:t>https://www.povertyactionlab.org/case-study/improving-youth-sexual-health-through-educational-entertainment</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22"/>
              </a:rPr>
              <a:t>https://www.nber.org/system/files/working_papers/w26096/w26096.pdf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3"/>
              </a:rPr>
              <a:t>https://www.povertyactionlab.org/evaluation/mtv-shuga-changing-social-norms-and-behaviors-entertainment-education-nigeria</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Image:  </a:t>
            </a:r>
            <a:r>
              <a:rPr lang="en-US" sz="820" b="0" u="sng" strike="noStrike">
                <a:solidFill>
                  <a:srgbClr val="467886"/>
                </a:solidFill>
                <a:effectLst/>
                <a:uFillTx/>
                <a:latin typeface="Calibri"/>
                <a:ea typeface="Calibri"/>
                <a:hlinkClick r:id="rId24"/>
              </a:rPr>
              <a:t>https://www.youtube.com/watch?v=cfgsbAN4J9I</a:t>
            </a:r>
            <a:endParaRPr lang="en-US" sz="820" b="0" u="none" strike="noStrike">
              <a:solidFill>
                <a:srgbClr val="000000"/>
              </a:solidFill>
              <a:effectLst/>
              <a:uFillTx/>
              <a:latin typeface="Arial"/>
            </a:endParaRPr>
          </a:p>
        </p:txBody>
      </p:sp>
      <p:sp>
        <p:nvSpPr>
          <p:cNvPr id="1661" name=""/>
          <p:cNvSpPr/>
          <p:nvPr/>
        </p:nvSpPr>
        <p:spPr>
          <a:xfrm>
            <a:off x="666720" y="560088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29  East Los High  ·  2013  ·  slides 42–43</a:t>
            </a:r>
            <a:endParaRPr lang="en-US" sz="980" b="0" u="none" strike="noStrike">
              <a:solidFill>
                <a:srgbClr val="000000"/>
              </a:solidFill>
              <a:effectLst/>
              <a:uFillTx/>
              <a:latin typeface="Arial"/>
            </a:endParaRPr>
          </a:p>
        </p:txBody>
      </p:sp>
      <p:sp>
        <p:nvSpPr>
          <p:cNvPr id="1662" name=""/>
          <p:cNvSpPr/>
          <p:nvPr/>
        </p:nvSpPr>
        <p:spPr>
          <a:xfrm>
            <a:off x="666720" y="580068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25"/>
              </a:rPr>
              <a:t>https://www.populationmedia.org/projects/east-los-high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Outcome, Image:  </a:t>
            </a:r>
            <a:r>
              <a:rPr lang="en-US" sz="820" b="0" u="sng" strike="noStrike">
                <a:solidFill>
                  <a:srgbClr val="467886"/>
                </a:solidFill>
                <a:effectLst/>
                <a:uFillTx/>
                <a:latin typeface="Calibri"/>
                <a:ea typeface="Calibri"/>
                <a:hlinkClick r:id="rId26"/>
              </a:rPr>
              <a:t>https://utminers.utep.edu/asinghal/Reports/east%20los%20high%20transmedia%20edutainment%20to%20promote%20the%20sexual%20and%20reproductive.pdf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7"/>
              </a:rPr>
              <a:t>https://pmc.ncbi.nlm.nih.gov/articles/PMC4880269/</a:t>
            </a:r>
            <a:endParaRPr lang="en-US"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663" name="PlaceHolder 1"/>
          <p:cNvSpPr>
            <a:spLocks noGrp="1"/>
          </p:cNvSpPr>
          <p:nvPr>
            <p:ph type="sldNum" idx="62"/>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664"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65" name=""/>
          <p:cNvSpPr/>
          <p:nvPr/>
        </p:nvSpPr>
        <p:spPr>
          <a:xfrm>
            <a:off x="666720" y="409680"/>
            <a:ext cx="1047708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APPENDIX  ·  SOURCES  ·  6</a:t>
            </a:r>
            <a:endParaRPr lang="en-US" sz="1200" b="0" u="none" strike="noStrike">
              <a:solidFill>
                <a:srgbClr val="000000"/>
              </a:solidFill>
              <a:effectLst/>
              <a:uFillTx/>
              <a:latin typeface="Arial"/>
            </a:endParaRPr>
          </a:p>
        </p:txBody>
      </p:sp>
      <p:sp>
        <p:nvSpPr>
          <p:cNvPr id="1666" name=""/>
          <p:cNvSpPr/>
          <p:nvPr/>
        </p:nvSpPr>
        <p:spPr>
          <a:xfrm>
            <a:off x="666720" y="74304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667"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56</a:t>
            </a:r>
            <a:endParaRPr lang="en-US" sz="980" b="0" u="none" strike="noStrike">
              <a:solidFill>
                <a:srgbClr val="000000"/>
              </a:solidFill>
              <a:effectLst/>
              <a:uFillTx/>
              <a:latin typeface="Arial"/>
            </a:endParaRPr>
          </a:p>
        </p:txBody>
      </p:sp>
      <p:sp>
        <p:nvSpPr>
          <p:cNvPr id="1668" name=""/>
          <p:cNvSpPr/>
          <p:nvPr/>
        </p:nvSpPr>
        <p:spPr>
          <a:xfrm>
            <a:off x="666720" y="87624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30  Main Kuch Bhi Kar Sakti Hoon  ·  2014  ·  slide 44</a:t>
            </a:r>
            <a:endParaRPr lang="en-US" sz="980" b="0" u="none" strike="noStrike">
              <a:solidFill>
                <a:srgbClr val="000000"/>
              </a:solidFill>
              <a:effectLst/>
              <a:uFillTx/>
              <a:latin typeface="Arial"/>
            </a:endParaRPr>
          </a:p>
        </p:txBody>
      </p:sp>
      <p:sp>
        <p:nvSpPr>
          <p:cNvPr id="1669" name=""/>
          <p:cNvSpPr/>
          <p:nvPr/>
        </p:nvSpPr>
        <p:spPr>
          <a:xfrm>
            <a:off x="666720" y="1076400"/>
            <a:ext cx="108583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
              </a:rPr>
              <a:t>https://www.populationfoundation.in/projects/mkbksh/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2"/>
              </a:rPr>
              <a:t>https://www.buffalo.edu/content/dam/cas/communication/files/Wang/WangSinghal2018_MKBKSH_JMD.pdf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3"/>
              </a:rPr>
              <a:t>https://mkbksh.in/wp-content/uploads/2025/05/86e11a7c-6681-4e9a-ae0f-a1c7870fa591.pdf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4"/>
              </a:rPr>
              <a:t>https://mkbksh.in/evaluation-report/</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Image:  </a:t>
            </a:r>
            <a:r>
              <a:rPr lang="en-US" sz="820" b="0" u="sng" strike="noStrike">
                <a:solidFill>
                  <a:srgbClr val="467886"/>
                </a:solidFill>
                <a:effectLst/>
                <a:uFillTx/>
                <a:latin typeface="Calibri"/>
                <a:ea typeface="Calibri"/>
                <a:hlinkClick r:id="rId5"/>
              </a:rPr>
              <a:t>https://www.youtube.com/watch?v=-Yaq_dW0Xdc</a:t>
            </a:r>
            <a:endParaRPr lang="en-US" sz="820" b="0" u="none" strike="noStrike">
              <a:solidFill>
                <a:srgbClr val="000000"/>
              </a:solidFill>
              <a:effectLst/>
              <a:uFillTx/>
              <a:latin typeface="Arial"/>
            </a:endParaRPr>
          </a:p>
        </p:txBody>
      </p:sp>
      <p:sp>
        <p:nvSpPr>
          <p:cNvPr id="1670" name=""/>
          <p:cNvSpPr/>
          <p:nvPr/>
        </p:nvSpPr>
        <p:spPr>
          <a:xfrm>
            <a:off x="666720" y="184788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31  Ouro Negro  ·  2015  ·  slide 45</a:t>
            </a:r>
            <a:endParaRPr lang="en-US" sz="980" b="0" u="none" strike="noStrike">
              <a:solidFill>
                <a:srgbClr val="000000"/>
              </a:solidFill>
              <a:effectLst/>
              <a:uFillTx/>
              <a:latin typeface="Arial"/>
            </a:endParaRPr>
          </a:p>
        </p:txBody>
      </p:sp>
      <p:sp>
        <p:nvSpPr>
          <p:cNvPr id="1671" name=""/>
          <p:cNvSpPr/>
          <p:nvPr/>
        </p:nvSpPr>
        <p:spPr>
          <a:xfrm>
            <a:off x="666720" y="2048040"/>
            <a:ext cx="10858320" cy="6854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6"/>
              </a:rPr>
              <a:t>https://www.unicef.org/mozambique/comunicados-de-imprensa/ouro-negro-ao-vivo-promove-os-direitos-das-crian%C3%A7as-e-adolescentes-em</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7"/>
              </a:rPr>
              <a:t>https://shortyawards.com/12th/using-storytelling-to-spark-social-change-in-mozambique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8"/>
              </a:rPr>
              <a:t>https://library.oapen.org/rest/bitstreams/49d1e49d-fc71-4f28-9fe8-5b8604a5040d/retrieve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9"/>
              </a:rPr>
              <a:t>https://link.springer.com/chapter/10.1007/978-3-030-63614-2_11</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Image:  </a:t>
            </a:r>
            <a:r>
              <a:rPr lang="en-US" sz="820" b="0" u="sng" strike="noStrike">
                <a:solidFill>
                  <a:srgbClr val="467886"/>
                </a:solidFill>
                <a:effectLst/>
                <a:uFillTx/>
                <a:latin typeface="Calibri"/>
                <a:ea typeface="Calibri"/>
                <a:hlinkClick r:id="rId10"/>
              </a:rPr>
              <a:t>https://soundcloud.com/mediaimpact/sets/ouro-negro-season-1</a:t>
            </a:r>
            <a:endParaRPr lang="en-US" sz="820" b="0" u="none" strike="noStrike">
              <a:solidFill>
                <a:srgbClr val="000000"/>
              </a:solidFill>
              <a:effectLst/>
              <a:uFillTx/>
              <a:latin typeface="Arial"/>
            </a:endParaRPr>
          </a:p>
        </p:txBody>
      </p:sp>
      <p:sp>
        <p:nvSpPr>
          <p:cNvPr id="1672" name=""/>
          <p:cNvSpPr/>
          <p:nvPr/>
        </p:nvSpPr>
        <p:spPr>
          <a:xfrm>
            <a:off x="666720" y="281952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235C77"/>
                </a:solidFill>
                <a:effectLst/>
                <a:uFillTx/>
                <a:latin typeface="Calibri"/>
                <a:ea typeface="Calibri"/>
              </a:rPr>
              <a:t>32  This Girl Can  ·  2015  ·  slide 46</a:t>
            </a:r>
            <a:endParaRPr lang="en-US" sz="980" b="0" u="none" strike="noStrike">
              <a:solidFill>
                <a:srgbClr val="000000"/>
              </a:solidFill>
              <a:effectLst/>
              <a:uFillTx/>
              <a:latin typeface="Arial"/>
            </a:endParaRPr>
          </a:p>
        </p:txBody>
      </p:sp>
      <p:sp>
        <p:nvSpPr>
          <p:cNvPr id="1673" name=""/>
          <p:cNvSpPr/>
          <p:nvPr/>
        </p:nvSpPr>
        <p:spPr>
          <a:xfrm>
            <a:off x="666720" y="301932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1"/>
              </a:rPr>
              <a:t>https://www.sportengland.org/funds-and-campaigns/this-girl-can</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12"/>
              </a:rPr>
              <a:t>https://www.sportengland.org/media/14076/20150112-tgc-new-campaign-to-give-women-more-confidence-to-exercise.pdf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13"/>
              </a:rPr>
              <a:t>https://assets.publishing.service.gov.uk/media/5a7f5142ed915d74e6229bab/20160707__HC_419_Sport_England_ARA_2015-16_Web_Optimised.pdf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Image:  </a:t>
            </a:r>
            <a:r>
              <a:rPr lang="en-US" sz="820" b="0" u="sng" strike="noStrike">
                <a:solidFill>
                  <a:srgbClr val="467886"/>
                </a:solidFill>
                <a:effectLst/>
                <a:uFillTx/>
                <a:latin typeface="Calibri"/>
                <a:ea typeface="Calibri"/>
                <a:hlinkClick r:id="rId14"/>
              </a:rPr>
              <a:t>https://www.youtube.com/watch?v=jsP0W7-tEOc</a:t>
            </a:r>
            <a:endParaRPr lang="en-US" sz="820" b="0" u="none" strike="noStrike">
              <a:solidFill>
                <a:srgbClr val="000000"/>
              </a:solidFill>
              <a:effectLst/>
              <a:uFillTx/>
              <a:latin typeface="Arial"/>
            </a:endParaRPr>
          </a:p>
        </p:txBody>
      </p:sp>
      <p:sp>
        <p:nvSpPr>
          <p:cNvPr id="1674" name=""/>
          <p:cNvSpPr/>
          <p:nvPr/>
        </p:nvSpPr>
        <p:spPr>
          <a:xfrm>
            <a:off x="666720" y="365760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33  Icchedana  ·  2018  ·  slide 47</a:t>
            </a:r>
            <a:endParaRPr lang="en-US" sz="980" b="0" u="none" strike="noStrike">
              <a:solidFill>
                <a:srgbClr val="000000"/>
              </a:solidFill>
              <a:effectLst/>
              <a:uFillTx/>
              <a:latin typeface="Arial"/>
            </a:endParaRPr>
          </a:p>
        </p:txBody>
      </p:sp>
      <p:sp>
        <p:nvSpPr>
          <p:cNvPr id="1675" name=""/>
          <p:cNvSpPr/>
          <p:nvPr/>
        </p:nvSpPr>
        <p:spPr>
          <a:xfrm>
            <a:off x="666720" y="385776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15"/>
              </a:rPr>
              <a:t>https://www.unicef.org/bangladesh/en/press-releases/adolescent-campaign-launched-positive-social-change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Outcome, Image:  </a:t>
            </a:r>
            <a:r>
              <a:rPr lang="en-US" sz="820" b="0" u="sng" strike="noStrike">
                <a:solidFill>
                  <a:srgbClr val="467886"/>
                </a:solidFill>
                <a:effectLst/>
                <a:uFillTx/>
                <a:latin typeface="Calibri"/>
                <a:ea typeface="Calibri"/>
                <a:hlinkClick r:id="rId16"/>
              </a:rPr>
              <a:t>https://www.unicef.org/bangladesh/en/stories/tanzila-back-small-screen-kick-out-gender-inequality</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17"/>
              </a:rPr>
              <a:t>https://library.oapen.org/rest/bitstreams/49d1e49d-fc71-4f28-9fe8-5b8604a5040d/retrieve</a:t>
            </a:r>
            <a:endParaRPr lang="en-US" sz="820" b="0" u="none" strike="noStrike">
              <a:solidFill>
                <a:srgbClr val="000000"/>
              </a:solidFill>
              <a:effectLst/>
              <a:uFillTx/>
              <a:latin typeface="Arial"/>
            </a:endParaRPr>
          </a:p>
        </p:txBody>
      </p:sp>
      <p:sp>
        <p:nvSpPr>
          <p:cNvPr id="1676" name=""/>
          <p:cNvSpPr/>
          <p:nvPr/>
        </p:nvSpPr>
        <p:spPr>
          <a:xfrm>
            <a:off x="666720" y="436248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34  Vencer el Miedo  ·  2020  ·  slide 48</a:t>
            </a:r>
            <a:endParaRPr lang="en-US" sz="980" b="0" u="none" strike="noStrike">
              <a:solidFill>
                <a:srgbClr val="000000"/>
              </a:solidFill>
              <a:effectLst/>
              <a:uFillTx/>
              <a:latin typeface="Arial"/>
            </a:endParaRPr>
          </a:p>
        </p:txBody>
      </p:sp>
      <p:sp>
        <p:nvSpPr>
          <p:cNvPr id="1677" name=""/>
          <p:cNvSpPr/>
          <p:nvPr/>
        </p:nvSpPr>
        <p:spPr>
          <a:xfrm>
            <a:off x="666720" y="456264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Image:  </a:t>
            </a:r>
            <a:r>
              <a:rPr lang="en-US" sz="820" b="0" u="sng" strike="noStrike">
                <a:solidFill>
                  <a:srgbClr val="467886"/>
                </a:solidFill>
                <a:effectLst/>
                <a:uFillTx/>
                <a:latin typeface="Calibri"/>
                <a:ea typeface="Calibri"/>
                <a:hlinkClick r:id="rId18"/>
              </a:rPr>
              <a:t>https://www.populationmedia.org/projects/vencer-el-miedo</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a:t>
            </a:r>
            <a:r>
              <a:rPr lang="en-US" sz="820" b="0" u="sng" strike="noStrike">
                <a:solidFill>
                  <a:srgbClr val="467886"/>
                </a:solidFill>
                <a:effectLst/>
                <a:uFillTx/>
                <a:latin typeface="Calibri"/>
                <a:ea typeface="Calibri"/>
                <a:hlinkClick r:id="rId19"/>
              </a:rPr>
              <a:t>https://pmc.ncbi.nlm.nih.gov/articles/PMC9757626/</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20"/>
              </a:rPr>
              <a:t>https://doi.org/10.1186/s12889-022-14853-8</a:t>
            </a:r>
            <a:endParaRPr lang="en-US" sz="820" b="0" u="none" strike="noStrike">
              <a:solidFill>
                <a:srgbClr val="000000"/>
              </a:solidFill>
              <a:effectLst/>
              <a:uFillTx/>
              <a:latin typeface="Arial"/>
            </a:endParaRPr>
          </a:p>
        </p:txBody>
      </p:sp>
      <p:sp>
        <p:nvSpPr>
          <p:cNvPr id="1678" name=""/>
          <p:cNvSpPr/>
          <p:nvPr/>
        </p:nvSpPr>
        <p:spPr>
          <a:xfrm>
            <a:off x="666720" y="506736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35  Rope Guna Fal  ·  2021–22  ·  slide 49</a:t>
            </a:r>
            <a:endParaRPr lang="en-US" sz="980" b="0" u="none" strike="noStrike">
              <a:solidFill>
                <a:srgbClr val="000000"/>
              </a:solidFill>
              <a:effectLst/>
              <a:uFillTx/>
              <a:latin typeface="Arial"/>
            </a:endParaRPr>
          </a:p>
        </p:txBody>
      </p:sp>
      <p:sp>
        <p:nvSpPr>
          <p:cNvPr id="1679" name=""/>
          <p:cNvSpPr/>
          <p:nvPr/>
        </p:nvSpPr>
        <p:spPr>
          <a:xfrm>
            <a:off x="666720" y="526716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Campaign:  </a:t>
            </a:r>
            <a:r>
              <a:rPr lang="en-US" sz="820" b="0" u="sng" strike="noStrike">
                <a:solidFill>
                  <a:srgbClr val="467886"/>
                </a:solidFill>
                <a:effectLst/>
                <a:uFillTx/>
                <a:latin typeface="Calibri"/>
                <a:ea typeface="Calibri"/>
                <a:hlinkClick r:id="rId21"/>
              </a:rPr>
              <a:t>https://www.unicef.org/nepal/stories/rope-guna-fal-informative-and-enjoyable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Execution, Image:  </a:t>
            </a:r>
            <a:r>
              <a:rPr lang="en-US" sz="820" b="0" u="sng" strike="noStrike">
                <a:solidFill>
                  <a:srgbClr val="467886"/>
                </a:solidFill>
                <a:effectLst/>
                <a:uFillTx/>
                <a:latin typeface="Calibri"/>
                <a:ea typeface="Calibri"/>
                <a:hlinkClick r:id="rId22"/>
              </a:rPr>
              <a:t>https://www.populationmedia.org/newsroom/new-data-in-nepal</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Outcome:  </a:t>
            </a:r>
            <a:r>
              <a:rPr lang="en-US" sz="820" b="0" u="sng" strike="noStrike">
                <a:solidFill>
                  <a:srgbClr val="467886"/>
                </a:solidFill>
                <a:effectLst/>
                <a:uFillTx/>
                <a:latin typeface="Calibri"/>
                <a:ea typeface="Calibri"/>
                <a:hlinkClick r:id="rId23"/>
              </a:rPr>
              <a:t>https://e1.nmcdn.io/assets/pmc/wp-content/uploads/2024/04/PMC-NPL-RGF-Final-Assessment-Report_April-2023-2.pdf</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Supporting:  </a:t>
            </a:r>
            <a:r>
              <a:rPr lang="en-US" sz="820" b="0" u="sng" strike="noStrike">
                <a:solidFill>
                  <a:srgbClr val="467886"/>
                </a:solidFill>
                <a:effectLst/>
                <a:uFillTx/>
                <a:latin typeface="Calibri"/>
                <a:ea typeface="Calibri"/>
                <a:hlinkClick r:id="rId24"/>
              </a:rPr>
              <a:t>https://www.populationmedia.org/the-latest/broadcast-to-begin-in-nepal-a-new-project-with-unicef-and-the-kendeda-fund</a:t>
            </a:r>
            <a:endParaRPr lang="en-US" sz="820" b="0" u="none" strike="noStrike">
              <a:solidFill>
                <a:srgbClr val="000000"/>
              </a:solidFill>
              <a:effectLst/>
              <a:uFillTx/>
              <a:latin typeface="Arial"/>
            </a:endParaRPr>
          </a:p>
        </p:txBody>
      </p:sp>
      <p:sp>
        <p:nvSpPr>
          <p:cNvPr id="1680" name=""/>
          <p:cNvSpPr/>
          <p:nvPr/>
        </p:nvSpPr>
        <p:spPr>
          <a:xfrm>
            <a:off x="666720" y="5905440"/>
            <a:ext cx="108583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B75D3C"/>
                </a:solidFill>
                <a:effectLst/>
                <a:uFillTx/>
                <a:latin typeface="Calibri"/>
                <a:ea typeface="Calibri"/>
              </a:rPr>
              <a:t>Cover image</a:t>
            </a:r>
            <a:endParaRPr lang="en-US" sz="980" b="0" u="none" strike="noStrike">
              <a:solidFill>
                <a:srgbClr val="000000"/>
              </a:solidFill>
              <a:effectLst/>
              <a:uFillTx/>
              <a:latin typeface="Arial"/>
            </a:endParaRPr>
          </a:p>
        </p:txBody>
      </p:sp>
      <p:sp>
        <p:nvSpPr>
          <p:cNvPr id="1681" name=""/>
          <p:cNvSpPr/>
          <p:nvPr/>
        </p:nvSpPr>
        <p:spPr>
          <a:xfrm>
            <a:off x="666720" y="6105600"/>
            <a:ext cx="10858320" cy="1519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Image:  </a:t>
            </a:r>
            <a:r>
              <a:rPr lang="en-US" sz="820" b="0" u="sng" strike="noStrike">
                <a:solidFill>
                  <a:srgbClr val="467886"/>
                </a:solidFill>
                <a:effectLst/>
                <a:uFillTx/>
                <a:latin typeface="Calibri"/>
                <a:ea typeface="Calibri"/>
                <a:hlinkClick r:id="rId25"/>
              </a:rPr>
              <a:t>https://hsph.harvard.edu/research/health-communication/harvard-alcohol-project-designated-driver/</a:t>
            </a:r>
            <a:endParaRPr lang="en-US"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682" name="PlaceHolder 1"/>
          <p:cNvSpPr>
            <a:spLocks noGrp="1"/>
          </p:cNvSpPr>
          <p:nvPr>
            <p:ph type="sldNum" idx="63"/>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683"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84" name=""/>
          <p:cNvSpPr/>
          <p:nvPr/>
        </p:nvSpPr>
        <p:spPr>
          <a:xfrm>
            <a:off x="666720" y="409680"/>
            <a:ext cx="1047708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APPENDIX  ·  IMAGE CREDITS  ·  1</a:t>
            </a:r>
            <a:endParaRPr lang="en-US" sz="1200" b="0" u="none" strike="noStrike">
              <a:solidFill>
                <a:srgbClr val="000000"/>
              </a:solidFill>
              <a:effectLst/>
              <a:uFillTx/>
              <a:latin typeface="Arial"/>
            </a:endParaRPr>
          </a:p>
        </p:txBody>
      </p:sp>
      <p:sp>
        <p:nvSpPr>
          <p:cNvPr id="1685" name=""/>
          <p:cNvSpPr/>
          <p:nvPr/>
        </p:nvSpPr>
        <p:spPr>
          <a:xfrm>
            <a:off x="666720" y="74304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686"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57</a:t>
            </a:r>
            <a:endParaRPr lang="en-US" sz="980" b="0" u="none" strike="noStrike">
              <a:solidFill>
                <a:srgbClr val="000000"/>
              </a:solidFill>
              <a:effectLst/>
              <a:uFillTx/>
              <a:latin typeface="Arial"/>
            </a:endParaRPr>
          </a:p>
        </p:txBody>
      </p:sp>
      <p:sp>
        <p:nvSpPr>
          <p:cNvPr id="1687" name=""/>
          <p:cNvSpPr/>
          <p:nvPr/>
        </p:nvSpPr>
        <p:spPr>
          <a:xfrm>
            <a:off x="666720" y="87624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Cover</a:t>
            </a:r>
            <a:endParaRPr lang="en-US" sz="900" b="0" u="none" strike="noStrike">
              <a:solidFill>
                <a:srgbClr val="000000"/>
              </a:solidFill>
              <a:effectLst/>
              <a:uFillTx/>
              <a:latin typeface="Arial"/>
            </a:endParaRPr>
          </a:p>
        </p:txBody>
      </p:sp>
      <p:sp>
        <p:nvSpPr>
          <p:cNvPr id="1688" name=""/>
          <p:cNvSpPr/>
          <p:nvPr/>
        </p:nvSpPr>
        <p:spPr>
          <a:xfrm>
            <a:off x="666720" y="104760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Harvard Alcohol Project poster “The Designated Driver Is the Life of the Party” hanging on the Cheers bar set, with Kirstie Alley and Ted Danson in costume (c. 1988–1991 (undated production photo; campaign ran 1988–1992))  ·  Harvard T.H. Chan School of Public Health, Center for Health Communication (poster); Cheers set photo, photographer unknown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1"/>
              </a:rPr>
              <a:t>https://hsph.harvard.edu/wp-content/uploads/2024/11/D.D._Cheers-SamRebecca.jpg</a:t>
            </a:r>
            <a:endParaRPr lang="en-US" sz="820" b="0" u="none" strike="noStrike">
              <a:solidFill>
                <a:srgbClr val="000000"/>
              </a:solidFill>
              <a:effectLst/>
              <a:uFillTx/>
              <a:latin typeface="Arial"/>
            </a:endParaRPr>
          </a:p>
        </p:txBody>
      </p:sp>
      <p:sp>
        <p:nvSpPr>
          <p:cNvPr id="1689" name=""/>
          <p:cNvSpPr/>
          <p:nvPr/>
        </p:nvSpPr>
        <p:spPr>
          <a:xfrm>
            <a:off x="666720" y="165744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01  Torches of Freedom</a:t>
            </a:r>
            <a:endParaRPr lang="en-US" sz="900" b="0" u="none" strike="noStrike">
              <a:solidFill>
                <a:srgbClr val="000000"/>
              </a:solidFill>
              <a:effectLst/>
              <a:uFillTx/>
              <a:latin typeface="Arial"/>
            </a:endParaRPr>
          </a:p>
        </p:txBody>
      </p:sp>
      <p:sp>
        <p:nvSpPr>
          <p:cNvPr id="1690" name=""/>
          <p:cNvSpPr/>
          <p:nvPr/>
        </p:nvSpPr>
        <p:spPr>
          <a:xfrm>
            <a:off x="666720" y="18288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New York Times front page, lead-column story with deck 'Group of Girls Puff at Cigarettes as a Gesture of "Freedom"' (cropped) (cropped to the cigarette sub-headline and report) (1929-04-01)  ·  The New York Times; scan via Internet Archive (also on Wikimedia Commons as PDF)  ·  Rights: Public domain in the US (published 1929; US works from 1929 entered the public domain 1 Jan 2025)</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2"/>
              </a:rPr>
              <a:t>https://archive.org/download/per_new-york-times-magazine_the-new-york-times_1929-04-01_78_26000/page/n0_w2000.jpg</a:t>
            </a:r>
            <a:endParaRPr lang="en-US" sz="820" b="0" u="none" strike="noStrike">
              <a:solidFill>
                <a:srgbClr val="000000"/>
              </a:solidFill>
              <a:effectLst/>
              <a:uFillTx/>
              <a:latin typeface="Arial"/>
            </a:endParaRPr>
          </a:p>
        </p:txBody>
      </p:sp>
      <p:sp>
        <p:nvSpPr>
          <p:cNvPr id="1691" name=""/>
          <p:cNvSpPr/>
          <p:nvPr/>
        </p:nvSpPr>
        <p:spPr>
          <a:xfrm>
            <a:off x="666720" y="230508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02  Women in War Jobs</a:t>
            </a:r>
            <a:endParaRPr lang="en-US" sz="900" b="0" u="none" strike="noStrike">
              <a:solidFill>
                <a:srgbClr val="000000"/>
              </a:solidFill>
              <a:effectLst/>
              <a:uFillTx/>
              <a:latin typeface="Arial"/>
            </a:endParaRPr>
          </a:p>
        </p:txBody>
      </p:sp>
      <p:sp>
        <p:nvSpPr>
          <p:cNvPr id="1692" name=""/>
          <p:cNvSpPr/>
          <p:nvPr/>
        </p:nvSpPr>
        <p:spPr>
          <a:xfrm>
            <a:off x="666720" y="247644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'Do the job HE left behind — Apply U.S. Employment Service' recruitment poster (NARA 44-PA-241) (1942–1945 (undated in NARA; series from OWI Domestic Operations Branch))  ·  U.S. National Archives, RG 44 (Office of Government Reports), World War II Posters  ·  Rights: Public domain (U.S. government work)</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3"/>
              </a:rPr>
              <a:t>https://commons.wikimedia.org/wiki/Special:FilePath/%22Do_The_Job_He_Left_Behind%22_-_NARA_-_513683.jpg</a:t>
            </a:r>
            <a:endParaRPr lang="en-US" sz="820" b="0" u="none" strike="noStrike">
              <a:solidFill>
                <a:srgbClr val="000000"/>
              </a:solidFill>
              <a:effectLst/>
              <a:uFillTx/>
              <a:latin typeface="Arial"/>
            </a:endParaRPr>
          </a:p>
        </p:txBody>
      </p:sp>
      <p:sp>
        <p:nvSpPr>
          <p:cNvPr id="1693" name=""/>
          <p:cNvSpPr/>
          <p:nvPr/>
        </p:nvSpPr>
        <p:spPr>
          <a:xfrm>
            <a:off x="666720" y="295272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03  Smokey Bear</a:t>
            </a:r>
            <a:endParaRPr lang="en-US" sz="900" b="0" u="none" strike="noStrike">
              <a:solidFill>
                <a:srgbClr val="000000"/>
              </a:solidFill>
              <a:effectLst/>
              <a:uFillTx/>
              <a:latin typeface="Arial"/>
            </a:endParaRPr>
          </a:p>
        </p:txBody>
      </p:sp>
      <p:sp>
        <p:nvSpPr>
          <p:cNvPr id="1694" name=""/>
          <p:cNvSpPr/>
          <p:nvPr/>
        </p:nvSpPr>
        <p:spPr>
          <a:xfrm>
            <a:off x="666720" y="312408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First Smokey Bear poster by Albert Staehle: 'Smokey says — Care will prevent 9 out of 10 woods fires!' (USDA Forest Service / State Forest Service) (1944)  ·  U.S. National Archives (NARA 515437), World War II Posters  ·  Rights: Public domain (U.S. government work); Smokey's name and likeness are separately protected under the Smokey Bear Act (16 USC 580p) — fine for non-commercial research use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4"/>
              </a:rPr>
              <a:t>https://commons.wikimedia.org/wiki/Special:FilePath/SMOKEY_SAYS_-_CARE_WILL_PREVENT_9_OUT_OF_10_FOREST_FIRES%5E_-_NARA_-_515437.jpg</a:t>
            </a:r>
            <a:endParaRPr lang="en-US" sz="820" b="0" u="none" strike="noStrike">
              <a:solidFill>
                <a:srgbClr val="000000"/>
              </a:solidFill>
              <a:effectLst/>
              <a:uFillTx/>
              <a:latin typeface="Arial"/>
            </a:endParaRPr>
          </a:p>
        </p:txBody>
      </p:sp>
      <p:sp>
        <p:nvSpPr>
          <p:cNvPr id="1695" name=""/>
          <p:cNvSpPr/>
          <p:nvPr/>
        </p:nvSpPr>
        <p:spPr>
          <a:xfrm>
            <a:off x="666720" y="360036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04  “Crying Indian” anti-litter campaign</a:t>
            </a:r>
            <a:endParaRPr lang="en-US" sz="900" b="0" u="none" strike="noStrike">
              <a:solidFill>
                <a:srgbClr val="000000"/>
              </a:solidFill>
              <a:effectLst/>
              <a:uFillTx/>
              <a:latin typeface="Arial"/>
            </a:endParaRPr>
          </a:p>
        </p:txBody>
      </p:sp>
      <p:sp>
        <p:nvSpPr>
          <p:cNvPr id="1696" name=""/>
          <p:cNvSpPr/>
          <p:nvPr/>
        </p:nvSpPr>
        <p:spPr>
          <a:xfrm>
            <a:off x="666720" y="377208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Frame from the 1971 'Crying Indian' TV spot: close-up of the tear (Iron Eyes Cody) [file note: (frame at 0:49)] (1971)  ·  Keep America Beautiful / Ad Council; rights transferred to the National Congress of American Indians Fund in 2023  ·  Rights: Copyrighted — fair use for commentary, criticism, and research; frame grabbed from an unofficial YouTube upload (no official upload found)</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5"/>
              </a:rPr>
              <a:t>https://www.youtube.com/watch?v=MPePAA-V4ZI</a:t>
            </a:r>
            <a:endParaRPr lang="en-US" sz="820" b="0" u="none" strike="noStrike">
              <a:solidFill>
                <a:srgbClr val="000000"/>
              </a:solidFill>
              <a:effectLst/>
              <a:uFillTx/>
              <a:latin typeface="Arial"/>
            </a:endParaRPr>
          </a:p>
        </p:txBody>
      </p:sp>
      <p:sp>
        <p:nvSpPr>
          <p:cNvPr id="1697" name=""/>
          <p:cNvSpPr/>
          <p:nvPr/>
        </p:nvSpPr>
        <p:spPr>
          <a:xfrm>
            <a:off x="666720" y="424800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04  “Crying Indian” anti-litter campaign</a:t>
            </a:r>
            <a:endParaRPr lang="en-US" sz="900" b="0" u="none" strike="noStrike">
              <a:solidFill>
                <a:srgbClr val="000000"/>
              </a:solidFill>
              <a:effectLst/>
              <a:uFillTx/>
              <a:latin typeface="Arial"/>
            </a:endParaRPr>
          </a:p>
        </p:txBody>
      </p:sp>
      <p:sp>
        <p:nvSpPr>
          <p:cNvPr id="1698" name=""/>
          <p:cNvSpPr/>
          <p:nvPr/>
        </p:nvSpPr>
        <p:spPr>
          <a:xfrm>
            <a:off x="666720" y="441972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End frame of the same spot: '71 things you can do to stop pollution' booklet with mail-in address [file note: (frame at 0:55)] (1971)  ·  Keep America Beautiful / Ad Council; rights now with NCAI Fund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6"/>
              </a:rPr>
              <a:t>https://www.youtube.com/watch?v=MPePAA-V4ZI</a:t>
            </a:r>
            <a:endParaRPr lang="en-US" sz="820" b="0" u="none" strike="noStrike">
              <a:solidFill>
                <a:srgbClr val="000000"/>
              </a:solidFill>
              <a:effectLst/>
              <a:uFillTx/>
              <a:latin typeface="Arial"/>
            </a:endParaRPr>
          </a:p>
        </p:txBody>
      </p:sp>
      <p:sp>
        <p:nvSpPr>
          <p:cNvPr id="1699" name=""/>
          <p:cNvSpPr/>
          <p:nvPr/>
        </p:nvSpPr>
        <p:spPr>
          <a:xfrm>
            <a:off x="666720" y="489600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06  Acompáñame</a:t>
            </a:r>
            <a:endParaRPr lang="en-US" sz="900" b="0" u="none" strike="noStrike">
              <a:solidFill>
                <a:srgbClr val="000000"/>
              </a:solidFill>
              <a:effectLst/>
              <a:uFillTx/>
              <a:latin typeface="Arial"/>
            </a:endParaRPr>
          </a:p>
        </p:txBody>
      </p:sp>
      <p:sp>
        <p:nvSpPr>
          <p:cNvPr id="1700" name=""/>
          <p:cNvSpPr/>
          <p:nvPr/>
        </p:nvSpPr>
        <p:spPr>
          <a:xfrm>
            <a:off x="666720" y="506736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Acompáñame opening-title card (hands logo), from the 1977 Televisa broadcast opening [file note: (frame at 0:18, trimmed)] (1977)  ·  Televisa (uploaded by fan channel 'El baul musical de las telenovelas')  ·  Rights: copyrighted — fair use for commentary, criticism, and research; fan upload, not official. Low-res VHS source upscaled to 1080p in the upload; rest of that video is a fan re-edit with stock scenery, only this title card appears original.</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7"/>
              </a:rPr>
              <a:t>https://www.youtube.com/watch?v=_zJJziQgeKo&amp;t=18</a:t>
            </a:r>
            <a:endParaRPr lang="en-US"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701" name="PlaceHolder 1"/>
          <p:cNvSpPr>
            <a:spLocks noGrp="1"/>
          </p:cNvSpPr>
          <p:nvPr>
            <p:ph type="sldNum" idx="64"/>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702"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03" name=""/>
          <p:cNvSpPr/>
          <p:nvPr/>
        </p:nvSpPr>
        <p:spPr>
          <a:xfrm>
            <a:off x="666720" y="409680"/>
            <a:ext cx="1047708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APPENDIX  ·  IMAGE CREDITS  ·  2</a:t>
            </a:r>
            <a:endParaRPr lang="en-US" sz="1200" b="0" u="none" strike="noStrike">
              <a:solidFill>
                <a:srgbClr val="000000"/>
              </a:solidFill>
              <a:effectLst/>
              <a:uFillTx/>
              <a:latin typeface="Arial"/>
            </a:endParaRPr>
          </a:p>
        </p:txBody>
      </p:sp>
      <p:sp>
        <p:nvSpPr>
          <p:cNvPr id="1704" name=""/>
          <p:cNvSpPr/>
          <p:nvPr/>
        </p:nvSpPr>
        <p:spPr>
          <a:xfrm>
            <a:off x="666720" y="74304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705"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58</a:t>
            </a:r>
            <a:endParaRPr lang="en-US" sz="980" b="0" u="none" strike="noStrike">
              <a:solidFill>
                <a:srgbClr val="000000"/>
              </a:solidFill>
              <a:effectLst/>
              <a:uFillTx/>
              <a:latin typeface="Arial"/>
            </a:endParaRPr>
          </a:p>
        </p:txBody>
      </p:sp>
      <p:sp>
        <p:nvSpPr>
          <p:cNvPr id="1706" name=""/>
          <p:cNvSpPr/>
          <p:nvPr/>
        </p:nvSpPr>
        <p:spPr>
          <a:xfrm>
            <a:off x="666720" y="87624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07  Drunk Driving Prevention</a:t>
            </a:r>
            <a:endParaRPr lang="en-US" sz="900" b="0" u="none" strike="noStrike">
              <a:solidFill>
                <a:srgbClr val="000000"/>
              </a:solidFill>
              <a:effectLst/>
              <a:uFillTx/>
              <a:latin typeface="Arial"/>
            </a:endParaRPr>
          </a:p>
        </p:txBody>
      </p:sp>
      <p:sp>
        <p:nvSpPr>
          <p:cNvPr id="1707" name=""/>
          <p:cNvSpPr/>
          <p:nvPr/>
        </p:nvSpPr>
        <p:spPr>
          <a:xfrm>
            <a:off x="666720" y="104760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End card of 'Crashing Glasses' TV PSA: 'Drinking and driving can kill a friendship' (Ad Council / U.S. DOT), CLIO winner [file note: (frame at 0:24.5, cropped to picture area)] (1983)  ·  Ad Council / U.S. Department of Transportation (uploaded by 'PSA America' channel)  ·  Rights: U.S. DOT-sponsored PSA; rights unclear (Ad Council) — fair use for commentary, criticism, and research. 643px native SD, below 700px target.</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1"/>
              </a:rPr>
              <a:t>https://www.youtube.com/watch?v=BPnqSmxh-60&amp;t=24</a:t>
            </a:r>
            <a:endParaRPr lang="en-US" sz="820" b="0" u="none" strike="noStrike">
              <a:solidFill>
                <a:srgbClr val="000000"/>
              </a:solidFill>
              <a:effectLst/>
              <a:uFillTx/>
              <a:latin typeface="Arial"/>
            </a:endParaRPr>
          </a:p>
        </p:txBody>
      </p:sp>
      <p:sp>
        <p:nvSpPr>
          <p:cNvPr id="1708" name=""/>
          <p:cNvSpPr/>
          <p:nvPr/>
        </p:nvSpPr>
        <p:spPr>
          <a:xfrm>
            <a:off x="666720" y="165744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08  Hum Log</a:t>
            </a:r>
            <a:endParaRPr lang="en-US" sz="900" b="0" u="none" strike="noStrike">
              <a:solidFill>
                <a:srgbClr val="000000"/>
              </a:solidFill>
              <a:effectLst/>
              <a:uFillTx/>
              <a:latin typeface="Arial"/>
            </a:endParaRPr>
          </a:p>
        </p:txBody>
      </p:sp>
      <p:sp>
        <p:nvSpPr>
          <p:cNvPr id="1709" name=""/>
          <p:cNvSpPr/>
          <p:nvPr/>
        </p:nvSpPr>
        <p:spPr>
          <a:xfrm>
            <a:off x="666720" y="18288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Still from Hum Log episode 1 (Doordarshan, 1984): the Basesar Ram family at home [file note: (frame at 5:00; top 60px cropped to remove Goldmines watermark)] (1984)  ·  Doordarshan; distributed by Goldmines Movies (licensed YouTube upload)  ·  Rights: copyrighted — fair use for commentary, criticism, and research. 600x420 native SD.</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2"/>
              </a:rPr>
              <a:t>https://www.youtube.com/watch?v=Sxn-lSJiW7o&amp;t=300</a:t>
            </a:r>
            <a:endParaRPr lang="en-US" sz="820" b="0" u="none" strike="noStrike">
              <a:solidFill>
                <a:srgbClr val="000000"/>
              </a:solidFill>
              <a:effectLst/>
              <a:uFillTx/>
              <a:latin typeface="Arial"/>
            </a:endParaRPr>
          </a:p>
        </p:txBody>
      </p:sp>
      <p:sp>
        <p:nvSpPr>
          <p:cNvPr id="1710" name=""/>
          <p:cNvSpPr/>
          <p:nvPr/>
        </p:nvSpPr>
        <p:spPr>
          <a:xfrm>
            <a:off x="666720" y="230508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09  Vince and Larry</a:t>
            </a:r>
            <a:endParaRPr lang="en-US" sz="900" b="0" u="none" strike="noStrike">
              <a:solidFill>
                <a:srgbClr val="000000"/>
              </a:solidFill>
              <a:effectLst/>
              <a:uFillTx/>
              <a:latin typeface="Arial"/>
            </a:endParaRPr>
          </a:p>
        </p:txBody>
      </p:sp>
      <p:sp>
        <p:nvSpPr>
          <p:cNvPr id="1711" name=""/>
          <p:cNvSpPr/>
          <p:nvPr/>
        </p:nvSpPr>
        <p:spPr>
          <a:xfrm>
            <a:off x="666720" y="247644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Vince and Larry in an NHTSA/Ad Council seat-belt PSA (airbag-era spot; ends 'You could learn a lot from a dummy. Buckle your safety belt.') [file note: (frame at 0:23, pillarbox trimmed)] (c. 1990s (undated spot; uploaded 2013))  ·  NHTSA / U.S. DOT and Ad Council (official USDOTNHTSA channel)  ·  Rights: U.S. government-sponsored PSA, official upload; likely public domain or government use — treat as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3"/>
              </a:rPr>
              <a:t>https://www.youtube.com/watch?v=1_8hkdZkF7Q&amp;t=23</a:t>
            </a:r>
            <a:endParaRPr lang="en-US" sz="820" b="0" u="none" strike="noStrike">
              <a:solidFill>
                <a:srgbClr val="000000"/>
              </a:solidFill>
              <a:effectLst/>
              <a:uFillTx/>
              <a:latin typeface="Arial"/>
            </a:endParaRPr>
          </a:p>
        </p:txBody>
      </p:sp>
      <p:sp>
        <p:nvSpPr>
          <p:cNvPr id="1712" name=""/>
          <p:cNvSpPr/>
          <p:nvPr/>
        </p:nvSpPr>
        <p:spPr>
          <a:xfrm>
            <a:off x="666720" y="308628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10  Don’t Mess with Texas</a:t>
            </a:r>
            <a:endParaRPr lang="en-US" sz="900" b="0" u="none" strike="noStrike">
              <a:solidFill>
                <a:srgbClr val="000000"/>
              </a:solidFill>
              <a:effectLst/>
              <a:uFillTx/>
              <a:latin typeface="Arial"/>
            </a:endParaRPr>
          </a:p>
        </p:txBody>
      </p:sp>
      <p:sp>
        <p:nvSpPr>
          <p:cNvPr id="1713" name=""/>
          <p:cNvSpPr/>
          <p:nvPr/>
        </p:nvSpPr>
        <p:spPr>
          <a:xfrm>
            <a:off x="666720" y="325764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End frame of the first Don't mess with Texas TV spot: Stevie Ray Vaughan before a Texas flag, 'Sponsored by Texas Department of Transportation' [file note: (frame at 0:28)] (1986)  ·  Texas Department of Transportation (official 'Don't mess with Texas' channel)  ·  Rights: TxDOT-owned; 'Don't mess with Texas' is a registered trademark — fair use for commentary, criticism, and research. 720x480 native SD.</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4"/>
              </a:rPr>
              <a:t>https://www.youtube.com/watch?v=KISppQMhOuI&amp;t=28</a:t>
            </a:r>
            <a:endParaRPr lang="en-US" sz="820" b="0" u="none" strike="noStrike">
              <a:solidFill>
                <a:srgbClr val="000000"/>
              </a:solidFill>
              <a:effectLst/>
              <a:uFillTx/>
              <a:latin typeface="Arial"/>
            </a:endParaRPr>
          </a:p>
        </p:txBody>
      </p:sp>
      <p:sp>
        <p:nvSpPr>
          <p:cNvPr id="1714" name=""/>
          <p:cNvSpPr/>
          <p:nvPr/>
        </p:nvSpPr>
        <p:spPr>
          <a:xfrm>
            <a:off x="666720" y="373392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11  Designated Driver</a:t>
            </a:r>
            <a:endParaRPr lang="en-US" sz="900" b="0" u="none" strike="noStrike">
              <a:solidFill>
                <a:srgbClr val="000000"/>
              </a:solidFill>
              <a:effectLst/>
              <a:uFillTx/>
              <a:latin typeface="Arial"/>
            </a:endParaRPr>
          </a:p>
        </p:txBody>
      </p:sp>
      <p:sp>
        <p:nvSpPr>
          <p:cNvPr id="1715" name=""/>
          <p:cNvSpPr/>
          <p:nvPr/>
        </p:nvSpPr>
        <p:spPr>
          <a:xfrm>
            <a:off x="666720" y="390528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“The Designated Driver Is the Life of the Party” poster on the Cheers bar set (Kirstie Alley, Ted Danson) (c. 1988–1991 (undated))  ·  Harvard T.H. Chan School of Public Health, Center for Health Communication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5"/>
              </a:rPr>
              <a:t>https://hsph.harvard.edu/wp-content/uploads/2024/11/D.D._Cheers-SamRebecca.jpg</a:t>
            </a:r>
            <a:endParaRPr lang="en-US" sz="820" b="0" u="none" strike="noStrike">
              <a:solidFill>
                <a:srgbClr val="000000"/>
              </a:solidFill>
              <a:effectLst/>
              <a:uFillTx/>
              <a:latin typeface="Arial"/>
            </a:endParaRPr>
          </a:p>
        </p:txBody>
      </p:sp>
      <p:sp>
        <p:nvSpPr>
          <p:cNvPr id="1716" name=""/>
          <p:cNvSpPr/>
          <p:nvPr/>
        </p:nvSpPr>
        <p:spPr>
          <a:xfrm>
            <a:off x="666720" y="438156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11  Designated Driver</a:t>
            </a:r>
            <a:endParaRPr lang="en-US" sz="900" b="0" u="none" strike="noStrike">
              <a:solidFill>
                <a:srgbClr val="000000"/>
              </a:solidFill>
              <a:effectLst/>
              <a:uFillTx/>
              <a:latin typeface="Arial"/>
            </a:endParaRPr>
          </a:p>
        </p:txBody>
      </p:sp>
      <p:sp>
        <p:nvSpPr>
          <p:cNvPr id="1717" name=""/>
          <p:cNvSpPr/>
          <p:nvPr/>
        </p:nvSpPr>
        <p:spPr>
          <a:xfrm>
            <a:off x="666720" y="455292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Title card of CBS network PSA “Choose a Designated Driver — A CBS Public Awareness Message” (VHS off-air recording) [file note: (frame at 0.5s)] (1989)  ·  CBS; uploaded by 'Video Archive' (not the owner)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6"/>
              </a:rPr>
              <a:t>https://www.youtube.com/watch?v=p85zXhD3F5c</a:t>
            </a:r>
            <a:endParaRPr lang="en-US" sz="820" b="0" u="none" strike="noStrike">
              <a:solidFill>
                <a:srgbClr val="000000"/>
              </a:solidFill>
              <a:effectLst/>
              <a:uFillTx/>
              <a:latin typeface="Arial"/>
            </a:endParaRPr>
          </a:p>
        </p:txBody>
      </p:sp>
      <p:sp>
        <p:nvSpPr>
          <p:cNvPr id="1718" name=""/>
          <p:cNvSpPr/>
          <p:nvPr/>
        </p:nvSpPr>
        <p:spPr>
          <a:xfrm>
            <a:off x="666720" y="502920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12  Operation Breakthrough</a:t>
            </a:r>
            <a:endParaRPr lang="en-US" sz="900" b="0" u="none" strike="noStrike">
              <a:solidFill>
                <a:srgbClr val="000000"/>
              </a:solidFill>
              <a:effectLst/>
              <a:uFillTx/>
              <a:latin typeface="Arial"/>
            </a:endParaRPr>
          </a:p>
        </p:txBody>
      </p:sp>
      <p:sp>
        <p:nvSpPr>
          <p:cNvPr id="1719" name=""/>
          <p:cNvSpPr/>
          <p:nvPr/>
        </p:nvSpPr>
        <p:spPr>
          <a:xfrm>
            <a:off x="666720" y="520056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Beverly Hills, 90210: Donna and Kelly at a school restroom mirror during Kelly’s diet-pill storyline (CBS-posted clip 'Diet Pills') (1993 (season 3; exact episode unconfirmed))  ·  CBS Media Ventures (official CBS YouTube channel)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7"/>
              </a:rPr>
              <a:t>https://i.ytimg.com/vi/HOArW-Yqzj4/hqdefault.jpg</a:t>
            </a:r>
            <a:endParaRPr lang="en-US" sz="820" b="0" u="none" strike="noStrike">
              <a:solidFill>
                <a:srgbClr val="000000"/>
              </a:solidFill>
              <a:effectLst/>
              <a:uFillTx/>
              <a:latin typeface="Arial"/>
            </a:endParaRPr>
          </a:p>
        </p:txBody>
      </p:sp>
      <p:sp>
        <p:nvSpPr>
          <p:cNvPr id="1720" name=""/>
          <p:cNvSpPr/>
          <p:nvPr/>
        </p:nvSpPr>
        <p:spPr>
          <a:xfrm>
            <a:off x="666720" y="567684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13  Meena</a:t>
            </a:r>
            <a:endParaRPr lang="en-US" sz="900" b="0" u="none" strike="noStrike">
              <a:solidFill>
                <a:srgbClr val="000000"/>
              </a:solidFill>
              <a:effectLst/>
              <a:uFillTx/>
              <a:latin typeface="Arial"/>
            </a:endParaRPr>
          </a:p>
        </p:txBody>
      </p:sp>
      <p:sp>
        <p:nvSpPr>
          <p:cNvPr id="1721" name=""/>
          <p:cNvSpPr/>
          <p:nvPr/>
        </p:nvSpPr>
        <p:spPr>
          <a:xfrm>
            <a:off x="666720" y="58482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Panel from UNICEF 'Count Your Chickens' Meena booklet (Urdu edition): Meena and Mithu the parrot peer through the school window (Story 1993; booklet PDF created 2011)  ·  UNICEF Pakistan (UNICEF Meena Communication Initiative)  ·  Rights: copyrighted (UNICEF)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8"/>
              </a:rPr>
              <a:t>https://www.unicef.org/pakistan/media/3471/file/Count%20your%20chickens.pdf</a:t>
            </a:r>
            <a:endParaRPr lang="en-US"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722" name="PlaceHolder 1"/>
          <p:cNvSpPr>
            <a:spLocks noGrp="1"/>
          </p:cNvSpPr>
          <p:nvPr>
            <p:ph type="sldNum" idx="65"/>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723"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24" name=""/>
          <p:cNvSpPr/>
          <p:nvPr/>
        </p:nvSpPr>
        <p:spPr>
          <a:xfrm>
            <a:off x="666720" y="409680"/>
            <a:ext cx="1047708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APPENDIX  ·  IMAGE CREDITS  ·  3</a:t>
            </a:r>
            <a:endParaRPr lang="en-US" sz="1200" b="0" u="none" strike="noStrike">
              <a:solidFill>
                <a:srgbClr val="000000"/>
              </a:solidFill>
              <a:effectLst/>
              <a:uFillTx/>
              <a:latin typeface="Arial"/>
            </a:endParaRPr>
          </a:p>
        </p:txBody>
      </p:sp>
      <p:sp>
        <p:nvSpPr>
          <p:cNvPr id="1725" name=""/>
          <p:cNvSpPr/>
          <p:nvPr/>
        </p:nvSpPr>
        <p:spPr>
          <a:xfrm>
            <a:off x="666720" y="74304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726"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59</a:t>
            </a:r>
            <a:endParaRPr lang="en-US" sz="980" b="0" u="none" strike="noStrike">
              <a:solidFill>
                <a:srgbClr val="000000"/>
              </a:solidFill>
              <a:effectLst/>
              <a:uFillTx/>
              <a:latin typeface="Arial"/>
            </a:endParaRPr>
          </a:p>
        </p:txBody>
      </p:sp>
      <p:sp>
        <p:nvSpPr>
          <p:cNvPr id="1727" name=""/>
          <p:cNvSpPr/>
          <p:nvPr/>
        </p:nvSpPr>
        <p:spPr>
          <a:xfrm>
            <a:off x="666720" y="87624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14  Twende na Wakati</a:t>
            </a:r>
            <a:endParaRPr lang="en-US" sz="900" b="0" u="none" strike="noStrike">
              <a:solidFill>
                <a:srgbClr val="000000"/>
              </a:solidFill>
              <a:effectLst/>
              <a:uFillTx/>
              <a:latin typeface="Arial"/>
            </a:endParaRPr>
          </a:p>
        </p:txBody>
      </p:sp>
      <p:sp>
        <p:nvSpPr>
          <p:cNvPr id="1728" name=""/>
          <p:cNvSpPr/>
          <p:nvPr/>
        </p:nvSpPr>
        <p:spPr>
          <a:xfrm>
            <a:off x="666720" y="10476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Title page and abstract of Rogers et al., "Effects of an Entertainment-education Radio Soap Opera on Family Planning Behavior in Tanzania" (1999)  ·  Studies in Family Planning / Population Council (image supplied by Tim Miano)  ·  Rights: Copyrighted;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1"/>
              </a:rPr>
              <a:t>https://www.jstor.org/stable/172196</a:t>
            </a:r>
            <a:endParaRPr lang="en-US" sz="820" b="0" u="none" strike="noStrike">
              <a:solidFill>
                <a:srgbClr val="000000"/>
              </a:solidFill>
              <a:effectLst/>
              <a:uFillTx/>
              <a:latin typeface="Arial"/>
            </a:endParaRPr>
          </a:p>
        </p:txBody>
      </p:sp>
      <p:sp>
        <p:nvSpPr>
          <p:cNvPr id="1729" name=""/>
          <p:cNvSpPr/>
          <p:nvPr/>
        </p:nvSpPr>
        <p:spPr>
          <a:xfrm>
            <a:off x="666720" y="152388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15  Click It or Ticket</a:t>
            </a:r>
            <a:endParaRPr lang="en-US" sz="900" b="0" u="none" strike="noStrike">
              <a:solidFill>
                <a:srgbClr val="000000"/>
              </a:solidFill>
              <a:effectLst/>
              <a:uFillTx/>
              <a:latin typeface="Arial"/>
            </a:endParaRPr>
          </a:p>
        </p:txBody>
      </p:sp>
      <p:sp>
        <p:nvSpPr>
          <p:cNvPr id="1730" name=""/>
          <p:cNvSpPr/>
          <p:nvPr/>
        </p:nvSpPr>
        <p:spPr>
          <a:xfrm>
            <a:off x="666720" y="16956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Frame from NHTSA national Click It or Ticket TV PSA: officer at the window of an unbelted driver [file note: (frame at 15s, cropped to remove uploader watermark)] (2003 (first nationwide mobilization))  ·  NHTSA / U.S. DOT (paid PSA); VHS upload by 'Analog Memories'  ·  Rights: public domain (U.S. government work) likely; talent/production rights unknown</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2"/>
              </a:rPr>
              <a:t>https://www.youtube.com/watch?v=fC9r5dtUxWE</a:t>
            </a:r>
            <a:endParaRPr lang="en-US" sz="820" b="0" u="none" strike="noStrike">
              <a:solidFill>
                <a:srgbClr val="000000"/>
              </a:solidFill>
              <a:effectLst/>
              <a:uFillTx/>
              <a:latin typeface="Arial"/>
            </a:endParaRPr>
          </a:p>
        </p:txBody>
      </p:sp>
      <p:sp>
        <p:nvSpPr>
          <p:cNvPr id="1731" name=""/>
          <p:cNvSpPr/>
          <p:nvPr/>
        </p:nvSpPr>
        <p:spPr>
          <a:xfrm>
            <a:off x="666720" y="217188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15  Click It or Ticket</a:t>
            </a:r>
            <a:endParaRPr lang="en-US" sz="900" b="0" u="none" strike="noStrike">
              <a:solidFill>
                <a:srgbClr val="000000"/>
              </a:solidFill>
              <a:effectLst/>
              <a:uFillTx/>
              <a:latin typeface="Arial"/>
            </a:endParaRPr>
          </a:p>
        </p:txBody>
      </p:sp>
      <p:sp>
        <p:nvSpPr>
          <p:cNvPr id="1732" name=""/>
          <p:cNvSpPr/>
          <p:nvPr/>
        </p:nvSpPr>
        <p:spPr>
          <a:xfrm>
            <a:off x="666720" y="234324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End card of the same 2003 NHTSA PSA: 'Click It or Ticket — Paid for by U.S. DOT and NHTSA' [file note: (frame at 28.5s)] (2003)  ·  NHTSA / U.S. DOT  ·  Rights: public domain (U.S. government work) likely</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3"/>
              </a:rPr>
              <a:t>https://www.youtube.com/watch?v=fC9r5dtUxWE</a:t>
            </a:r>
            <a:endParaRPr lang="en-US" sz="820" b="0" u="none" strike="noStrike">
              <a:solidFill>
                <a:srgbClr val="000000"/>
              </a:solidFill>
              <a:effectLst/>
              <a:uFillTx/>
              <a:latin typeface="Arial"/>
            </a:endParaRPr>
          </a:p>
        </p:txBody>
      </p:sp>
      <p:sp>
        <p:nvSpPr>
          <p:cNvPr id="1733" name=""/>
          <p:cNvSpPr/>
          <p:nvPr/>
        </p:nvSpPr>
        <p:spPr>
          <a:xfrm>
            <a:off x="666720" y="281952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16  Squash It!</a:t>
            </a:r>
            <a:endParaRPr lang="en-US" sz="900" b="0" u="none" strike="noStrike">
              <a:solidFill>
                <a:srgbClr val="000000"/>
              </a:solidFill>
              <a:effectLst/>
              <a:uFillTx/>
              <a:latin typeface="Arial"/>
            </a:endParaRPr>
          </a:p>
        </p:txBody>
      </p:sp>
      <p:sp>
        <p:nvSpPr>
          <p:cNvPr id="1734" name=""/>
          <p:cNvSpPr/>
          <p:nvPr/>
        </p:nvSpPr>
        <p:spPr>
          <a:xfrm>
            <a:off x="666720" y="299088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Squash It! logo backdrop at a Harvard-MetLife youth forum, C-SPAN broadcast frame (Jefferson Junior High, Washington DC) [file note: (fetched via web.archive.org id_ copy; live CDN returns HTML)] (Likely May 16, 1997 (inferred: frame shows 'Fri.'; Harvard page links the May 16, 1997 C-SPAN forum))  ·  Harvard T.H. Chan Center for Health Communication / C-SPAN  ·  Rights: Copyrighted;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4"/>
              </a:rPr>
              <a:t>https://cdn1.sph.harvard.edu/wp-content/uploads/sites/78/2020/07/CropScale916xSQ-IT-FORUM-3_FullStageWithSign.jpg</a:t>
            </a:r>
            <a:endParaRPr lang="en-US" sz="820" b="0" u="none" strike="noStrike">
              <a:solidFill>
                <a:srgbClr val="000000"/>
              </a:solidFill>
              <a:effectLst/>
              <a:uFillTx/>
              <a:latin typeface="Arial"/>
            </a:endParaRPr>
          </a:p>
        </p:txBody>
      </p:sp>
      <p:sp>
        <p:nvSpPr>
          <p:cNvPr id="1735" name=""/>
          <p:cNvSpPr/>
          <p:nvPr/>
        </p:nvSpPr>
        <p:spPr>
          <a:xfrm>
            <a:off x="666720" y="360036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17  Soul City</a:t>
            </a:r>
            <a:endParaRPr lang="en-US" sz="900" b="0" u="none" strike="noStrike">
              <a:solidFill>
                <a:srgbClr val="000000"/>
              </a:solidFill>
              <a:effectLst/>
              <a:uFillTx/>
              <a:latin typeface="Arial"/>
            </a:endParaRPr>
          </a:p>
        </p:txBody>
      </p:sp>
      <p:sp>
        <p:nvSpPr>
          <p:cNvPr id="1736" name=""/>
          <p:cNvSpPr/>
          <p:nvPr/>
        </p:nvSpPr>
        <p:spPr>
          <a:xfrm>
            <a:off x="666720" y="3772080"/>
            <a:ext cx="10858320" cy="55224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Soul City 4 / NNVAW evaluation page: Matlakala storyline, newspaper coverage, and Mamelodi Rekord 'Women take to the streets against violence' clipping (20 Aug 1999) (two press clippings cropped from the page) [file note: (PDF p. 11, rendered 200 dpi)] (Report July 2001; material 1999)  ·  Soul City Institute for Health and Development Communication  ·  Rights: Copyrighted;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5"/>
              </a:rPr>
              <a:t>https://web.archive.org/web/2020/https://www.endvawnow.org/uploads/browser/files/Soul%20City%204%20Impact%20Evaluation%20VAW%20Vol%20II.pdf</a:t>
            </a:r>
            <a:endParaRPr lang="en-US" sz="820" b="0" u="none" strike="noStrike">
              <a:solidFill>
                <a:srgbClr val="000000"/>
              </a:solidFill>
              <a:effectLst/>
              <a:uFillTx/>
              <a:latin typeface="Arial"/>
            </a:endParaRPr>
          </a:p>
        </p:txBody>
      </p:sp>
      <p:sp>
        <p:nvSpPr>
          <p:cNvPr id="1737" name=""/>
          <p:cNvSpPr/>
          <p:nvPr/>
        </p:nvSpPr>
        <p:spPr>
          <a:xfrm>
            <a:off x="666720" y="438156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18  Following ER</a:t>
            </a:r>
            <a:endParaRPr lang="en-US" sz="900" b="0" u="none" strike="noStrike">
              <a:solidFill>
                <a:srgbClr val="000000"/>
              </a:solidFill>
              <a:effectLst/>
              <a:uFillTx/>
              <a:latin typeface="Arial"/>
            </a:endParaRPr>
          </a:p>
        </p:txBody>
      </p:sp>
      <p:sp>
        <p:nvSpPr>
          <p:cNvPr id="1738" name=""/>
          <p:cNvSpPr/>
          <p:nvPr/>
        </p:nvSpPr>
        <p:spPr>
          <a:xfrm>
            <a:off x="666720" y="4552920"/>
            <a:ext cx="10858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ER cast promotional image (not the Following ER segment itself) (mid-1990s)  ·  NBC / Warner Bros. Television  ·  Rights: Copyrighted;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unrecorded (supplied by Tim Miano)</a:t>
            </a:r>
            <a:endParaRPr lang="en-US" sz="820" b="0" u="none" strike="noStrike">
              <a:solidFill>
                <a:srgbClr val="000000"/>
              </a:solidFill>
              <a:effectLst/>
              <a:uFillTx/>
              <a:latin typeface="Arial"/>
            </a:endParaRPr>
          </a:p>
        </p:txBody>
      </p:sp>
      <p:sp>
        <p:nvSpPr>
          <p:cNvPr id="1739" name=""/>
          <p:cNvSpPr/>
          <p:nvPr/>
        </p:nvSpPr>
        <p:spPr>
          <a:xfrm>
            <a:off x="666720" y="489600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19  Tostan public declarations</a:t>
            </a:r>
            <a:endParaRPr lang="en-US" sz="900" b="0" u="none" strike="noStrike">
              <a:solidFill>
                <a:srgbClr val="000000"/>
              </a:solidFill>
              <a:effectLst/>
              <a:uFillTx/>
              <a:latin typeface="Arial"/>
            </a:endParaRPr>
          </a:p>
        </p:txBody>
      </p:sp>
      <p:sp>
        <p:nvSpPr>
          <p:cNvPr id="1740" name=""/>
          <p:cNvSpPr/>
          <p:nvPr/>
        </p:nvSpPr>
        <p:spPr>
          <a:xfrm>
            <a:off x="666720" y="506736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Women march with banner 'L’abandon total de l’excision au Sénégal: nous pouvons' at a 22-community public declaration, Mbour (Sunday May 8, 2011 (inferred: post says 'Sunday May 8th'; image uploaded 2011; Tostan repost dated April 2, 2013))  ·  Tostan  ·  Rights: Copyrighted;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6"/>
              </a:rPr>
              <a:t>http://3.bp.blogspot.com/-MpBbiI4D2Kg/TdaHo3UyXxI/AAAAAAAAAcI/SLyZlwyKn7s/s1600/5x7+Cropped+CIMG6226+Mbour+Declaration.JPG</a:t>
            </a:r>
            <a:endParaRPr lang="en-US" sz="820" b="0" u="none" strike="noStrike">
              <a:solidFill>
                <a:srgbClr val="000000"/>
              </a:solidFill>
              <a:effectLst/>
              <a:uFillTx/>
              <a:latin typeface="Arial"/>
            </a:endParaRPr>
          </a:p>
        </p:txBody>
      </p:sp>
      <p:sp>
        <p:nvSpPr>
          <p:cNvPr id="1741" name=""/>
          <p:cNvSpPr/>
          <p:nvPr/>
        </p:nvSpPr>
        <p:spPr>
          <a:xfrm>
            <a:off x="666720" y="554364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19  Tostan public declarations</a:t>
            </a:r>
            <a:endParaRPr lang="en-US" sz="900" b="0" u="none" strike="noStrike">
              <a:solidFill>
                <a:srgbClr val="000000"/>
              </a:solidFill>
              <a:effectLst/>
              <a:uFillTx/>
              <a:latin typeface="Arial"/>
            </a:endParaRPr>
          </a:p>
        </p:txBody>
      </p:sp>
      <p:sp>
        <p:nvSpPr>
          <p:cNvPr id="1742" name=""/>
          <p:cNvSpPr/>
          <p:nvPr/>
        </p:nvSpPr>
        <p:spPr>
          <a:xfrm>
            <a:off x="666720" y="57150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Village gathering in Keur Simbara (a village that abandoned FGC in 1998 after Tostan's program) during DFID visit [file note: (via Special:FilePath)] (March 21, 2013)  ·  James Fulker / UK DFID  ·  Rights: CC BY 2.0</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7"/>
              </a:rPr>
              <a:t>https://commons.wikimedia.org/wiki/Special:FilePath/Village_gathering_(8592452962).jpg</a:t>
            </a:r>
            <a:endParaRPr lang="en-US"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743" name="PlaceHolder 1"/>
          <p:cNvSpPr>
            <a:spLocks noGrp="1"/>
          </p:cNvSpPr>
          <p:nvPr>
            <p:ph type="sldNum" idx="66"/>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744"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45" name=""/>
          <p:cNvSpPr/>
          <p:nvPr/>
        </p:nvSpPr>
        <p:spPr>
          <a:xfrm>
            <a:off x="666720" y="409680"/>
            <a:ext cx="1047708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APPENDIX  ·  IMAGE CREDITS  ·  4</a:t>
            </a:r>
            <a:endParaRPr lang="en-US" sz="1200" b="0" u="none" strike="noStrike">
              <a:solidFill>
                <a:srgbClr val="000000"/>
              </a:solidFill>
              <a:effectLst/>
              <a:uFillTx/>
              <a:latin typeface="Arial"/>
            </a:endParaRPr>
          </a:p>
        </p:txBody>
      </p:sp>
      <p:sp>
        <p:nvSpPr>
          <p:cNvPr id="1746" name=""/>
          <p:cNvSpPr/>
          <p:nvPr/>
        </p:nvSpPr>
        <p:spPr>
          <a:xfrm>
            <a:off x="666720" y="74304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747"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60</a:t>
            </a:r>
            <a:endParaRPr lang="en-US" sz="980" b="0" u="none" strike="noStrike">
              <a:solidFill>
                <a:srgbClr val="000000"/>
              </a:solidFill>
              <a:effectLst/>
              <a:uFillTx/>
              <a:latin typeface="Arial"/>
            </a:endParaRPr>
          </a:p>
        </p:txBody>
      </p:sp>
      <p:sp>
        <p:nvSpPr>
          <p:cNvPr id="1748" name=""/>
          <p:cNvSpPr/>
          <p:nvPr/>
        </p:nvSpPr>
        <p:spPr>
          <a:xfrm>
            <a:off x="666720" y="87624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20  Rap-It-Up</a:t>
            </a:r>
            <a:endParaRPr lang="en-US" sz="900" b="0" u="none" strike="noStrike">
              <a:solidFill>
                <a:srgbClr val="000000"/>
              </a:solidFill>
              <a:effectLst/>
              <a:uFillTx/>
              <a:latin typeface="Arial"/>
            </a:endParaRPr>
          </a:p>
        </p:txBody>
      </p:sp>
      <p:sp>
        <p:nvSpPr>
          <p:cNvPr id="1749" name=""/>
          <p:cNvSpPr/>
          <p:nvPr/>
        </p:nvSpPr>
        <p:spPr>
          <a:xfrm>
            <a:off x="666720" y="10476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BET Rap-It-Up PSA end card with 1-866-RAP-IT-UP hotline (spot featuring 106 &amp; Park host Free), off-air recording [file note: (frame at 27 s)] (Early 2000s (inferred from 1-866 number; exact air date unknown))  ·  BET / Kaiser Family Foundation (uploaded by BET-archive fan channel)  ·  Rights: Copyrighted;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1"/>
              </a:rPr>
              <a:t>https://www.youtube.com/watch?v=5mvFp4grit0</a:t>
            </a:r>
            <a:endParaRPr lang="en-US" sz="820" b="0" u="none" strike="noStrike">
              <a:solidFill>
                <a:srgbClr val="000000"/>
              </a:solidFill>
              <a:effectLst/>
              <a:uFillTx/>
              <a:latin typeface="Arial"/>
            </a:endParaRPr>
          </a:p>
        </p:txBody>
      </p:sp>
      <p:sp>
        <p:nvSpPr>
          <p:cNvPr id="1750" name=""/>
          <p:cNvSpPr/>
          <p:nvPr/>
        </p:nvSpPr>
        <p:spPr>
          <a:xfrm>
            <a:off x="666720" y="152388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21  truth</a:t>
            </a:r>
            <a:endParaRPr lang="en-US" sz="900" b="0" u="none" strike="noStrike">
              <a:solidFill>
                <a:srgbClr val="000000"/>
              </a:solidFill>
              <a:effectLst/>
              <a:uFillTx/>
              <a:latin typeface="Arial"/>
            </a:endParaRPr>
          </a:p>
        </p:txBody>
      </p:sp>
      <p:sp>
        <p:nvSpPr>
          <p:cNvPr id="1751" name=""/>
          <p:cNvSpPr/>
          <p:nvPr/>
        </p:nvSpPr>
        <p:spPr>
          <a:xfrm>
            <a:off x="666720" y="16956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Frame from 'Body Bags' truth TV spot (teens unloading body bags outside a tobacco HQ), inside a 2000 truth launch reel [file note: (frame at 1:12, pillarbox cropped)] (2000)  ·  American Legacy Foundation / Truth Initiative (agencies Arnold, Crispin Porter + Bogusky); reel uploaded by 'weldonmedfield', not an official channel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2"/>
              </a:rPr>
              <a:t>https://www.youtube.com/watch?v=C5JkH01ArIc</a:t>
            </a:r>
            <a:endParaRPr lang="en-US" sz="820" b="0" u="none" strike="noStrike">
              <a:solidFill>
                <a:srgbClr val="000000"/>
              </a:solidFill>
              <a:effectLst/>
              <a:uFillTx/>
              <a:latin typeface="Arial"/>
            </a:endParaRPr>
          </a:p>
        </p:txBody>
      </p:sp>
      <p:sp>
        <p:nvSpPr>
          <p:cNvPr id="1752" name=""/>
          <p:cNvSpPr/>
          <p:nvPr/>
        </p:nvSpPr>
        <p:spPr>
          <a:xfrm>
            <a:off x="666720" y="217188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22  Sexto Sentido</a:t>
            </a:r>
            <a:endParaRPr lang="en-US" sz="900" b="0" u="none" strike="noStrike">
              <a:solidFill>
                <a:srgbClr val="000000"/>
              </a:solidFill>
              <a:effectLst/>
              <a:uFillTx/>
              <a:latin typeface="Arial"/>
            </a:endParaRPr>
          </a:p>
        </p:txBody>
      </p:sp>
      <p:sp>
        <p:nvSpPr>
          <p:cNvPr id="1753" name=""/>
          <p:cNvSpPr/>
          <p:nvPr/>
        </p:nvSpPr>
        <p:spPr>
          <a:xfrm>
            <a:off x="666720" y="234324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Sexto Sentido cast line-up promotional photo (hi-res TIFF from Puntos de Encuentro press/novela images) (c. 2001-2005 (archived 2007))  ·  Fundacion Puntos de Encuentro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3"/>
              </a:rPr>
              <a:t>https://web.archive.org/web/20070819104829id_/http://www.puntos.org.ni/novela/images/sexto_line-up.tif</a:t>
            </a:r>
            <a:endParaRPr lang="en-US" sz="820" b="0" u="none" strike="noStrike">
              <a:solidFill>
                <a:srgbClr val="000000"/>
              </a:solidFill>
              <a:effectLst/>
              <a:uFillTx/>
              <a:latin typeface="Arial"/>
            </a:endParaRPr>
          </a:p>
        </p:txBody>
      </p:sp>
      <p:sp>
        <p:nvSpPr>
          <p:cNvPr id="1754" name=""/>
          <p:cNvSpPr/>
          <p:nvPr/>
        </p:nvSpPr>
        <p:spPr>
          <a:xfrm>
            <a:off x="666720" y="281952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23  VERB</a:t>
            </a:r>
            <a:endParaRPr lang="en-US" sz="900" b="0" u="none" strike="noStrike">
              <a:solidFill>
                <a:srgbClr val="000000"/>
              </a:solidFill>
              <a:effectLst/>
              <a:uFillTx/>
              <a:latin typeface="Arial"/>
            </a:endParaRPr>
          </a:p>
        </p:txBody>
      </p:sp>
      <p:sp>
        <p:nvSpPr>
          <p:cNvPr id="1755" name=""/>
          <p:cNvSpPr/>
          <p:nvPr/>
        </p:nvSpPr>
        <p:spPr>
          <a:xfrm>
            <a:off x="666720" y="2990880"/>
            <a:ext cx="10858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'Hip-Hop Scotch' VERB print ad (CDC Ad No. CDC-03-M01050), cropped from agency proof (2003)  ·  CDC (prepared by PFI Marketing)  ·  Rights: public domain (US federal government work)</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4"/>
              </a:rPr>
              <a:t>https://web.archive.org/web/20090122164030id_/http://www.cdc.gov/youthcampaign/advertising/african_american/PDF/hiphopscotch.pdf</a:t>
            </a:r>
            <a:endParaRPr lang="en-US" sz="820" b="0" u="none" strike="noStrike">
              <a:solidFill>
                <a:srgbClr val="000000"/>
              </a:solidFill>
              <a:effectLst/>
              <a:uFillTx/>
              <a:latin typeface="Arial"/>
            </a:endParaRPr>
          </a:p>
        </p:txBody>
      </p:sp>
      <p:sp>
        <p:nvSpPr>
          <p:cNvPr id="1756" name=""/>
          <p:cNvSpPr/>
          <p:nvPr/>
        </p:nvSpPr>
        <p:spPr>
          <a:xfrm>
            <a:off x="666720" y="333360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24  KNOW HIV/AIDS</a:t>
            </a:r>
            <a:endParaRPr lang="en-US" sz="900" b="0" u="none" strike="noStrike">
              <a:solidFill>
                <a:srgbClr val="000000"/>
              </a:solidFill>
              <a:effectLst/>
              <a:uFillTx/>
              <a:latin typeface="Arial"/>
            </a:endParaRPr>
          </a:p>
        </p:txBody>
      </p:sp>
      <p:sp>
        <p:nvSpPr>
          <p:cNvPr id="1757" name=""/>
          <p:cNvSpPr/>
          <p:nvPr/>
        </p:nvSpPr>
        <p:spPr>
          <a:xfrm>
            <a:off x="666720" y="350532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'Meet the new face of HIV' KNOW HIV/AIDS outdoor PSA (African American version), 2003 campaign (Dec 2002 file, 2003 campaign)  ·  Kaiser Family Foundation / Viacom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5"/>
              </a:rPr>
              <a:t>https://web.archive.org/web/20120801180854id_/http://www.kff.org/entpartnerships/loader.cfm?url=/commonspot/security/getfile.cfm&amp;PageID=14847</a:t>
            </a:r>
            <a:endParaRPr lang="en-US" sz="820" b="0" u="none" strike="noStrike">
              <a:solidFill>
                <a:srgbClr val="000000"/>
              </a:solidFill>
              <a:effectLst/>
              <a:uFillTx/>
              <a:latin typeface="Arial"/>
            </a:endParaRPr>
          </a:p>
        </p:txBody>
      </p:sp>
      <p:sp>
        <p:nvSpPr>
          <p:cNvPr id="1758" name=""/>
          <p:cNvSpPr/>
          <p:nvPr/>
        </p:nvSpPr>
        <p:spPr>
          <a:xfrm>
            <a:off x="666720" y="398160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25  SASA!</a:t>
            </a:r>
            <a:endParaRPr lang="en-US" sz="900" b="0" u="none" strike="noStrike">
              <a:solidFill>
                <a:srgbClr val="000000"/>
              </a:solidFill>
              <a:effectLst/>
              <a:uFillTx/>
              <a:latin typeface="Arial"/>
            </a:endParaRPr>
          </a:p>
        </p:txBody>
      </p:sp>
      <p:sp>
        <p:nvSpPr>
          <p:cNvPr id="1759" name=""/>
          <p:cNvSpPr/>
          <p:nvPr/>
        </p:nvSpPr>
        <p:spPr>
          <a:xfrm>
            <a:off x="666720" y="415296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SASA! Awareness-phase Power Poster: 'Be aware! Unequal power between women and men - is it okay?' [file note: (SASA_Awareness/CommunicationMaterials/Awareness.CM.PowerPoster.pdf, p.1)] (2008 (Activist Kit; PDF dated Jan 2009))  ·  Raising Voices  ·  Rights: copyrighted; distributed free by Raising Voices - research use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6"/>
              </a:rPr>
              <a:t>https://raisingvoices.org/wp-content/uploads/2022/01/2.-SASA_Awareness.zip</a:t>
            </a:r>
            <a:endParaRPr lang="en-US" sz="820" b="0" u="none" strike="noStrike">
              <a:solidFill>
                <a:srgbClr val="000000"/>
              </a:solidFill>
              <a:effectLst/>
              <a:uFillTx/>
              <a:latin typeface="Arial"/>
            </a:endParaRPr>
          </a:p>
        </p:txBody>
      </p:sp>
      <p:sp>
        <p:nvSpPr>
          <p:cNvPr id="1760" name=""/>
          <p:cNvSpPr/>
          <p:nvPr/>
        </p:nvSpPr>
        <p:spPr>
          <a:xfrm>
            <a:off x="666720" y="462924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25  SASA!</a:t>
            </a:r>
            <a:endParaRPr lang="en-US" sz="900" b="0" u="none" strike="noStrike">
              <a:solidFill>
                <a:srgbClr val="000000"/>
              </a:solidFill>
              <a:effectLst/>
              <a:uFillTx/>
              <a:latin typeface="Arial"/>
            </a:endParaRPr>
          </a:p>
        </p:txBody>
      </p:sp>
      <p:sp>
        <p:nvSpPr>
          <p:cNvPr id="1761" name=""/>
          <p:cNvSpPr/>
          <p:nvPr/>
        </p:nvSpPr>
        <p:spPr>
          <a:xfrm>
            <a:off x="666720" y="48006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SASA! Action-phase Community Poster: 'Take Action! Everyone has a right to live free of violence!' (community march) [file note: (ACTION/CommunicationMaterials/Action.CM.CommPoster.pdf, p.1)] (2008 (Activist Kit; PDF dated 2009))  ·  Raising Voices  ·  Rights: copyrighted; distributed free by Raising Voices - research use</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7"/>
              </a:rPr>
              <a:t>https://raisingvoices.org/wp-content/uploads/2022/01/4.-SASA_Action.zip</a:t>
            </a:r>
            <a:endParaRPr lang="en-US" sz="820" b="0" u="none" strike="noStrike">
              <a:solidFill>
                <a:srgbClr val="000000"/>
              </a:solidFill>
              <a:effectLst/>
              <a:uFillTx/>
              <a:latin typeface="Arial"/>
            </a:endParaRPr>
          </a:p>
        </p:txBody>
      </p:sp>
      <p:sp>
        <p:nvSpPr>
          <p:cNvPr id="1762" name=""/>
          <p:cNvSpPr/>
          <p:nvPr/>
        </p:nvSpPr>
        <p:spPr>
          <a:xfrm>
            <a:off x="666720" y="527688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26  Opower Home Energy Reports</a:t>
            </a:r>
            <a:endParaRPr lang="en-US" sz="900" b="0" u="none" strike="noStrike">
              <a:solidFill>
                <a:srgbClr val="000000"/>
              </a:solidFill>
              <a:effectLst/>
              <a:uFillTx/>
              <a:latin typeface="Arial"/>
            </a:endParaRPr>
          </a:p>
        </p:txBody>
      </p:sp>
      <p:sp>
        <p:nvSpPr>
          <p:cNvPr id="1763" name=""/>
          <p:cNvSpPr/>
          <p:nvPr/>
        </p:nvSpPr>
        <p:spPr>
          <a:xfrm>
            <a:off x="666720" y="544824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Home Energy Report "Last Month Neighborhood Comparison" social comparison module (Allcott 2011, Fig. 1) [file note: (p. 1084, embedded image 1097x303)] (c. 2008–2009 report; published 2011)  ·  OPOWER report design; reproduced in Allcott, J. Public Economics 95 (2011), Elsevier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8"/>
              </a:rPr>
              <a:t>https://eml.berkeley.edu/~saez/course131/allcott2011.pdf</a:t>
            </a:r>
            <a:endParaRPr lang="en-US"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764" name="PlaceHolder 1"/>
          <p:cNvSpPr>
            <a:spLocks noGrp="1"/>
          </p:cNvSpPr>
          <p:nvPr>
            <p:ph type="sldNum" idx="67"/>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765"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66" name=""/>
          <p:cNvSpPr/>
          <p:nvPr/>
        </p:nvSpPr>
        <p:spPr>
          <a:xfrm>
            <a:off x="666720" y="409680"/>
            <a:ext cx="1047708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APPENDIX  ·  IMAGE CREDITS  ·  5</a:t>
            </a:r>
            <a:endParaRPr lang="en-US" sz="1200" b="0" u="none" strike="noStrike">
              <a:solidFill>
                <a:srgbClr val="000000"/>
              </a:solidFill>
              <a:effectLst/>
              <a:uFillTx/>
              <a:latin typeface="Arial"/>
            </a:endParaRPr>
          </a:p>
        </p:txBody>
      </p:sp>
      <p:sp>
        <p:nvSpPr>
          <p:cNvPr id="1767" name=""/>
          <p:cNvSpPr/>
          <p:nvPr/>
        </p:nvSpPr>
        <p:spPr>
          <a:xfrm>
            <a:off x="666720" y="74304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768"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61</a:t>
            </a:r>
            <a:endParaRPr lang="en-US" sz="980" b="0" u="none" strike="noStrike">
              <a:solidFill>
                <a:srgbClr val="000000"/>
              </a:solidFill>
              <a:effectLst/>
              <a:uFillTx/>
              <a:latin typeface="Arial"/>
            </a:endParaRPr>
          </a:p>
        </p:txBody>
      </p:sp>
      <p:sp>
        <p:nvSpPr>
          <p:cNvPr id="1769" name=""/>
          <p:cNvSpPr/>
          <p:nvPr/>
        </p:nvSpPr>
        <p:spPr>
          <a:xfrm>
            <a:off x="666720" y="87624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26  Opower Home Energy Reports</a:t>
            </a:r>
            <a:endParaRPr lang="en-US" sz="900" b="0" u="none" strike="noStrike">
              <a:solidFill>
                <a:srgbClr val="000000"/>
              </a:solidFill>
              <a:effectLst/>
              <a:uFillTx/>
              <a:latin typeface="Arial"/>
            </a:endParaRPr>
          </a:p>
        </p:txBody>
      </p:sp>
      <p:sp>
        <p:nvSpPr>
          <p:cNvPr id="1770" name=""/>
          <p:cNvSpPr/>
          <p:nvPr/>
        </p:nvSpPr>
        <p:spPr>
          <a:xfrm>
            <a:off x="666720" y="10476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Home Energy Report "Action Steps" module with SMUD tips (Allcott 2011, Fig. 2) [file note: (p. 1084, embedded image 1089x750)] (c. 2008–2009 report; published 2011)  ·  OPOWER report design for SMUD; reproduced in Allcott 2011, Elsevier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1"/>
              </a:rPr>
              <a:t>https://eml.berkeley.edu/~saez/course131/allcott2011.pdf</a:t>
            </a:r>
            <a:endParaRPr lang="en-US" sz="820" b="0" u="none" strike="noStrike">
              <a:solidFill>
                <a:srgbClr val="000000"/>
              </a:solidFill>
              <a:effectLst/>
              <a:uFillTx/>
              <a:latin typeface="Arial"/>
            </a:endParaRPr>
          </a:p>
        </p:txBody>
      </p:sp>
      <p:sp>
        <p:nvSpPr>
          <p:cNvPr id="1771" name=""/>
          <p:cNvSpPr/>
          <p:nvPr/>
        </p:nvSpPr>
        <p:spPr>
          <a:xfrm>
            <a:off x="666720" y="152388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27  Kyunki… Jeena Issi Ka Naam Hai</a:t>
            </a:r>
            <a:endParaRPr lang="en-US" sz="900" b="0" u="none" strike="noStrike">
              <a:solidFill>
                <a:srgbClr val="000000"/>
              </a:solidFill>
              <a:effectLst/>
              <a:uFillTx/>
              <a:latin typeface="Arial"/>
            </a:endParaRPr>
          </a:p>
        </p:txBody>
      </p:sp>
      <p:sp>
        <p:nvSpPr>
          <p:cNvPr id="1772" name=""/>
          <p:cNvSpPr/>
          <p:nvPr/>
        </p:nvSpPr>
        <p:spPr>
          <a:xfrm>
            <a:off x="666720" y="16956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Viewer-reply postcard from "Savita" (the show's nurse character), with UNICEF and Doordarshan logos; reproduced in the Production Book [file note: (PDF p. 93, embedded image 801x817)] (2008–2011 (postcard); book 2014)  ·  UNICEF India / Doordarshan  ·  Rights: copyrighted (UNICEF)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2"/>
              </a:rPr>
              <a:t>https://global.comminit.com/files/kyunkiprodbook_final.pdf</a:t>
            </a:r>
            <a:endParaRPr lang="en-US" sz="820" b="0" u="none" strike="noStrike">
              <a:solidFill>
                <a:srgbClr val="000000"/>
              </a:solidFill>
              <a:effectLst/>
              <a:uFillTx/>
              <a:latin typeface="Arial"/>
            </a:endParaRPr>
          </a:p>
        </p:txBody>
      </p:sp>
      <p:sp>
        <p:nvSpPr>
          <p:cNvPr id="1773" name=""/>
          <p:cNvSpPr/>
          <p:nvPr/>
        </p:nvSpPr>
        <p:spPr>
          <a:xfrm>
            <a:off x="666720" y="217188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28  MTV Shuga</a:t>
            </a:r>
            <a:endParaRPr lang="en-US" sz="900" b="0" u="none" strike="noStrike">
              <a:solidFill>
                <a:srgbClr val="000000"/>
              </a:solidFill>
              <a:effectLst/>
              <a:uFillTx/>
              <a:latin typeface="Arial"/>
            </a:endParaRPr>
          </a:p>
        </p:txBody>
      </p:sp>
      <p:sp>
        <p:nvSpPr>
          <p:cNvPr id="1774" name=""/>
          <p:cNvSpPr/>
          <p:nvPr/>
        </p:nvSpPr>
        <p:spPr>
          <a:xfrm>
            <a:off x="666720" y="234324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Shuga Naija S1 Ep. 3 "Testing, Testing" (= MTV Shuga season 3, the evaluated season): Sophie and Ekene waiting at an HIV testing clinic, frame at 1:08 [file note: (frame 00:01:08, 1280x720)] (2013 (uploaded 2013-12-15))  ·  MTV Staying Alive Foundation (Shuga Global official channel)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3"/>
              </a:rPr>
              <a:t>https://www.youtube.com/watch?v=cfgsbAN4J9I</a:t>
            </a:r>
            <a:endParaRPr lang="en-US" sz="820" b="0" u="none" strike="noStrike">
              <a:solidFill>
                <a:srgbClr val="000000"/>
              </a:solidFill>
              <a:effectLst/>
              <a:uFillTx/>
              <a:latin typeface="Arial"/>
            </a:endParaRPr>
          </a:p>
        </p:txBody>
      </p:sp>
      <p:sp>
        <p:nvSpPr>
          <p:cNvPr id="1775" name=""/>
          <p:cNvSpPr/>
          <p:nvPr/>
        </p:nvSpPr>
        <p:spPr>
          <a:xfrm>
            <a:off x="666720" y="281952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28  MTV Shuga</a:t>
            </a:r>
            <a:endParaRPr lang="en-US" sz="900" b="0" u="none" strike="noStrike">
              <a:solidFill>
                <a:srgbClr val="000000"/>
              </a:solidFill>
              <a:effectLst/>
              <a:uFillTx/>
              <a:latin typeface="Arial"/>
            </a:endParaRPr>
          </a:p>
        </p:txBody>
      </p:sp>
      <p:sp>
        <p:nvSpPr>
          <p:cNvPr id="1776" name=""/>
          <p:cNvSpPr/>
          <p:nvPr/>
        </p:nvSpPr>
        <p:spPr>
          <a:xfrm>
            <a:off x="666720" y="299088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End card of the same episode: "please visit www.shuga.tv / In Nigeria, please call the NACA helpline, on 6222", with funder logos [file note: (frame 00:21:54, 1280x720)] (2013)  ·  MTV Staying Alive Foundation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4"/>
              </a:rPr>
              <a:t>https://www.youtube.com/watch?v=cfgsbAN4J9I</a:t>
            </a:r>
            <a:endParaRPr lang="en-US" sz="820" b="0" u="none" strike="noStrike">
              <a:solidFill>
                <a:srgbClr val="000000"/>
              </a:solidFill>
              <a:effectLst/>
              <a:uFillTx/>
              <a:latin typeface="Arial"/>
            </a:endParaRPr>
          </a:p>
        </p:txBody>
      </p:sp>
      <p:sp>
        <p:nvSpPr>
          <p:cNvPr id="1777" name=""/>
          <p:cNvSpPr/>
          <p:nvPr/>
        </p:nvSpPr>
        <p:spPr>
          <a:xfrm>
            <a:off x="666720" y="346716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29  East Los High</a:t>
            </a:r>
            <a:endParaRPr lang="en-US" sz="900" b="0" u="none" strike="noStrike">
              <a:solidFill>
                <a:srgbClr val="000000"/>
              </a:solidFill>
              <a:effectLst/>
              <a:uFillTx/>
              <a:latin typeface="Arial"/>
            </a:endParaRPr>
          </a:p>
        </p:txBody>
      </p:sp>
      <p:sp>
        <p:nvSpPr>
          <p:cNvPr id="1778" name=""/>
          <p:cNvSpPr/>
          <p:nvPr/>
        </p:nvSpPr>
        <p:spPr>
          <a:xfrm>
            <a:off x="666720" y="363852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East Los High website, season 1: extended-scene video beside StayTeen.org "Need help finding a health center?" zip-code widget and resource links (AJPH Fig. 1, part b) [file note: (p. 1004, embedded image 720x576)] (2013 (site); published 2016)  ·  Wise Entertainment / Population Media Center site; figure in Wang &amp; Singhal, AJPH 2016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5"/>
              </a:rPr>
              <a:t>https://utminers.utep.edu/asinghal/Reports/east%20los%20high%20transmedia%20edutainment%20to%20promote%20the%20sexual%20and%20reproductive.pdf</a:t>
            </a:r>
            <a:endParaRPr lang="en-US" sz="820" b="0" u="none" strike="noStrike">
              <a:solidFill>
                <a:srgbClr val="000000"/>
              </a:solidFill>
              <a:effectLst/>
              <a:uFillTx/>
              <a:latin typeface="Arial"/>
            </a:endParaRPr>
          </a:p>
        </p:txBody>
      </p:sp>
      <p:sp>
        <p:nvSpPr>
          <p:cNvPr id="1779" name=""/>
          <p:cNvSpPr/>
          <p:nvPr/>
        </p:nvSpPr>
        <p:spPr>
          <a:xfrm>
            <a:off x="666720" y="411480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29  East Los High</a:t>
            </a:r>
            <a:endParaRPr lang="en-US" sz="900" b="0" u="none" strike="noStrike">
              <a:solidFill>
                <a:srgbClr val="000000"/>
              </a:solidFill>
              <a:effectLst/>
              <a:uFillTx/>
              <a:latin typeface="Arial"/>
            </a:endParaRPr>
          </a:p>
        </p:txBody>
      </p:sp>
      <p:sp>
        <p:nvSpPr>
          <p:cNvPr id="1780" name=""/>
          <p:cNvSpPr/>
          <p:nvPr/>
        </p:nvSpPr>
        <p:spPr>
          <a:xfrm>
            <a:off x="666720" y="428616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East Los High website home page, season 1 ("Watch the whole scandalous series for free", Planned Parenthood: The Check) (AJPH Fig. 1, part a) [file note: (p. 1004, embedded image 636x576)] (2013)  ·  Wise Entertainment / Population Media Center; figure in AJPH 2016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6"/>
              </a:rPr>
              <a:t>https://utminers.utep.edu/asinghal/Reports/east%20los%20high%20transmedia%20edutainment%20to%20promote%20the%20sexual%20and%20reproductive.pdf</a:t>
            </a:r>
            <a:endParaRPr lang="en-US" sz="820" b="0" u="none" strike="noStrike">
              <a:solidFill>
                <a:srgbClr val="000000"/>
              </a:solidFill>
              <a:effectLst/>
              <a:uFillTx/>
              <a:latin typeface="Arial"/>
            </a:endParaRPr>
          </a:p>
        </p:txBody>
      </p:sp>
      <p:sp>
        <p:nvSpPr>
          <p:cNvPr id="1781" name=""/>
          <p:cNvSpPr/>
          <p:nvPr/>
        </p:nvSpPr>
        <p:spPr>
          <a:xfrm>
            <a:off x="666720" y="476244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30  Main Kuch Bhi Kar Sakti Hoon</a:t>
            </a:r>
            <a:endParaRPr lang="en-US" sz="900" b="0" u="none" strike="noStrike">
              <a:solidFill>
                <a:srgbClr val="000000"/>
              </a:solidFill>
              <a:effectLst/>
              <a:uFillTx/>
              <a:latin typeface="Arial"/>
            </a:endParaRPr>
          </a:p>
        </p:txBody>
      </p:sp>
      <p:sp>
        <p:nvSpPr>
          <p:cNvPr id="1782" name=""/>
          <p:cNvSpPr/>
          <p:nvPr/>
        </p:nvSpPr>
        <p:spPr>
          <a:xfrm>
            <a:off x="666720" y="49338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Season 1, Episode 1: Dr. Sneha Mathur (Meinal Vaishnav) with a nurse at her city hospital, before returning to the village; frame at 6:24 [file note: (frame 00:06:24, 1920x1080)] (2014)  ·  Population Foundation of India (official MKBKSH YouTube channel)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7"/>
              </a:rPr>
              <a:t>https://www.youtube.com/watch?v=-Yaq_dW0Xdc</a:t>
            </a:r>
            <a:endParaRPr lang="en-US" sz="820" b="0" u="none" strike="noStrike">
              <a:solidFill>
                <a:srgbClr val="000000"/>
              </a:solidFill>
              <a:effectLst/>
              <a:uFillTx/>
              <a:latin typeface="Arial"/>
            </a:endParaRPr>
          </a:p>
        </p:txBody>
      </p:sp>
      <p:sp>
        <p:nvSpPr>
          <p:cNvPr id="1783" name=""/>
          <p:cNvSpPr/>
          <p:nvPr/>
        </p:nvSpPr>
        <p:spPr>
          <a:xfrm>
            <a:off x="666720" y="541008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31  Ouro Negro</a:t>
            </a:r>
            <a:endParaRPr lang="en-US" sz="900" b="0" u="none" strike="noStrike">
              <a:solidFill>
                <a:srgbClr val="000000"/>
              </a:solidFill>
              <a:effectLst/>
              <a:uFillTx/>
              <a:latin typeface="Arial"/>
            </a:endParaRPr>
          </a:p>
        </p:txBody>
      </p:sp>
      <p:sp>
        <p:nvSpPr>
          <p:cNvPr id="1784" name=""/>
          <p:cNvSpPr/>
          <p:nvPr/>
        </p:nvSpPr>
        <p:spPr>
          <a:xfrm>
            <a:off x="666720" y="55818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Ouro Negro series logo/cover art (radio-set wordmark) used on PCI Media's 'Ouro Negro Season 1' episode playlist (c. 2016 (playlist created 2016-03-08))  ·  PCI Media Impact / UNICEF Mozambique / Rádio Moçambique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8"/>
              </a:rPr>
              <a:t>https://i1.sndcdn.com/artworks-000150121797-ho0ls1-original.jpg</a:t>
            </a:r>
            <a:endParaRPr lang="en-US"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785" name="PlaceHolder 1"/>
          <p:cNvSpPr>
            <a:spLocks noGrp="1"/>
          </p:cNvSpPr>
          <p:nvPr>
            <p:ph type="sldNum" idx="68"/>
          </p:nvPr>
        </p:nvSpPr>
        <p:spPr>
          <a:xfrm>
            <a:off x="1523880" y="1122480"/>
            <a:ext cx="9143640" cy="238716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Calibri"/>
            </a:endParaRPr>
          </a:p>
        </p:txBody>
      </p:sp>
      <p:sp>
        <p:nvSpPr>
          <p:cNvPr id="1786" name=""/>
          <p:cNvSpPr/>
          <p:nvPr/>
        </p:nvSpPr>
        <p:spPr>
          <a:xfrm>
            <a:off x="0" y="0"/>
            <a:ext cx="132840" cy="6857640"/>
          </a:xfrm>
          <a:prstGeom prst="rect">
            <a:avLst/>
          </a:prstGeom>
          <a:solidFill>
            <a:srgbClr val="607079"/>
          </a:solidFill>
          <a:ln w="0">
            <a:solidFill>
              <a:srgbClr val="607079"/>
            </a:solid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87" name=""/>
          <p:cNvSpPr/>
          <p:nvPr/>
        </p:nvSpPr>
        <p:spPr>
          <a:xfrm>
            <a:off x="666720" y="409680"/>
            <a:ext cx="10477080" cy="24732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1200" b="1" u="none" strike="noStrike">
                <a:solidFill>
                  <a:srgbClr val="607079"/>
                </a:solidFill>
                <a:effectLst/>
                <a:uFillTx/>
                <a:latin typeface="Calibri"/>
                <a:ea typeface="Calibri"/>
              </a:rPr>
              <a:t>APPENDIX  ·  IMAGE CREDITS  ·  6</a:t>
            </a:r>
            <a:endParaRPr lang="en-US" sz="1200" b="0" u="none" strike="noStrike">
              <a:solidFill>
                <a:srgbClr val="000000"/>
              </a:solidFill>
              <a:effectLst/>
              <a:uFillTx/>
              <a:latin typeface="Arial"/>
            </a:endParaRPr>
          </a:p>
        </p:txBody>
      </p:sp>
      <p:sp>
        <p:nvSpPr>
          <p:cNvPr id="1788" name=""/>
          <p:cNvSpPr/>
          <p:nvPr/>
        </p:nvSpPr>
        <p:spPr>
          <a:xfrm>
            <a:off x="666720" y="743040"/>
            <a:ext cx="10858320" cy="9000"/>
          </a:xfrm>
          <a:prstGeom prst="rect">
            <a:avLst/>
          </a:prstGeom>
          <a:solidFill>
            <a:srgbClr val="D9DEDC"/>
          </a:solidFill>
          <a:ln w="0">
            <a:solidFill>
              <a:srgbClr val="D9DEDC"/>
            </a:solid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789" name=""/>
          <p:cNvSpPr/>
          <p:nvPr/>
        </p:nvSpPr>
        <p:spPr>
          <a:xfrm>
            <a:off x="11001240" y="6543720"/>
            <a:ext cx="475920" cy="1900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80" b="1" u="none" strike="noStrike">
                <a:solidFill>
                  <a:srgbClr val="607079"/>
                </a:solidFill>
                <a:effectLst/>
                <a:uFillTx/>
                <a:latin typeface="Calibri"/>
                <a:ea typeface="Calibri"/>
              </a:rPr>
              <a:t>62</a:t>
            </a:r>
            <a:endParaRPr lang="en-US" sz="980" b="0" u="none" strike="noStrike">
              <a:solidFill>
                <a:srgbClr val="000000"/>
              </a:solidFill>
              <a:effectLst/>
              <a:uFillTx/>
              <a:latin typeface="Arial"/>
            </a:endParaRPr>
          </a:p>
        </p:txBody>
      </p:sp>
      <p:sp>
        <p:nvSpPr>
          <p:cNvPr id="1790" name=""/>
          <p:cNvSpPr/>
          <p:nvPr/>
        </p:nvSpPr>
        <p:spPr>
          <a:xfrm>
            <a:off x="666720" y="87624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32  This Girl Can</a:t>
            </a:r>
            <a:endParaRPr lang="en-US" sz="900" b="0" u="none" strike="noStrike">
              <a:solidFill>
                <a:srgbClr val="000000"/>
              </a:solidFill>
              <a:effectLst/>
              <a:uFillTx/>
              <a:latin typeface="Arial"/>
            </a:endParaRPr>
          </a:p>
        </p:txBody>
      </p:sp>
      <p:sp>
        <p:nvSpPr>
          <p:cNvPr id="1791" name=""/>
          <p:cNvSpPr/>
          <p:nvPr/>
        </p:nvSpPr>
        <p:spPr>
          <a:xfrm>
            <a:off x="666720" y="10476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Frame from the original 60/90-sec 'This Girl Can' TV ad showing the 'Sweating like a pig' (feeling like a fox) line [file note: (frame at 0:33; max 854x374)] (January 2015 (upload 2015-01-23))  ·  Sport England (uploaded by The National Lottery, campaign funder)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1"/>
              </a:rPr>
              <a:t>https://www.youtube.com/watch?v=jsP0W7-tEOc</a:t>
            </a:r>
            <a:endParaRPr lang="en-US" sz="820" b="0" u="none" strike="noStrike">
              <a:solidFill>
                <a:srgbClr val="000000"/>
              </a:solidFill>
              <a:effectLst/>
              <a:uFillTx/>
              <a:latin typeface="Arial"/>
            </a:endParaRPr>
          </a:p>
        </p:txBody>
      </p:sp>
      <p:sp>
        <p:nvSpPr>
          <p:cNvPr id="1792" name=""/>
          <p:cNvSpPr/>
          <p:nvPr/>
        </p:nvSpPr>
        <p:spPr>
          <a:xfrm>
            <a:off x="666720" y="152388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33  Icchedana</a:t>
            </a:r>
            <a:endParaRPr lang="en-US" sz="900" b="0" u="none" strike="noStrike">
              <a:solidFill>
                <a:srgbClr val="000000"/>
              </a:solidFill>
              <a:effectLst/>
              <a:uFillTx/>
              <a:latin typeface="Arial"/>
            </a:endParaRPr>
          </a:p>
        </p:txBody>
      </p:sp>
      <p:sp>
        <p:nvSpPr>
          <p:cNvPr id="1793" name=""/>
          <p:cNvSpPr/>
          <p:nvPr/>
        </p:nvSpPr>
        <p:spPr>
          <a:xfrm>
            <a:off x="666720" y="169560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Icchedana key art/poster with Bangla title, Tanzila holding a football, and team members (c. 2018–2022 (UNICEF photo ID UN0694922))  ·  UNICEF / Asiatic MCL  ·  Rights: Copyrighted (© UNICEF/UN0694922/Asiatic MCL)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2"/>
              </a:rPr>
              <a:t>https://www.unicef.org/bangladesh/sites/unicef.org.bangladesh/files/UN0694922.png</a:t>
            </a:r>
            <a:endParaRPr lang="en-US" sz="820" b="0" u="none" strike="noStrike">
              <a:solidFill>
                <a:srgbClr val="000000"/>
              </a:solidFill>
              <a:effectLst/>
              <a:uFillTx/>
              <a:latin typeface="Arial"/>
            </a:endParaRPr>
          </a:p>
        </p:txBody>
      </p:sp>
      <p:sp>
        <p:nvSpPr>
          <p:cNvPr id="1794" name=""/>
          <p:cNvSpPr/>
          <p:nvPr/>
        </p:nvSpPr>
        <p:spPr>
          <a:xfrm>
            <a:off x="666720" y="217188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34  Vencer el Miedo</a:t>
            </a:r>
            <a:endParaRPr lang="en-US" sz="900" b="0" u="none" strike="noStrike">
              <a:solidFill>
                <a:srgbClr val="000000"/>
              </a:solidFill>
              <a:effectLst/>
              <a:uFillTx/>
              <a:latin typeface="Arial"/>
            </a:endParaRPr>
          </a:p>
        </p:txBody>
      </p:sp>
      <p:sp>
        <p:nvSpPr>
          <p:cNvPr id="1795" name=""/>
          <p:cNvSpPr/>
          <p:nvPr/>
        </p:nvSpPr>
        <p:spPr>
          <a:xfrm>
            <a:off x="666720" y="2343240"/>
            <a:ext cx="10858320" cy="4186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Vencer el Miedo production still: four lead women characters (family) in front of a pink house (2019–2020)  ·  Televisa / Population Media Center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3"/>
              </a:rPr>
              <a:t>https://e1.nmcdn.io/pmc2026/wp-content/uploads/1970/01/Project_VEM_Masthead.jpg</a:t>
            </a:r>
            <a:endParaRPr lang="en-US" sz="820" b="0" u="none" strike="noStrike">
              <a:solidFill>
                <a:srgbClr val="000000"/>
              </a:solidFill>
              <a:effectLst/>
              <a:uFillTx/>
              <a:latin typeface="Arial"/>
            </a:endParaRPr>
          </a:p>
        </p:txBody>
      </p:sp>
      <p:sp>
        <p:nvSpPr>
          <p:cNvPr id="1796" name=""/>
          <p:cNvSpPr/>
          <p:nvPr/>
        </p:nvSpPr>
        <p:spPr>
          <a:xfrm>
            <a:off x="666720" y="2819520"/>
            <a:ext cx="10858320" cy="17100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900" b="1" u="none" strike="noStrike">
                <a:solidFill>
                  <a:srgbClr val="607079"/>
                </a:solidFill>
                <a:effectLst/>
                <a:uFillTx/>
                <a:latin typeface="Calibri"/>
                <a:ea typeface="Calibri"/>
              </a:rPr>
              <a:t>35  Rope Guna Fal</a:t>
            </a:r>
            <a:endParaRPr lang="en-US" sz="900" b="0" u="none" strike="noStrike">
              <a:solidFill>
                <a:srgbClr val="000000"/>
              </a:solidFill>
              <a:effectLst/>
              <a:uFillTx/>
              <a:latin typeface="Arial"/>
            </a:endParaRPr>
          </a:p>
        </p:txBody>
      </p:sp>
      <p:sp>
        <p:nvSpPr>
          <p:cNvPr id="1797" name=""/>
          <p:cNvSpPr/>
          <p:nvPr/>
        </p:nvSpPr>
        <p:spPr>
          <a:xfrm>
            <a:off x="666720" y="2990880"/>
            <a:ext cx="10858320" cy="285480"/>
          </a:xfrm>
          <a:prstGeom prst="rect">
            <a:avLst/>
          </a:prstGeom>
          <a:noFill/>
          <a:ln w="0">
            <a:solidFill>
              <a:srgbClr val="FFFFFF">
                <a:alpha val="0"/>
              </a:srgbClr>
            </a:solidFill>
          </a:ln>
        </p:spPr>
        <p:style>
          <a:lnRef idx="0"/>
          <a:fillRef idx="0"/>
          <a:effectRef idx="0"/>
          <a:fontRef idx="minor"/>
        </p:style>
        <p:txBody>
          <a:bodyPr lIns="0" tIns="0" rIns="0" bIns="0" anchor="t">
            <a:normAutofit/>
          </a:bodyPr>
          <a:p>
            <a:pPr defTabSz="914400">
              <a:lnSpc>
                <a:spcPct val="100000"/>
              </a:lnSpc>
              <a:tabLst>
                <a:tab pos="0" algn="l"/>
              </a:tabLst>
            </a:pPr>
            <a:r>
              <a:rPr lang="en-US" sz="820" b="0" u="none" strike="noStrike">
                <a:solidFill>
                  <a:srgbClr val="17232B"/>
                </a:solidFill>
                <a:effectLst/>
                <a:uFillTx/>
                <a:latin typeface="Calibri"/>
                <a:ea typeface="Calibri"/>
              </a:rPr>
              <a:t>Rope Guna Fal voice actors recording at microphones with scripts (file 'RoGF-studio-web.jpg') (c. 2021–2022)  ·  Population Media Center  ·  Rights: Copyrighted — fair use for commentary, criticism, and research</a:t>
            </a:r>
            <a:endParaRPr lang="en-US" sz="820" b="0" u="none" strike="noStrike">
              <a:solidFill>
                <a:srgbClr val="000000"/>
              </a:solidFill>
              <a:effectLst/>
              <a:uFillTx/>
              <a:latin typeface="Arial"/>
            </a:endParaRPr>
          </a:p>
          <a:p>
            <a:pPr defTabSz="914400">
              <a:lnSpc>
                <a:spcPct val="100000"/>
              </a:lnSpc>
              <a:tabLst>
                <a:tab pos="0" algn="l"/>
              </a:tabLst>
            </a:pPr>
            <a:r>
              <a:rPr lang="en-US" sz="820" b="0" u="none" strike="noStrike">
                <a:solidFill>
                  <a:srgbClr val="17232B"/>
                </a:solidFill>
                <a:effectLst/>
                <a:uFillTx/>
                <a:latin typeface="Calibri"/>
                <a:ea typeface="Calibri"/>
              </a:rPr>
              <a:t>File: </a:t>
            </a:r>
            <a:r>
              <a:rPr lang="en-US" sz="820" b="0" u="sng" strike="noStrike">
                <a:solidFill>
                  <a:srgbClr val="467886"/>
                </a:solidFill>
                <a:effectLst/>
                <a:uFillTx/>
                <a:latin typeface="Calibri"/>
                <a:ea typeface="Calibri"/>
                <a:hlinkClick r:id="rId4"/>
              </a:rPr>
              <a:t>https://www.populationmedia.org/wp-content/uploads/imported-files/RoGF-studio-web.jpg</a:t>
            </a:r>
            <a:endParaRPr lang="en-US" sz="8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pitchFamily="0" charset="1"/>
        <a:ea typeface="Calibri Light" pitchFamily="0" charset="1"/>
        <a:cs typeface="Calibri Light" pitchFamily="0" charset="1"/>
      </a:majorFont>
      <a:minorFont>
        <a:latin typeface="Calibri" pitchFamily="0" charset="1"/>
        <a:ea typeface="Calibri" pitchFamily="0" charset="1"/>
        <a:cs typeface="Calibri" pitchFamily="0" charset="1"/>
      </a:minorFont>
    </a:fontScheme>
    <a:fmtScheme>
      <a:fillStyleLst>
        <a:solidFill>
          <a:schemeClr val="phClr"/>
        </a:solidFill>
        <a:solidFill>
          <a:schemeClr val="dk1"/>
        </a:solidFill>
        <a:solidFill>
          <a:schemeClr val="accent1"/>
        </a:soli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2201</TotalTime>
  <Application>LibreOffice/26.2.3.2$MacOSX_AARCH64 LibreOffice_project/70e089b17412e4cb7773e41413306b17a2328c34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2026-09-26T19:44:41Z</dcterms:created>
  <dc:creator>Walnut Exporter</dc:creator>
  <dc:description/>
  <dc:language>en-US</dc:language>
  <cp:lastModifiedBy/>
  <cp:lastPrinted>2026-09-26T20:35:54Z</cp:lastPrinted>
  <dcterms:modified xsi:type="dcterms:W3CDTF">2026-09-28T09:20:41Z</dcterms:modified>
  <cp:revision>1</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